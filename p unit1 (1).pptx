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79.xml" ContentType="application/vnd.openxmlformats-officedocument.presentationml.slide+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1291" y="-8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24-Nov-24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24-Nov-24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24-Nov-24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24-Nov-24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24-Nov-24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24-Nov-24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24-Nov-24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24-Nov-24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524000"/>
            <a:ext cx="7772400" cy="1470025"/>
          </a:xfrm>
        </p:spPr>
        <p:txBody>
          <a:bodyPr>
            <a:normAutofit fontScale="90000"/>
          </a:bodyPr>
          <a:lstStyle/>
          <a:p>
            <a:r>
              <a:rPr lang="en-US" dirty="0" smtClean="0"/>
              <a:t> </a:t>
            </a:r>
            <a:br>
              <a:rPr lang="en-US" dirty="0" smtClean="0"/>
            </a:br>
            <a:r>
              <a:rPr lang="en-US" sz="4900" b="1" dirty="0" smtClean="0">
                <a:solidFill>
                  <a:srgbClr val="C00000"/>
                </a:solidFill>
              </a:rPr>
              <a:t>Principles of Programming Languages</a:t>
            </a:r>
            <a:r>
              <a:rPr lang="en-US" b="1" dirty="0" smtClean="0"/>
              <a:t/>
            </a:r>
            <a:br>
              <a:rPr lang="en-US" b="1" dirty="0" smtClean="0"/>
            </a:br>
            <a:r>
              <a:rPr lang="en-US" b="1" dirty="0" smtClean="0"/>
              <a:t> </a:t>
            </a:r>
            <a:r>
              <a:rPr lang="en-US" dirty="0" smtClean="0"/>
              <a:t/>
            </a:r>
            <a:br>
              <a:rPr lang="en-US" dirty="0" smtClean="0"/>
            </a:br>
            <a:r>
              <a:rPr lang="en-US" b="1" dirty="0" smtClean="0"/>
              <a:t> </a:t>
            </a:r>
            <a:r>
              <a:rPr lang="en-US" dirty="0" smtClean="0"/>
              <a:t/>
            </a:r>
            <a:br>
              <a:rPr lang="en-US" dirty="0" smtClean="0"/>
            </a:br>
            <a:r>
              <a:rPr lang="en-US" b="1" dirty="0" smtClean="0"/>
              <a:t> </a:t>
            </a:r>
            <a:r>
              <a:rPr lang="en-US" dirty="0" smtClean="0"/>
              <a:t/>
            </a:r>
            <a:br>
              <a:rPr lang="en-US" dirty="0" smtClean="0"/>
            </a:br>
            <a:r>
              <a:rPr lang="en-US" b="1" dirty="0" smtClean="0"/>
              <a:t> </a:t>
            </a:r>
            <a:endParaRPr lang="en-US" dirty="0"/>
          </a:p>
        </p:txBody>
      </p:sp>
      <p:sp>
        <p:nvSpPr>
          <p:cNvPr id="3" name="Subtitle 2"/>
          <p:cNvSpPr>
            <a:spLocks noGrp="1"/>
          </p:cNvSpPr>
          <p:nvPr>
            <p:ph type="subTitle" idx="1"/>
          </p:nvPr>
        </p:nvSpPr>
        <p:spPr>
          <a:xfrm>
            <a:off x="1371600" y="2362200"/>
            <a:ext cx="6400800" cy="3276600"/>
          </a:xfrm>
        </p:spPr>
        <p:txBody>
          <a:bodyPr/>
          <a:lstStyle/>
          <a:p>
            <a:r>
              <a:rPr lang="en-US" b="1" dirty="0" smtClean="0"/>
              <a:t> </a:t>
            </a:r>
            <a:endParaRPr lang="en-US" dirty="0" smtClean="0"/>
          </a:p>
          <a:p>
            <a:r>
              <a:rPr lang="en-US" sz="4000" b="1" dirty="0" smtClean="0"/>
              <a:t>Unit - I</a:t>
            </a:r>
          </a:p>
          <a:p>
            <a:r>
              <a:rPr lang="en-US" sz="4000" b="1" dirty="0" smtClean="0">
                <a:solidFill>
                  <a:srgbClr val="002060"/>
                </a:solidFill>
              </a:rPr>
              <a:t>Preliminary Concepts, Syntax and Semantics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Reasons for Studying Concepts of Programming Languages</a:t>
            </a:r>
            <a:r>
              <a:rPr lang="en-US" sz="3600" dirty="0" smtClean="0"/>
              <a:t/>
            </a:r>
            <a:br>
              <a:rPr lang="en-US" sz="3600" dirty="0" smtClean="0"/>
            </a:br>
            <a:endParaRPr lang="en-US" sz="3600" dirty="0"/>
          </a:p>
        </p:txBody>
      </p:sp>
      <p:sp>
        <p:nvSpPr>
          <p:cNvPr id="3" name="Content Placeholder 2"/>
          <p:cNvSpPr>
            <a:spLocks noGrp="1"/>
          </p:cNvSpPr>
          <p:nvPr>
            <p:ph idx="1"/>
          </p:nvPr>
        </p:nvSpPr>
        <p:spPr>
          <a:xfrm>
            <a:off x="457200" y="1066800"/>
            <a:ext cx="8229600" cy="5059363"/>
          </a:xfrm>
        </p:spPr>
        <p:txBody>
          <a:bodyPr>
            <a:normAutofit fontScale="92500" lnSpcReduction="10000"/>
          </a:bodyPr>
          <a:lstStyle/>
          <a:p>
            <a:pPr>
              <a:buFont typeface="Wingdings" pitchFamily="2" charset="2"/>
              <a:buChar char="Ø"/>
            </a:pPr>
            <a:r>
              <a:rPr lang="en-US" b="1" dirty="0" smtClean="0"/>
              <a:t>Increased capacity to express ideas</a:t>
            </a:r>
            <a:r>
              <a:rPr lang="en-US" dirty="0" smtClean="0"/>
              <a:t>:-</a:t>
            </a:r>
          </a:p>
          <a:p>
            <a:r>
              <a:rPr lang="en-US" sz="3000" dirty="0" smtClean="0"/>
              <a:t> It is widely believed that the depth at which people can think is influenced by the expressive power of the language in which they communicate their thoughts. </a:t>
            </a:r>
          </a:p>
          <a:p>
            <a:r>
              <a:rPr lang="en-US" sz="3000" dirty="0" smtClean="0"/>
              <a:t>Those with only a weak understanding of natural language are limited in the complexity of their thoughts, particularly in depth of abstraction.</a:t>
            </a:r>
          </a:p>
          <a:p>
            <a:r>
              <a:rPr lang="en-US" sz="3000" dirty="0" smtClean="0"/>
              <a:t> In other words, it is difficult for people to conceptualize structures they cannot describe, verbally or in writing</a:t>
            </a:r>
            <a:r>
              <a:rPr lang="en-US" dirty="0" smtClean="0"/>
              <a:t>.</a:t>
            </a: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935162"/>
          </a:xfrm>
        </p:spPr>
        <p:txBody>
          <a:bodyPr>
            <a:noAutofit/>
          </a:bodyPr>
          <a:lstStyle/>
          <a:p>
            <a:pPr lvl="0" algn="l"/>
            <a:r>
              <a:rPr lang="en-US" sz="800" b="1" dirty="0" smtClean="0"/>
              <a:t>.</a:t>
            </a:r>
            <a:r>
              <a:rPr lang="en-US" sz="2800" b="1" dirty="0" smtClean="0"/>
              <a:t/>
            </a:r>
            <a:br>
              <a:rPr lang="en-US" sz="2800" b="1" dirty="0" smtClean="0"/>
            </a:br>
            <a:endParaRPr lang="en-US" sz="2800" b="1" dirty="0"/>
          </a:p>
        </p:txBody>
      </p:sp>
      <p:sp>
        <p:nvSpPr>
          <p:cNvPr id="3" name="Content Placeholder 2"/>
          <p:cNvSpPr>
            <a:spLocks noGrp="1"/>
          </p:cNvSpPr>
          <p:nvPr>
            <p:ph idx="1"/>
          </p:nvPr>
        </p:nvSpPr>
        <p:spPr>
          <a:xfrm>
            <a:off x="457200" y="228600"/>
            <a:ext cx="8229600" cy="5897563"/>
          </a:xfrm>
        </p:spPr>
        <p:txBody>
          <a:bodyPr>
            <a:normAutofit fontScale="92500" lnSpcReduction="20000"/>
          </a:bodyPr>
          <a:lstStyle/>
          <a:p>
            <a:pPr lvl="0"/>
            <a:r>
              <a:rPr lang="en-US" sz="3000" dirty="0" smtClean="0"/>
              <a:t>The language in which they develop software places limits on the kinds of control structures, data structures, and abstractions they can use; thus, the forms of algorithms </a:t>
            </a:r>
            <a:r>
              <a:rPr lang="en-US" dirty="0" smtClean="0"/>
              <a:t>they can construct are likewise limited.</a:t>
            </a:r>
            <a:endParaRPr lang="en-US" b="1" dirty="0" smtClean="0"/>
          </a:p>
          <a:p>
            <a:pPr lvl="0">
              <a:buFont typeface="Wingdings" pitchFamily="2" charset="2"/>
              <a:buChar char="Ø"/>
            </a:pPr>
            <a:r>
              <a:rPr lang="en-US" b="1" dirty="0" smtClean="0"/>
              <a:t>Improved background for choosing appropriate languages:-</a:t>
            </a:r>
            <a:endParaRPr lang="en-US" dirty="0" smtClean="0"/>
          </a:p>
          <a:p>
            <a:r>
              <a:rPr lang="en-US" sz="3000" dirty="0" smtClean="0"/>
              <a:t>programmers, when given a choice of languages for a new project, use the language with which they are most familiar, even if it is poorly suited for the project at hand.</a:t>
            </a:r>
          </a:p>
          <a:p>
            <a:r>
              <a:rPr lang="en-US" sz="3000" dirty="0" smtClean="0"/>
              <a:t> If these programmers were familiar with a wider range of languages and language constructs, they would be better able to choose the language with the features that best address the problem.</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800" dirty="0" smtClean="0"/>
              <a:t>Some of the features of one language often can be simulated in another language.</a:t>
            </a:r>
          </a:p>
          <a:p>
            <a:r>
              <a:rPr lang="en-US" sz="2800" dirty="0" smtClean="0"/>
              <a:t> However, it is preferable to use a feature whose design has been integrated into a language than to use a simulation of that feature, which is often less elegant, more cumbersome, and less safe.</a:t>
            </a:r>
          </a:p>
          <a:p>
            <a:pPr lvl="0">
              <a:buFont typeface="Wingdings" pitchFamily="2" charset="2"/>
              <a:buChar char="Ø"/>
            </a:pPr>
            <a:r>
              <a:rPr lang="en-US" b="1" dirty="0" smtClean="0"/>
              <a:t>Increased ability to learn new languages:-</a:t>
            </a:r>
          </a:p>
          <a:p>
            <a:r>
              <a:rPr lang="en-US" sz="2800" dirty="0" smtClean="0"/>
              <a:t> Once a thorough understanding of the fundamental concepts of languages is acquired, it becomes far easier to see how these concepts are incorporated into the design of the language being learned</a:t>
            </a:r>
          </a:p>
          <a:p>
            <a:pPr lvl="0">
              <a:buNone/>
            </a:pPr>
            <a:endParaRPr lang="en-US" sz="2800" dirty="0" smtClean="0"/>
          </a:p>
          <a:p>
            <a:pPr>
              <a:buFont typeface="Wingdings" pitchFamily="2" charset="2"/>
              <a:buChar char="Ø"/>
            </a:pPr>
            <a:endParaRPr lang="en-US" sz="2800" dirty="0" smtClean="0"/>
          </a:p>
          <a:p>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Autofit/>
          </a:bodyPr>
          <a:lstStyle/>
          <a:p>
            <a:r>
              <a:rPr lang="en-US" sz="2800" dirty="0" smtClean="0"/>
              <a:t>The same phenomenon occurs in natural languages. The better you know the grammar of your native language, the easier it is to learn a second language. Furthermore, learning a second language has the benefit of teaching you more about your first language.</a:t>
            </a:r>
          </a:p>
          <a:p>
            <a:r>
              <a:rPr lang="en-US" sz="2800" dirty="0" smtClean="0"/>
              <a:t>Finally, it is essential that practicing programmers know the vocabulary and fundamental concepts of programming languages so they can read and understand programming language descriptions and evaluations, as well as promotional literature for languages and compilers. These are the sources of information needed in order to choose and learn a language.</a:t>
            </a:r>
          </a:p>
          <a:p>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fontScale="92500" lnSpcReduction="20000"/>
          </a:bodyPr>
          <a:lstStyle/>
          <a:p>
            <a:pPr>
              <a:buFont typeface="Wingdings" pitchFamily="2" charset="2"/>
              <a:buChar char="Ø"/>
            </a:pPr>
            <a:r>
              <a:rPr lang="en-US" b="1" dirty="0" smtClean="0"/>
              <a:t>Better understanding of the significance of implementation:-</a:t>
            </a:r>
          </a:p>
          <a:p>
            <a:r>
              <a:rPr lang="en-US" sz="3000" dirty="0" smtClean="0"/>
              <a:t>In learning the concepts of programming languages, it is both interesting and necessary to touch on the implementation issues that affect those concepts. </a:t>
            </a:r>
          </a:p>
          <a:p>
            <a:r>
              <a:rPr lang="en-US" sz="3000" dirty="0" smtClean="0"/>
              <a:t>In some cases, an understanding of implementation issues leads to an understanding of why languages are designed the way they are.</a:t>
            </a:r>
          </a:p>
          <a:p>
            <a:r>
              <a:rPr lang="en-US" sz="3000" dirty="0" smtClean="0"/>
              <a:t> In turn, this knowledge leads to the ability to use a language more intelligently, as it was designed to be used. </a:t>
            </a:r>
          </a:p>
          <a:p>
            <a:r>
              <a:rPr lang="en-US" sz="3000" dirty="0" smtClean="0"/>
              <a:t>We can become better programmers by understanding the choices among programming language constructs and the consequences of those choices.</a:t>
            </a:r>
          </a:p>
          <a:p>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pPr>
              <a:buFont typeface="Wingdings" pitchFamily="2" charset="2"/>
              <a:buChar char="Ø"/>
            </a:pPr>
            <a:r>
              <a:rPr lang="en-US" b="1" dirty="0" smtClean="0"/>
              <a:t>Better use of languages that are already known:-</a:t>
            </a:r>
          </a:p>
          <a:p>
            <a:r>
              <a:rPr lang="en-US" sz="2800" dirty="0" smtClean="0"/>
              <a:t>Most contemporary programming languages are large and complex. </a:t>
            </a:r>
          </a:p>
          <a:p>
            <a:r>
              <a:rPr lang="en-US" sz="2800" dirty="0" smtClean="0"/>
              <a:t>Accordingly, it is uncommon for a programmer to be familiar with and use all of the features of a language he or she uses.</a:t>
            </a:r>
          </a:p>
          <a:p>
            <a:r>
              <a:rPr lang="en-US" sz="2800" dirty="0" smtClean="0"/>
              <a:t> By studying the concepts of programming languages, programmers can learn about previously unknown and unused parts of the languages they already use and begin to use those features.</a:t>
            </a:r>
          </a:p>
          <a:p>
            <a:endParaRPr lang="en-US"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lstStyle/>
          <a:p>
            <a:pPr>
              <a:buFont typeface="Wingdings" pitchFamily="2" charset="2"/>
              <a:buChar char="Ø"/>
            </a:pPr>
            <a:r>
              <a:rPr lang="en-US" b="1" dirty="0" smtClean="0"/>
              <a:t>Overall advancement of computing:-</a:t>
            </a:r>
          </a:p>
          <a:p>
            <a:r>
              <a:rPr lang="en-US" sz="2800" dirty="0" smtClean="0"/>
              <a:t>Finally, there is a global view of computing that can justify the study of programming language concepts. </a:t>
            </a:r>
          </a:p>
          <a:p>
            <a:r>
              <a:rPr lang="en-US" sz="2800" dirty="0" smtClean="0"/>
              <a:t>Although it is usually possible to determine why a particular programming language became popular, many believe, at least in retrospect, that the most popular languages are not always the best available.</a:t>
            </a:r>
          </a:p>
          <a:p>
            <a:r>
              <a:rPr lang="en-US" sz="2800" dirty="0" smtClean="0"/>
              <a:t> In some cases, it might be concluded that a language became widely used, at least in part, because those in positions to choose languages were not sufficiently familiar with programming language concepts.</a:t>
            </a:r>
          </a:p>
          <a:p>
            <a:endParaRPr lang="en-US"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27495"/>
            <a:ext cx="8229600" cy="5745163"/>
          </a:xfrm>
        </p:spPr>
        <p:txBody>
          <a:bodyPr>
            <a:normAutofit/>
          </a:bodyPr>
          <a:lstStyle/>
          <a:p>
            <a:pPr marL="342900" lvl="1" indent="-342900">
              <a:buNone/>
            </a:pPr>
            <a:r>
              <a:rPr lang="en-US" sz="4000" b="1" dirty="0" smtClean="0"/>
              <a:t>          Programming Domains</a:t>
            </a:r>
          </a:p>
          <a:p>
            <a:pPr marL="342900" lvl="1" indent="-342900" algn="just">
              <a:buNone/>
            </a:pPr>
            <a:r>
              <a:rPr lang="en-US" dirty="0" smtClean="0"/>
              <a:t>   Computers have been applied to a myriad of different areas, from controlling nuclear power plants to providing video games in mobile phones. Because of this great diversity in computer use, programming languages with very different goal have been developed</a:t>
            </a:r>
            <a:r>
              <a:rPr lang="en-US" sz="4000" dirty="0" smtClean="0"/>
              <a:t>. </a:t>
            </a:r>
          </a:p>
          <a:p>
            <a:pPr marL="342900" lvl="1" indent="-342900" algn="just">
              <a:buFont typeface="Wingdings" pitchFamily="2" charset="2"/>
              <a:buChar char="Ø"/>
            </a:pPr>
            <a:r>
              <a:rPr lang="en-US" sz="3600" b="1" dirty="0" smtClean="0"/>
              <a:t>Scientific Applications:-</a:t>
            </a:r>
          </a:p>
          <a:p>
            <a:pPr marL="342900" lvl="1" indent="-342900" algn="just">
              <a:buFont typeface="Arial" pitchFamily="34" charset="0"/>
              <a:buChar char="•"/>
            </a:pPr>
            <a:r>
              <a:rPr lang="en-US" dirty="0" smtClean="0"/>
              <a:t>The first digital computers, which appeared in the late 1940s and early 1950s, were invented and used for scientific applications. </a:t>
            </a:r>
            <a:endParaRPr lang="en-US" b="1" dirty="0" smtClean="0"/>
          </a:p>
          <a:p>
            <a:pPr marL="342900" lvl="1" indent="-342900" algn="just">
              <a:buFont typeface="Wingdings" pitchFamily="2" charset="2"/>
              <a:buChar char="Ø"/>
            </a:pPr>
            <a:endParaRPr lang="en-US" sz="4000" dirty="0" smtClean="0"/>
          </a:p>
          <a:p>
            <a:pPr marL="342900" lvl="1" indent="-342900" algn="just">
              <a:buFont typeface="Arial" pitchFamily="34" charset="0"/>
              <a:buChar char="•"/>
            </a:pPr>
            <a:endParaRPr lang="en-US" sz="4000" b="1" dirty="0" smtClean="0"/>
          </a:p>
          <a:p>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800" dirty="0" smtClean="0"/>
              <a:t>Typically, the scientific applications of that time used relatively simple data structures, but required large numbers of floating-point arithmetic computations.</a:t>
            </a:r>
          </a:p>
          <a:p>
            <a:r>
              <a:rPr lang="en-US" sz="2800" dirty="0" smtClean="0"/>
              <a:t>The most common data structures were arrays and matrices; the most common control structures were counting loops and selections.</a:t>
            </a:r>
          </a:p>
          <a:p>
            <a:r>
              <a:rPr lang="en-US" sz="2800" dirty="0" smtClean="0"/>
              <a:t> The early high-level programming languages invented for scientific applications were designed to provide for those needs. Their competition was assembly language, so efficiency was a primary concern. The first language for scientific applications was Fortran.</a:t>
            </a:r>
          </a:p>
          <a:p>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a:bodyPr>
          <a:lstStyle/>
          <a:p>
            <a:pPr>
              <a:buFont typeface="Wingdings" pitchFamily="2" charset="2"/>
              <a:buChar char="Ø"/>
            </a:pPr>
            <a:r>
              <a:rPr lang="en-US" sz="4000" b="1" dirty="0" smtClean="0"/>
              <a:t>Business Applications:-</a:t>
            </a:r>
          </a:p>
          <a:p>
            <a:r>
              <a:rPr lang="en-US" sz="2800" dirty="0" smtClean="0"/>
              <a:t>The use of computers for business applications began in the 1950s. </a:t>
            </a:r>
          </a:p>
          <a:p>
            <a:r>
              <a:rPr lang="en-US" sz="2800" dirty="0" smtClean="0"/>
              <a:t>Special computers were developed for this purpose, along with special languages.</a:t>
            </a:r>
          </a:p>
          <a:p>
            <a:r>
              <a:rPr lang="en-US" sz="2800" dirty="0" smtClean="0"/>
              <a:t>The first successful high-level language for business was COBOL .</a:t>
            </a:r>
          </a:p>
          <a:p>
            <a:r>
              <a:rPr lang="en-US" sz="2800" dirty="0" smtClean="0"/>
              <a:t>Business languages are characterized by facilities for producing elaborate reports, precise ways of describing and storing decimal numbers and character data, and the ability to specify decimal arithmetic operations.</a:t>
            </a:r>
          </a:p>
          <a:p>
            <a:endParaRPr lang="en-US" sz="28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fontScale="92500"/>
          </a:bodyPr>
          <a:lstStyle/>
          <a:p>
            <a:r>
              <a:rPr lang="en-US" sz="4000" b="1" dirty="0" smtClean="0"/>
              <a:t>Artificial Intelligence:-</a:t>
            </a:r>
          </a:p>
          <a:p>
            <a:r>
              <a:rPr lang="en-US" sz="2800" dirty="0" smtClean="0"/>
              <a:t>Artificial intelligence (AI) is a broad area of computer applications characterized by the use of symbolic rather than numeric computations. </a:t>
            </a:r>
          </a:p>
          <a:p>
            <a:r>
              <a:rPr lang="en-US" sz="2800" dirty="0" smtClean="0"/>
              <a:t>Symbolic computation means that symbols, consisting of names rather than numbers, are manipulated. Also, symbolic computation is more conveniently done with linked lists of data rather than arrays. </a:t>
            </a:r>
          </a:p>
          <a:p>
            <a:r>
              <a:rPr lang="en-US" sz="2800" dirty="0" smtClean="0"/>
              <a:t>This kind of programming sometimes requires more flexibility than other programming domains. </a:t>
            </a:r>
          </a:p>
          <a:p>
            <a:r>
              <a:rPr lang="en-US" sz="2800" dirty="0" smtClean="0"/>
              <a:t>The first widely used programming language developed for AI applications was the functional language </a:t>
            </a:r>
            <a:r>
              <a:rPr lang="en-US" sz="2800" b="1" dirty="0" smtClean="0"/>
              <a:t>Lisp</a:t>
            </a:r>
            <a:r>
              <a:rPr lang="en-US" sz="2800" dirty="0" smtClean="0"/>
              <a:t>, which appeared in 1959. </a:t>
            </a:r>
            <a:endParaRPr lang="en-US" sz="28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0"/>
            <a:ext cx="8229600" cy="6126163"/>
          </a:xfrm>
        </p:spPr>
        <p:txBody>
          <a:bodyPr>
            <a:normAutofit lnSpcReduction="10000"/>
          </a:bodyPr>
          <a:lstStyle/>
          <a:p>
            <a:r>
              <a:rPr lang="en-US" sz="2800" dirty="0" smtClean="0"/>
              <a:t>Most AI applications developed prior to 1990 were written in Lisp or one of its close relatives. During the early 1970s, however, an alternative approach to some of these applications appeared—logic programming using the</a:t>
            </a:r>
            <a:r>
              <a:rPr lang="en-US" sz="2800" b="1" dirty="0" smtClean="0"/>
              <a:t> Prolog </a:t>
            </a:r>
            <a:r>
              <a:rPr lang="en-US" sz="2800" dirty="0" smtClean="0"/>
              <a:t>language.</a:t>
            </a:r>
          </a:p>
          <a:p>
            <a:pPr marL="342900" lvl="2" indent="-342900">
              <a:buFont typeface="Wingdings" pitchFamily="2" charset="2"/>
              <a:buChar char="Ø"/>
            </a:pPr>
            <a:r>
              <a:rPr lang="en-US" sz="4000" b="1" dirty="0" smtClean="0"/>
              <a:t>Web Software:-</a:t>
            </a:r>
          </a:p>
          <a:p>
            <a:r>
              <a:rPr lang="en-US" sz="2800" dirty="0" smtClean="0"/>
              <a:t>The World Wide Web is supported by an eclectic collection of languages, ranging from markup languages, such as HTML, which is not a programming language, to general-purpose programming languages, such as Java.</a:t>
            </a:r>
          </a:p>
          <a:p>
            <a:r>
              <a:rPr lang="en-US" sz="2800" dirty="0" smtClean="0"/>
              <a:t>Because of the pervasive need for dynamic Web content, some computation capability is often included in the technology of content presentation.</a:t>
            </a:r>
            <a:endParaRPr lang="en-US" sz="2800" b="1" dirty="0" smtClean="0"/>
          </a:p>
          <a:p>
            <a:pPr>
              <a:buFont typeface="Wingdings" pitchFamily="2" charset="2"/>
              <a:buChar char="Ø"/>
            </a:pPr>
            <a:endParaRPr lang="en-US" sz="2800" dirty="0" smtClean="0"/>
          </a:p>
          <a:p>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fontScale="92500"/>
          </a:bodyPr>
          <a:lstStyle/>
          <a:p>
            <a:r>
              <a:rPr lang="en-US" sz="3000" dirty="0" smtClean="0"/>
              <a:t>This functionality can be provided by embedding programming code in an HTML document. Such code is often in the form of a scripting language, such as JavaScript or PHP.</a:t>
            </a:r>
          </a:p>
          <a:p>
            <a:pPr marL="342900" lvl="1" indent="-342900">
              <a:buNone/>
            </a:pPr>
            <a:r>
              <a:rPr lang="en-US" sz="4000" b="1" dirty="0" smtClean="0"/>
              <a:t>   Language Evaluation Criteria</a:t>
            </a:r>
          </a:p>
          <a:p>
            <a:pPr marL="342900" lvl="1" indent="-342900">
              <a:buNone/>
            </a:pPr>
            <a:r>
              <a:rPr lang="en-US" sz="3000" dirty="0" smtClean="0"/>
              <a:t>   We will evaluate the features, focusing on their impact on the software development process, including maintenance. To do this, we need a set of evaluation criteria. Such a list of criteria is necessarily controversial, because it is difficult to get even two computer scientists to agree on the value of some given language characteristic relative to others.</a:t>
            </a:r>
            <a:endParaRPr lang="en-US" sz="3000" b="1" dirty="0" smtClean="0"/>
          </a:p>
          <a:p>
            <a:pPr>
              <a:buNone/>
            </a:pP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2.jpeg"/>
          <p:cNvPicPr>
            <a:picLocks noGrp="1"/>
          </p:cNvPicPr>
          <p:nvPr>
            <p:ph idx="1"/>
          </p:nvPr>
        </p:nvPicPr>
        <p:blipFill>
          <a:blip r:embed="rId2" cstate="print"/>
          <a:stretch>
            <a:fillRect/>
          </a:stretch>
        </p:blipFill>
        <p:spPr>
          <a:xfrm>
            <a:off x="228601" y="609601"/>
            <a:ext cx="8915400" cy="5867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lstStyle/>
          <a:p>
            <a:r>
              <a:rPr lang="en-US" b="1" dirty="0" smtClean="0"/>
              <a:t>Readability </a:t>
            </a:r>
            <a:r>
              <a:rPr lang="en-US" sz="2800" dirty="0" smtClean="0"/>
              <a:t>: the ease with which programs can be read and understood</a:t>
            </a:r>
            <a:r>
              <a:rPr lang="en-US" dirty="0" smtClean="0"/>
              <a:t>.</a:t>
            </a:r>
          </a:p>
          <a:p>
            <a:r>
              <a:rPr lang="en-US" b="1" dirty="0" smtClean="0"/>
              <a:t>Writability </a:t>
            </a:r>
            <a:r>
              <a:rPr lang="en-US" dirty="0" smtClean="0"/>
              <a:t>: </a:t>
            </a:r>
            <a:r>
              <a:rPr lang="en-US" sz="2800" dirty="0" smtClean="0"/>
              <a:t>the ease with which a language can be used to create programs</a:t>
            </a:r>
            <a:r>
              <a:rPr lang="en-US" dirty="0" smtClean="0"/>
              <a:t>.</a:t>
            </a:r>
          </a:p>
          <a:p>
            <a:r>
              <a:rPr lang="en-US" b="1" dirty="0" smtClean="0"/>
              <a:t>Reliability </a:t>
            </a:r>
            <a:r>
              <a:rPr lang="en-US" sz="2800" dirty="0" smtClean="0"/>
              <a:t>: conformance to specifications (i.e., performs to its specifications).</a:t>
            </a:r>
          </a:p>
          <a:p>
            <a:r>
              <a:rPr lang="en-US" b="1" dirty="0" smtClean="0"/>
              <a:t>Cost </a:t>
            </a:r>
            <a:r>
              <a:rPr lang="en-US" dirty="0" smtClean="0"/>
              <a:t>: </a:t>
            </a:r>
            <a:r>
              <a:rPr lang="en-US" sz="2800" dirty="0" smtClean="0"/>
              <a:t>the ultimate total cost.</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lstStyle/>
          <a:p>
            <a:pPr lvl="1">
              <a:buNone/>
            </a:pPr>
            <a:r>
              <a:rPr lang="en-US" sz="3200" b="1" dirty="0" smtClean="0"/>
              <a:t>Influences on Language Design</a:t>
            </a:r>
          </a:p>
          <a:p>
            <a:pPr lvl="1">
              <a:buFont typeface="Arial" pitchFamily="34" charset="0"/>
              <a:buChar char="•"/>
            </a:pPr>
            <a:r>
              <a:rPr lang="en-US" dirty="0" smtClean="0"/>
              <a:t>The factors influence the basic design of programming languages. The most important of these are computer architecture and programming design methodologies.</a:t>
            </a:r>
            <a:endParaRPr lang="en-US" b="1" dirty="0" smtClean="0"/>
          </a:p>
          <a:p>
            <a:pPr>
              <a:buNone/>
            </a:pPr>
            <a:r>
              <a:rPr lang="en-US" b="1" dirty="0" smtClean="0"/>
              <a:t>Computer Architecture:-</a:t>
            </a:r>
          </a:p>
          <a:p>
            <a:r>
              <a:rPr lang="en-US" sz="2800" dirty="0" smtClean="0"/>
              <a:t>The basic architecture of computers has had a profound effect on language design.</a:t>
            </a:r>
          </a:p>
          <a:p>
            <a:r>
              <a:rPr lang="en-US" sz="2800" dirty="0" smtClean="0"/>
              <a:t> Most of the popular languages of the past 60 years have been designed around the prevalent computer architecture, called the </a:t>
            </a:r>
            <a:r>
              <a:rPr lang="en-US" sz="2800" b="1" dirty="0" smtClean="0"/>
              <a:t>von Neumann architecture</a:t>
            </a:r>
            <a:r>
              <a:rPr lang="en-US" sz="2800" dirty="0" smtClean="0"/>
              <a:t>, after one of its originators.</a:t>
            </a:r>
          </a:p>
          <a:p>
            <a:pPr>
              <a:buNone/>
            </a:pPr>
            <a:endParaRPr lang="en-US" sz="2800" dirty="0" smtClean="0"/>
          </a:p>
          <a:p>
            <a:pPr lvl="1">
              <a:buNone/>
            </a:pPr>
            <a:endParaRPr lang="en-US"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r>
              <a:rPr lang="en-US" sz="2800" smtClean="0"/>
              <a:t> </a:t>
            </a:r>
            <a:r>
              <a:rPr lang="en-US" sz="2800" dirty="0" smtClean="0"/>
              <a:t>In a von Neumann computer, both data and programs are stored in the same memory.</a:t>
            </a:r>
          </a:p>
          <a:p>
            <a:endParaRPr lang="en-US" sz="2800" dirty="0"/>
          </a:p>
        </p:txBody>
      </p:sp>
      <p:pic>
        <p:nvPicPr>
          <p:cNvPr id="4" name="Image 35"/>
          <p:cNvPicPr/>
          <p:nvPr/>
        </p:nvPicPr>
        <p:blipFill>
          <a:blip r:embed="rId2" cstate="print"/>
          <a:stretch>
            <a:fillRect/>
          </a:stretch>
        </p:blipFill>
        <p:spPr>
          <a:xfrm>
            <a:off x="1371600" y="1828800"/>
            <a:ext cx="6705600" cy="4724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800" dirty="0" smtClean="0"/>
              <a:t>The execution of a machine code program on a von Neumann architecture computer occurs in a process called the </a:t>
            </a:r>
            <a:r>
              <a:rPr lang="en-US" sz="2800" b="1" dirty="0" smtClean="0"/>
              <a:t>fetch-execute cycle</a:t>
            </a:r>
            <a:r>
              <a:rPr lang="en-US" sz="2800" dirty="0" smtClean="0"/>
              <a:t>.</a:t>
            </a:r>
          </a:p>
          <a:p>
            <a:r>
              <a:rPr lang="en-US" sz="2800" dirty="0" smtClean="0"/>
              <a:t> As stated earlier, programs reside in memory but are executed in the CPU.</a:t>
            </a:r>
          </a:p>
          <a:p>
            <a:r>
              <a:rPr lang="en-US" sz="2800" dirty="0" smtClean="0"/>
              <a:t> Each instruction to be executed must be moved from memory to the processor. </a:t>
            </a:r>
          </a:p>
          <a:p>
            <a:r>
              <a:rPr lang="en-US" sz="2800" dirty="0" smtClean="0"/>
              <a:t>The address of the next instruction to be executed is maintained in a register called the </a:t>
            </a:r>
            <a:r>
              <a:rPr lang="en-US" sz="2800" b="1" dirty="0" smtClean="0"/>
              <a:t>program counter</a:t>
            </a:r>
            <a:r>
              <a:rPr lang="en-US" sz="2800" dirty="0" smtClean="0"/>
              <a:t>. </a:t>
            </a:r>
          </a:p>
          <a:p>
            <a:r>
              <a:rPr lang="en-US" sz="2800" dirty="0" smtClean="0"/>
              <a:t>The fetch-execute cycle can be simply described by the following algorithm:</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lstStyle/>
          <a:p>
            <a:r>
              <a:rPr lang="en-US" b="1" dirty="0" smtClean="0"/>
              <a:t>fetch-execute cycle</a:t>
            </a:r>
            <a:r>
              <a:rPr lang="en-US" dirty="0" smtClean="0"/>
              <a:t>.</a:t>
            </a:r>
          </a:p>
          <a:p>
            <a:r>
              <a:rPr lang="en-US" sz="2800" dirty="0" smtClean="0"/>
              <a:t>initialize the program counter</a:t>
            </a:r>
          </a:p>
          <a:p>
            <a:r>
              <a:rPr lang="en-US" sz="2800" dirty="0" smtClean="0"/>
              <a:t> </a:t>
            </a:r>
            <a:r>
              <a:rPr lang="en-US" sz="2800" b="1" dirty="0" smtClean="0"/>
              <a:t>repeat </a:t>
            </a:r>
            <a:r>
              <a:rPr lang="en-US" sz="2800" dirty="0" smtClean="0"/>
              <a:t>forever</a:t>
            </a:r>
          </a:p>
          <a:p>
            <a:r>
              <a:rPr lang="en-US" sz="2800" dirty="0" smtClean="0"/>
              <a:t>fetch the instruction pointed to by the program counter increment the program counter to point at the next instruction decode the instruction</a:t>
            </a:r>
          </a:p>
          <a:p>
            <a:r>
              <a:rPr lang="en-US" sz="2800" dirty="0" smtClean="0"/>
              <a:t>execute the instruction</a:t>
            </a:r>
          </a:p>
          <a:p>
            <a:r>
              <a:rPr lang="en-US" sz="2800" dirty="0" smtClean="0"/>
              <a:t> </a:t>
            </a:r>
            <a:r>
              <a:rPr lang="en-US" sz="2800" b="1" dirty="0" smtClean="0"/>
              <a:t>end repeat	</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fontScale="92500" lnSpcReduction="10000"/>
          </a:bodyPr>
          <a:lstStyle/>
          <a:p>
            <a:pPr lvl="2">
              <a:buNone/>
            </a:pPr>
            <a:r>
              <a:rPr lang="en-US" sz="3200" b="1" dirty="0" smtClean="0"/>
              <a:t>Programming Design Methodologies</a:t>
            </a:r>
          </a:p>
          <a:p>
            <a:pPr lvl="2"/>
            <a:r>
              <a:rPr lang="en-US" sz="2600" dirty="0" smtClean="0"/>
              <a:t>The late 1960s and early 1970s brought an intense analysis, begun in large part by the structured-programming movement, of both the software development process and programming language design.</a:t>
            </a:r>
          </a:p>
          <a:p>
            <a:pPr lvl="2"/>
            <a:r>
              <a:rPr lang="en-US" sz="2600" dirty="0" smtClean="0"/>
              <a:t>Shift in the </a:t>
            </a:r>
            <a:r>
              <a:rPr lang="en-US" sz="2600" b="1" dirty="0" smtClean="0"/>
              <a:t>major cost of computing from hardware to software</a:t>
            </a:r>
            <a:r>
              <a:rPr lang="en-US" sz="2600" dirty="0" smtClean="0"/>
              <a:t>, as hardware costs decreased and programmer costs increased.</a:t>
            </a:r>
          </a:p>
          <a:p>
            <a:pPr lvl="2"/>
            <a:r>
              <a:rPr lang="en-US" sz="2600" dirty="0" smtClean="0"/>
              <a:t>The new software development methodologies that emerged as a result of the research of the 1970s were called </a:t>
            </a:r>
            <a:r>
              <a:rPr lang="en-US" sz="2600" b="1" dirty="0" smtClean="0"/>
              <a:t>top-down design </a:t>
            </a:r>
            <a:r>
              <a:rPr lang="en-US" sz="2600" dirty="0" smtClean="0"/>
              <a:t>and stepwise refinement.</a:t>
            </a:r>
          </a:p>
          <a:p>
            <a:pPr lvl="2"/>
            <a:r>
              <a:rPr lang="en-US" sz="2600" dirty="0" smtClean="0"/>
              <a:t> The primary programming language deficiencies that were discovered were incompleteness of type checking and inadequacy of control statements</a:t>
            </a:r>
          </a:p>
          <a:p>
            <a:pPr lvl="2"/>
            <a:endParaRPr lang="en-US" sz="2600"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r>
              <a:rPr lang="en-US" sz="2400" dirty="0" smtClean="0"/>
              <a:t>In the late 1970s, a shift from procedure-oriented to data-oriented program design methodologies began. Simply put, data-oriented methods emphasize data design, focusing on the use of abstract data types to solve problems.</a:t>
            </a:r>
          </a:p>
          <a:p>
            <a:r>
              <a:rPr lang="en-US" sz="2400" dirty="0" smtClean="0"/>
              <a:t>For data abstraction to be used effectively in software system design, it must be supported by the languages used for implementation</a:t>
            </a:r>
          </a:p>
          <a:p>
            <a:r>
              <a:rPr lang="en-US" sz="2400" dirty="0" smtClean="0"/>
              <a:t> The first language to provide even limited supported for data abstraction was SIMULA67, although the language certainly was not propelled to popularity because of it. The benefits of data abstraction were not widely recognized until the early 1970s. However, most languages designed since the late 1970s support data abstraction,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a:bodyPr>
          <a:lstStyle/>
          <a:p>
            <a:r>
              <a:rPr lang="en-US" sz="2400" dirty="0" smtClean="0"/>
              <a:t>The latest step in the evolution of data-oriented software development, which began in the early 1980s, is object-oriented design. Object-oriented methodology begins with data abstraction, which encapsulates processing with data objects and controls access to data, and adds inheritance and dynamic method binding.</a:t>
            </a:r>
          </a:p>
          <a:p>
            <a:r>
              <a:rPr lang="en-US" sz="2400" dirty="0" smtClean="0"/>
              <a:t>Inheritance is a powerful concept that greatly enhances the potential reuse of existing software, thereby providing the possibility of significant increases in software development productivity. This is an important factor in the increase in popularity of object-oriented languages. Dynamic (run-time) method binding allows more flexible use of inheritance.</a:t>
            </a:r>
          </a:p>
          <a:p>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fontScale="92500"/>
          </a:bodyPr>
          <a:lstStyle/>
          <a:p>
            <a:r>
              <a:rPr lang="en-US" sz="2400" dirty="0" smtClean="0"/>
              <a:t>Object-oriented programming developed along with a language that supported its concepts: Smalltalk (Goldberg and Robson, 1989).</a:t>
            </a:r>
          </a:p>
          <a:p>
            <a:r>
              <a:rPr lang="en-US" sz="2400" dirty="0" smtClean="0"/>
              <a:t> Although Smalltalk never became as widely used as many other languages, support for object-oriented programming is now part of most popular imperative languages, including Java, C++, and C#. Object-oriented concepts have also found their way into functional programming in CLOS.</a:t>
            </a:r>
          </a:p>
          <a:p>
            <a:r>
              <a:rPr lang="en-US" sz="2400" dirty="0" smtClean="0"/>
              <a:t>Procedure-oriented programming is, in a sense, the opposite of data-oriented programming. Although data-oriented methods now dominate software development, procedure-oriented methods have not been abandoned. On the contrary, in recent years, a good deal of research has occurred in procedure- oriented programming, especially in the area of concurrency.</a:t>
            </a:r>
          </a:p>
          <a:p>
            <a:r>
              <a:rPr lang="en-US" sz="2400" dirty="0" smtClean="0"/>
              <a:t>All of these evolutionary steps in software development methodologies led to new language constructs to support them.</a:t>
            </a:r>
          </a:p>
          <a:p>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lstStyle/>
          <a:p>
            <a:pPr>
              <a:buNone/>
            </a:pPr>
            <a:r>
              <a:rPr lang="en-US" b="1" dirty="0" smtClean="0"/>
              <a:t>                Language Categories</a:t>
            </a:r>
          </a:p>
          <a:p>
            <a:r>
              <a:rPr lang="en-US" dirty="0" smtClean="0"/>
              <a:t> </a:t>
            </a:r>
            <a:r>
              <a:rPr lang="en-US" sz="2400" dirty="0" smtClean="0"/>
              <a:t> Programming languages are often categorized into four categories                       </a:t>
            </a:r>
          </a:p>
          <a:p>
            <a:pPr>
              <a:buNone/>
            </a:pPr>
            <a:r>
              <a:rPr lang="en-US" dirty="0" smtClean="0"/>
              <a:t>           </a:t>
            </a:r>
            <a:r>
              <a:rPr lang="en-US" sz="2400" dirty="0" err="1" smtClean="0"/>
              <a:t>i</a:t>
            </a:r>
            <a:r>
              <a:rPr lang="en-US" sz="2400" dirty="0" smtClean="0"/>
              <a:t>. Imperative Languages</a:t>
            </a:r>
          </a:p>
          <a:p>
            <a:pPr>
              <a:buNone/>
            </a:pPr>
            <a:r>
              <a:rPr lang="en-US" sz="2400" dirty="0" smtClean="0"/>
              <a:t>               ii. Functional Languages</a:t>
            </a:r>
          </a:p>
          <a:p>
            <a:pPr>
              <a:buNone/>
            </a:pPr>
            <a:r>
              <a:rPr lang="en-US" sz="2400" dirty="0" smtClean="0"/>
              <a:t>               iii. Logic Languages</a:t>
            </a:r>
          </a:p>
          <a:p>
            <a:pPr>
              <a:buNone/>
            </a:pPr>
            <a:r>
              <a:rPr lang="en-US" sz="2400" dirty="0" smtClean="0"/>
              <a:t>                iv. Object-Oriented Languages</a:t>
            </a:r>
          </a:p>
          <a:p>
            <a:r>
              <a:rPr lang="en-US" sz="2400" dirty="0" smtClean="0"/>
              <a:t> However, we do not consider languages that support object-oriented programming to form a separate category of languages. We have described how the most popular languages that support object-oriented programming grew out of imperative languages.</a:t>
            </a:r>
          </a:p>
        </p:txBody>
      </p:sp>
      <p:sp>
        <p:nvSpPr>
          <p:cNvPr id="1025" name="Rectangle 1"/>
          <p:cNvSpPr>
            <a:spLocks noChangeArrowheads="1"/>
          </p:cNvSpPr>
          <p:nvPr/>
        </p:nvSpPr>
        <p:spPr bwMode="auto">
          <a:xfrm>
            <a:off x="0" y="-143925"/>
            <a:ext cx="234029" cy="745050"/>
          </a:xfrm>
          <a:prstGeom prst="rect">
            <a:avLst/>
          </a:prstGeom>
          <a:noFill/>
          <a:ln w="9525">
            <a:noFill/>
            <a:miter lim="800000"/>
            <a:headEnd/>
            <a:tailEnd/>
          </a:ln>
          <a:effectLst/>
        </p:spPr>
        <p:txBody>
          <a:bodyPr vert="horz" wrap="none" lIns="231702" tIns="82524"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500" b="0" i="0" u="none" strike="noStrike" cap="none" normalizeH="0" baseline="0" dirty="0" smtClean="0">
              <a:ln>
                <a:noFill/>
              </a:ln>
              <a:solidFill>
                <a:schemeClr val="tx1"/>
              </a:solidFill>
              <a:effectLst/>
              <a:latin typeface="Arial" pitchFamily="34" charset="0"/>
              <a:ea typeface="Arial MT"/>
              <a:cs typeface="Arial M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lnSpcReduction="10000"/>
          </a:bodyPr>
          <a:lstStyle/>
          <a:p>
            <a:r>
              <a:rPr lang="en-US" sz="2400" dirty="0" smtClean="0"/>
              <a:t>Although the object-oriented software development paradigm differs significantly from the procedure-oriented paradigm usually used with imperative languages, the extensions to an imperative language required to support object-oriented programming are not intensive</a:t>
            </a:r>
          </a:p>
          <a:p>
            <a:r>
              <a:rPr lang="en-US" sz="2400" dirty="0" smtClean="0"/>
              <a:t>For example, the expressions, assignment statements, and control statements of C and Java are nearly identical. (On the other hand, the arrays, subprograms, and semantics of Java are very different from those of C.) Similar statements can be made for functional languages that support object-oriented programming.</a:t>
            </a:r>
          </a:p>
          <a:p>
            <a:r>
              <a:rPr lang="en-US" sz="2400" dirty="0" smtClean="0"/>
              <a:t>Some authors refer to scripting languages as a separate category of programming languages. However, languages in this category are bound together more by their implementation method, partial or full interpretation, than by a common language design</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r>
              <a:rPr lang="en-US" sz="2400" dirty="0" smtClean="0"/>
              <a:t>However, languages in this category are bound together more by their implementation method, partial or full interpretation, than by a common language design.</a:t>
            </a:r>
          </a:p>
          <a:p>
            <a:r>
              <a:rPr lang="en-US" sz="2400" dirty="0" smtClean="0"/>
              <a:t>That languages that are typically  called Scripting languages</a:t>
            </a:r>
          </a:p>
          <a:p>
            <a:pPr>
              <a:buNone/>
            </a:pPr>
            <a:r>
              <a:rPr lang="en-US" sz="2400" dirty="0" smtClean="0"/>
              <a:t>      among them Perl , JavaScript and Ruby.</a:t>
            </a:r>
          </a:p>
          <a:p>
            <a:r>
              <a:rPr lang="en-US" sz="2400" dirty="0" smtClean="0"/>
              <a:t>However, languages in this category are bound together more by their implementation method, partial or full interpretation, than by a common language design</a:t>
            </a:r>
          </a:p>
          <a:p>
            <a:r>
              <a:rPr lang="en-US" sz="2400" dirty="0" smtClean="0"/>
              <a:t>. In a rule-based language, however, rules are specified in no particular order, and the language implementation system must choose an order in which the rules are used to produce the desired result.</a:t>
            </a:r>
          </a:p>
          <a:p>
            <a:r>
              <a:rPr lang="en-US" sz="2400" dirty="0" smtClean="0"/>
              <a:t>In recent years, a new category of languages has emerged, the</a:t>
            </a:r>
            <a:br>
              <a:rPr lang="en-US" sz="2400" dirty="0" smtClean="0"/>
            </a:br>
            <a:r>
              <a:rPr lang="en-US" sz="2400" dirty="0" smtClean="0"/>
              <a:t>markup/programming hybrid languages.</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400" dirty="0" smtClean="0"/>
              <a:t>Markup languages are not programming languages. For instance, HTML, the most widely used markup language, is used to specify the layout of information in Web documents.</a:t>
            </a:r>
          </a:p>
          <a:p>
            <a:r>
              <a:rPr lang="en-US" sz="2400" dirty="0" smtClean="0"/>
              <a:t>However, some programming capability has crept into some extensions to HTML and XML. </a:t>
            </a:r>
          </a:p>
          <a:p>
            <a:r>
              <a:rPr lang="en-US" sz="2400" dirty="0" smtClean="0"/>
              <a:t>Among these are the Java Server Pages Standard Tag Library (JSTL) and </a:t>
            </a:r>
            <a:r>
              <a:rPr lang="en-US" sz="2400" dirty="0" err="1" smtClean="0"/>
              <a:t>eXtensible</a:t>
            </a:r>
            <a:r>
              <a:rPr lang="en-US" sz="2400" dirty="0" smtClean="0"/>
              <a:t> </a:t>
            </a:r>
            <a:r>
              <a:rPr lang="en-US" sz="2400" dirty="0" err="1" smtClean="0"/>
              <a:t>Stylesheet</a:t>
            </a:r>
            <a:r>
              <a:rPr lang="en-US" sz="2400" dirty="0" smtClean="0"/>
              <a:t> Language Transformations(XSLT).</a:t>
            </a:r>
          </a:p>
          <a:p>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fontScale="92500" lnSpcReduction="20000"/>
          </a:bodyPr>
          <a:lstStyle/>
          <a:p>
            <a:pPr marL="342900" lvl="1" indent="-342900">
              <a:buNone/>
            </a:pPr>
            <a:r>
              <a:rPr lang="en-US" b="1" dirty="0" smtClean="0"/>
              <a:t>         </a:t>
            </a:r>
            <a:r>
              <a:rPr lang="en-US" sz="3200" b="1" dirty="0" smtClean="0"/>
              <a:t>Language Design Trade-Offs</a:t>
            </a:r>
          </a:p>
          <a:p>
            <a:r>
              <a:rPr lang="en-US" sz="2600" dirty="0" smtClean="0"/>
              <a:t>The programming language evaluation criteria provide a framework for language design. Unfortunately, that framework is self-contradictory.</a:t>
            </a:r>
          </a:p>
          <a:p>
            <a:r>
              <a:rPr lang="en-US" sz="2600" dirty="0" smtClean="0"/>
              <a:t>In his insightful paper on language design, stated that “there are so many important but conflicting criteria, that their reconciliation and satisfaction is a major engineering task.”</a:t>
            </a:r>
          </a:p>
          <a:p>
            <a:r>
              <a:rPr lang="en-US" sz="2600" dirty="0" smtClean="0"/>
              <a:t>Two criteria that conflict are reliability and cost of execution.</a:t>
            </a:r>
          </a:p>
          <a:p>
            <a:r>
              <a:rPr lang="en-US" sz="2600" dirty="0" smtClean="0"/>
              <a:t>For example, the Java language definition demands that all references to array elements be checked to ensure that the index or indices are in their legal ranges. This step adds a great deal to the cost of execution of Java programs that contain large numbers of references to array elements. C does not require index range checking, so C programs execute faster than semantically equivalent Java programs, although Java programs are more reliable. The designers of Java traded execution efficiency for reliability.</a:t>
            </a:r>
          </a:p>
          <a:p>
            <a:endParaRPr lang="en-US" sz="2400" dirty="0" smtClean="0"/>
          </a:p>
          <a:p>
            <a:endParaRPr lang="en-US" sz="2400" dirty="0" smtClean="0"/>
          </a:p>
          <a:p>
            <a:endParaRPr lang="en-US" sz="2400" dirty="0" smtClean="0"/>
          </a:p>
          <a:p>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400" dirty="0" smtClean="0"/>
              <a:t>As another example of conflicting criteria that leads directly to design trade- offs, consider the case of APL. APL includes a powerful set of operators for array operands. Because of the large number of operators, a significant number of new symbols had to be included in APL to represent the operators.</a:t>
            </a:r>
          </a:p>
          <a:p>
            <a:r>
              <a:rPr lang="en-US" sz="2400" dirty="0" smtClean="0"/>
              <a:t>Also, many APL operators can be used in a single, long, complex expression. One result of this high degree of expressivity is that, for applications involving many array operations, APL is very writable. Indeed, a huge amount of computation can be specified in a very small program. </a:t>
            </a:r>
          </a:p>
          <a:p>
            <a:r>
              <a:rPr lang="en-US" sz="2400" dirty="0" smtClean="0"/>
              <a:t> Another result is that APL programs have very poor readability. A compact and concise expression has a certain mathematical beauty but it is difficult for  anyone other  than the programmer  to understand.</a:t>
            </a:r>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r>
              <a:rPr lang="en-US" sz="2400" dirty="0" smtClean="0"/>
              <a:t>The conflict between </a:t>
            </a:r>
            <a:r>
              <a:rPr lang="en-US" sz="2400" dirty="0" err="1" smtClean="0"/>
              <a:t>writability</a:t>
            </a:r>
            <a:r>
              <a:rPr lang="en-US" sz="2400" dirty="0" smtClean="0"/>
              <a:t> and reliability is a common one in language design. The pointers of C++ can be manipulated in a variety of ways, which supports highly flexible addressing of data. Because of the potential</a:t>
            </a:r>
            <a:br>
              <a:rPr lang="en-US" sz="2400" dirty="0" smtClean="0"/>
            </a:br>
            <a:r>
              <a:rPr lang="en-US" sz="2400" dirty="0" smtClean="0"/>
              <a:t>reliability problems with pointers, they are not included in Java.</a:t>
            </a:r>
          </a:p>
          <a:p>
            <a:r>
              <a:rPr lang="en-US" sz="2400" dirty="0" smtClean="0"/>
              <a:t>Examples of conflicts among language design (and evaluation) criteria abound; some are subtle, others are obvious. It is therefore clear that the task of choosing constructs and features when designing a programming language requires many compromises and trade-offs.</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pPr lvl="1">
              <a:buNone/>
            </a:pPr>
            <a:r>
              <a:rPr lang="en-US" b="1" dirty="0" smtClean="0"/>
              <a:t>  </a:t>
            </a:r>
            <a:r>
              <a:rPr lang="en-US" sz="3600" b="1" dirty="0" smtClean="0"/>
              <a:t>Implementation Methods</a:t>
            </a:r>
          </a:p>
          <a:p>
            <a:pPr lvl="1">
              <a:buFont typeface="Arial" pitchFamily="34" charset="0"/>
              <a:buChar char="•"/>
            </a:pPr>
            <a:r>
              <a:rPr lang="en-US" sz="2400" dirty="0" smtClean="0"/>
              <a:t>Programming Languages can be implemented in three ways: </a:t>
            </a:r>
          </a:p>
          <a:p>
            <a:pPr lvl="1">
              <a:buNone/>
            </a:pPr>
            <a:r>
              <a:rPr lang="en-US" sz="2400" dirty="0" smtClean="0"/>
              <a:t>1.Compilation</a:t>
            </a:r>
          </a:p>
          <a:p>
            <a:pPr lvl="1">
              <a:buNone/>
            </a:pPr>
            <a:r>
              <a:rPr lang="en-US" sz="2400" dirty="0" smtClean="0"/>
              <a:t>2.Interpretation</a:t>
            </a:r>
          </a:p>
          <a:p>
            <a:pPr lvl="1">
              <a:buNone/>
            </a:pPr>
            <a:r>
              <a:rPr lang="en-US" sz="2400" dirty="0" smtClean="0"/>
              <a:t>3. Hybrid Implementation System </a:t>
            </a:r>
          </a:p>
          <a:p>
            <a:pPr lvl="1">
              <a:buFont typeface="Arial" pitchFamily="34" charset="0"/>
              <a:buChar char="•"/>
            </a:pPr>
            <a:r>
              <a:rPr lang="en-US" sz="2400" dirty="0" smtClean="0"/>
              <a:t>Two of the primary components of a computer are its internal memory and its processor. The internal memory is used to store programs and data. The processor is a collection of circuits that provides a realization of a set of primitive operations, or machine instructions, such as those for arithmetic and logic operations</a:t>
            </a:r>
            <a:r>
              <a:rPr lang="en-US" dirty="0" smtClean="0"/>
              <a:t>.</a:t>
            </a:r>
            <a:endParaRPr 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lnSpcReduction="10000"/>
          </a:bodyPr>
          <a:lstStyle/>
          <a:p>
            <a:r>
              <a:rPr lang="en-US" sz="2400" dirty="0" smtClean="0"/>
              <a:t> In most computers, some of these instructions, which are sometimes called macroinstructions, are actually implemented with a set of instructions called microinstructions, which are defined at an even lower level. Because microinstructions are never seen by software, they will not be discussed further here.</a:t>
            </a:r>
          </a:p>
          <a:p>
            <a:r>
              <a:rPr lang="en-US" sz="2400" dirty="0" smtClean="0"/>
              <a:t>The machine language of the computer is its set of instructions. In the absence of other supporting software, its own machine language is the only language that most hardware computers understand.</a:t>
            </a:r>
          </a:p>
          <a:p>
            <a:r>
              <a:rPr lang="en-US" sz="2400" dirty="0" smtClean="0"/>
              <a:t>Theoretically, a computer could be designed and built with a particular high-level language as its machine language, but it would be very complex and expensive.</a:t>
            </a:r>
          </a:p>
          <a:p>
            <a:r>
              <a:rPr lang="en-US" sz="2400" dirty="0" smtClean="0"/>
              <a:t>Furthermore, it would be highly inflexible, because it would be difficult (but not impossible) to use it with other high-level languages.</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r>
              <a:rPr lang="en-US" sz="2400" dirty="0" smtClean="0"/>
              <a:t>The more practical machine design choice implements in hardware a very low-level language that provides the most commonly needed primitive operations and requires system software to create an interface to programs in higher-level languages.</a:t>
            </a:r>
          </a:p>
          <a:p>
            <a:r>
              <a:rPr lang="en-US" sz="2400" dirty="0" smtClean="0"/>
              <a:t>A language implementation system cannot be the only software on a computer. Also required is a large collection of programs, called the operating system, which supplies higher-level primitives than those of the machine language.</a:t>
            </a:r>
          </a:p>
          <a:p>
            <a:r>
              <a:rPr lang="en-US" sz="2400" dirty="0" smtClean="0"/>
              <a:t>These primitives provide system resource management, input and output operations, a file management system, text and/or program editors, and a variety of other commonly needed functions. Because language implementation systems need many of the operating system facilities, they interface with the operating system rather than directly with the processor.</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r>
              <a:rPr lang="en-US" sz="2800" dirty="0" smtClean="0"/>
              <a:t>The operating system and language implementations are layered over the machine language interface of a computer. These layers can be thought of as virtual computers, providing interfaces to the user at higher levels. For example, an operating system and a C compiler provide a virtual C computer. With other compilers, a machine can become other kinds of virtual computers. Most computer systems provide several different virtual computers. User programs form another layer over the top of the layer of virtual computers.</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43"/>
          <p:cNvPicPr>
            <a:picLocks noGrp="1"/>
          </p:cNvPicPr>
          <p:nvPr>
            <p:ph idx="1"/>
          </p:nvPr>
        </p:nvPicPr>
        <p:blipFill>
          <a:blip r:embed="rId2" cstate="print"/>
          <a:stretch>
            <a:fillRect/>
          </a:stretch>
        </p:blipFill>
        <p:spPr>
          <a:xfrm>
            <a:off x="914400" y="329406"/>
            <a:ext cx="7086600" cy="56959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609600" y="228600"/>
            <a:ext cx="8077200" cy="6324600"/>
          </a:xfrm>
        </p:spPr>
        <p:txBody>
          <a:bodyPr>
            <a:normAutofit/>
          </a:bodyPr>
          <a:lstStyle/>
          <a:p>
            <a:pPr lvl="2">
              <a:buNone/>
            </a:pPr>
            <a:r>
              <a:rPr lang="en-US" sz="3200" b="1" dirty="0" smtClean="0"/>
              <a:t>Compilation</a:t>
            </a:r>
          </a:p>
          <a:p>
            <a:pPr lvl="2"/>
            <a:r>
              <a:rPr lang="en-US" dirty="0" smtClean="0"/>
              <a:t>Programming languages can be implemented by any of three general methods. At one extreme, programs can be translated into machine language, which can be executed directly on the computer. This method is called a </a:t>
            </a:r>
            <a:r>
              <a:rPr lang="en-US" b="1" dirty="0" smtClean="0"/>
              <a:t>compiler implementation </a:t>
            </a:r>
            <a:r>
              <a:rPr lang="en-US" dirty="0" smtClean="0"/>
              <a:t>and has the advantage of very fast program execution, once the translation process is complete. </a:t>
            </a:r>
          </a:p>
          <a:p>
            <a:pPr lvl="2"/>
            <a:r>
              <a:rPr lang="en-US" dirty="0" smtClean="0"/>
              <a:t>Most production implementations of languages, such as C, COBOL, and C++, are by compilers.</a:t>
            </a:r>
          </a:p>
          <a:p>
            <a:pPr lvl="2"/>
            <a:r>
              <a:rPr lang="en-US" dirty="0" smtClean="0"/>
              <a:t>The language that a compiler translates is called the </a:t>
            </a:r>
            <a:r>
              <a:rPr lang="en-US" b="1" dirty="0" smtClean="0"/>
              <a:t>source language</a:t>
            </a:r>
            <a:r>
              <a:rPr lang="en-US" dirty="0" smtClean="0"/>
              <a:t>. The process of compilation and program execution takes place in several phases,</a:t>
            </a:r>
          </a:p>
          <a:p>
            <a:pPr lvl="2"/>
            <a:endParaRPr lang="en-US" sz="3200" b="1" dirty="0" smtClean="0"/>
          </a:p>
          <a:p>
            <a:pPr lvl="2">
              <a:buNone/>
            </a:pPr>
            <a:endParaRPr lang="en-US" sz="3200" b="1"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44"/>
          <p:cNvPicPr>
            <a:picLocks noGrp="1"/>
          </p:cNvPicPr>
          <p:nvPr>
            <p:ph idx="1"/>
          </p:nvPr>
        </p:nvPicPr>
        <p:blipFill>
          <a:blip r:embed="rId2" cstate="print"/>
          <a:stretch>
            <a:fillRect/>
          </a:stretch>
        </p:blipFill>
        <p:spPr>
          <a:xfrm>
            <a:off x="2590801" y="381000"/>
            <a:ext cx="4419600" cy="574516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r>
              <a:rPr lang="en-US" sz="2400" dirty="0" smtClean="0"/>
              <a:t>The lexical analyzer gathers the characters of the source program into lexical units. The lexical units of a program are identifiers, special words, operators, and punctuation symbols. The lexical analyzer ignores comments in the source program because the compiler has no use for them.</a:t>
            </a:r>
          </a:p>
          <a:p>
            <a:r>
              <a:rPr lang="en-US" sz="2400" dirty="0" smtClean="0"/>
              <a:t>The syntax analyzer takes the lexical units from the lexical analyzer and uses them to construct hierarchical structures called </a:t>
            </a:r>
            <a:r>
              <a:rPr lang="en-US" sz="2400" b="1" dirty="0" smtClean="0"/>
              <a:t>parse trees</a:t>
            </a:r>
            <a:r>
              <a:rPr lang="en-US" sz="2400" dirty="0" smtClean="0"/>
              <a:t>. These parse trees represent the syntactic structure of the program. In many cases, no actual parse tree structure is constructed; rather, the information that would be required to build a tree is generated and used directly.</a:t>
            </a:r>
          </a:p>
          <a:p>
            <a:r>
              <a:rPr lang="en-US" sz="2400" dirty="0" smtClean="0"/>
              <a:t>The intermediate code generator produces a program in a different language, at an intermediate level between the source program and the final output of the compiler.</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a:bodyPr>
          <a:lstStyle/>
          <a:p>
            <a:r>
              <a:rPr lang="en-US" sz="2400" dirty="0" smtClean="0"/>
              <a:t>The semantic analyzer is an integral part of the intermediate code generator. The semantic analyzer checks for errors, such as type errors, that are difficult, if not impossible, to detect during syntax analysis.</a:t>
            </a:r>
          </a:p>
          <a:p>
            <a:r>
              <a:rPr lang="en-US" sz="2400" dirty="0" smtClean="0"/>
              <a:t>Optimization, which improves programs (usually in their intermediate code version) by making them smaller or faster or both. Because many kinds of optimization are difficult to do on machine language, most optimization is done on the intermediate code.</a:t>
            </a:r>
          </a:p>
          <a:p>
            <a:r>
              <a:rPr lang="en-US" sz="2400" dirty="0" smtClean="0"/>
              <a:t>The code generator translates the optimized intermediate code version of the program into an equivalent machine language program.</a:t>
            </a:r>
          </a:p>
          <a:p>
            <a:endParaRPr lang="en-US" sz="2400" dirty="0" smtClean="0"/>
          </a:p>
          <a:p>
            <a:endParaRPr lang="en-US" sz="2400" dirty="0" smtClean="0"/>
          </a:p>
          <a:p>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a:bodyPr>
          <a:lstStyle/>
          <a:p>
            <a:r>
              <a:rPr lang="en-US" sz="2400" dirty="0" smtClean="0"/>
              <a:t>The symbol table serves as a database for the compilation process. The primary contents of the symbol table are the type and attribute information of each user-defined name in the program. This information is placed in the symbol table by the lexical and syntax analyzers and is used by the semantic analyzer and the code generator.</a:t>
            </a:r>
          </a:p>
          <a:p>
            <a:r>
              <a:rPr lang="en-US" sz="2400" dirty="0" smtClean="0"/>
              <a:t>The linking operation connects the user program to the system programs by placing the addresses of the entry points of the system programs in the calls to them in the user program. The user and system code together are sometimes called a </a:t>
            </a:r>
            <a:r>
              <a:rPr lang="en-US" sz="2400" b="1" dirty="0" smtClean="0"/>
              <a:t>load module</a:t>
            </a:r>
            <a:r>
              <a:rPr lang="en-US" sz="2400" dirty="0" smtClean="0"/>
              <a:t>, or </a:t>
            </a:r>
            <a:r>
              <a:rPr lang="en-US" sz="2400" b="1" dirty="0" smtClean="0"/>
              <a:t>executable image</a:t>
            </a:r>
            <a:r>
              <a:rPr lang="en-US" sz="2400" dirty="0" smtClean="0"/>
              <a:t>. The process of collecting system programs and linking them to user programs is called </a:t>
            </a:r>
            <a:r>
              <a:rPr lang="en-US" sz="2400" b="1" dirty="0" smtClean="0"/>
              <a:t>linking and loading</a:t>
            </a:r>
            <a:r>
              <a:rPr lang="en-US" sz="2400" dirty="0" smtClean="0"/>
              <a:t>, or sometimes just </a:t>
            </a:r>
            <a:r>
              <a:rPr lang="en-US" sz="2400" b="1" dirty="0" smtClean="0"/>
              <a:t>linking</a:t>
            </a:r>
            <a:r>
              <a:rPr lang="en-US" sz="2400" dirty="0" smtClean="0"/>
              <a:t>. It is accomplished by a systems program called a </a:t>
            </a:r>
            <a:r>
              <a:rPr lang="en-US" sz="2400" b="1" dirty="0" smtClean="0"/>
              <a:t>linker</a:t>
            </a:r>
            <a:r>
              <a:rPr lang="en-US" sz="2400" dirty="0" smtClean="0"/>
              <a:t>.</a:t>
            </a:r>
          </a:p>
          <a:p>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a:bodyPr>
          <a:lstStyle/>
          <a:p>
            <a:r>
              <a:rPr lang="en-US" sz="2400" dirty="0" smtClean="0"/>
              <a:t>The speed of the connection between a computer’s memory and its processor often determines the speed of the computer, because instructions often can be executed faster than they can be moved to the processor for execution.</a:t>
            </a:r>
          </a:p>
          <a:p>
            <a:pPr marL="342900" lvl="2" indent="-342900">
              <a:buNone/>
            </a:pPr>
            <a:r>
              <a:rPr lang="en-US" sz="3200" b="1" dirty="0" smtClean="0"/>
              <a:t>Pure Interpretation</a:t>
            </a:r>
          </a:p>
          <a:p>
            <a:r>
              <a:rPr lang="en-US" sz="2400" dirty="0" smtClean="0"/>
              <a:t>Pure interpretation lies at the opposite end (from compilation) among implementation methods. With this approach, programs are interpreted by another program called an interpreter, with no translation whatever.</a:t>
            </a:r>
          </a:p>
          <a:p>
            <a:r>
              <a:rPr lang="en-US" sz="2400" dirty="0" smtClean="0"/>
              <a:t>The interpreter program acts as a software simulation of a machine whose fetch- execute cycle deals with high-level language program statements rather than machine instructions. This software simulation obviously provides a virtual machine for the language.</a:t>
            </a:r>
          </a:p>
          <a:p>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fontScale="92500"/>
          </a:bodyPr>
          <a:lstStyle/>
          <a:p>
            <a:r>
              <a:rPr lang="en-US" sz="2400" dirty="0" smtClean="0"/>
              <a:t>Pure interpretation has the advantage of allowing easy implementation of many source-level debugging operations, because all run-time error messages can refer to source-level units.</a:t>
            </a:r>
          </a:p>
          <a:p>
            <a:r>
              <a:rPr lang="en-US" sz="2400" dirty="0" smtClean="0"/>
              <a:t>For example, if an array index is found to be out of range, the error message can easily indicate the source line of the error and the name of the array.</a:t>
            </a:r>
          </a:p>
          <a:p>
            <a:r>
              <a:rPr lang="en-US" sz="2400" dirty="0" smtClean="0"/>
              <a:t> On the other hand, this method has the serious disadvantage that execution is 10 to 100 times slower than in compiled systems. The primary source of this slowness is the decoding of the high- level language statements, which are far more complex than machine language instructions.</a:t>
            </a:r>
          </a:p>
          <a:p>
            <a:r>
              <a:rPr lang="en-US" sz="2400" dirty="0" smtClean="0"/>
              <a:t>Another disadvantage of pure interpretation is that it often requires more space. In addition to the source program, the symbol table must be present during interpretation. Furthermore, the source program may be stored in a form designed for easy access and modification rather than one that provides for minimal size.</a:t>
            </a:r>
          </a:p>
          <a:p>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45"/>
          <p:cNvPicPr>
            <a:picLocks noGrp="1"/>
          </p:cNvPicPr>
          <p:nvPr>
            <p:ph idx="1"/>
          </p:nvPr>
        </p:nvPicPr>
        <p:blipFill>
          <a:blip r:embed="rId2" cstate="print"/>
          <a:stretch>
            <a:fillRect/>
          </a:stretch>
        </p:blipFill>
        <p:spPr>
          <a:xfrm>
            <a:off x="2428282" y="381000"/>
            <a:ext cx="4287435" cy="574516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lstStyle/>
          <a:p>
            <a:pPr marL="342900" lvl="2" indent="-342900">
              <a:buNone/>
            </a:pPr>
            <a:r>
              <a:rPr lang="en-US" sz="3200" b="1" dirty="0" smtClean="0"/>
              <a:t> Hybrid Implementation Systems</a:t>
            </a:r>
            <a:endParaRPr lang="en-US" sz="3200" dirty="0" smtClean="0"/>
          </a:p>
          <a:p>
            <a:pPr marL="342900" lvl="2" indent="-342900"/>
            <a:r>
              <a:rPr lang="en-US" dirty="0" smtClean="0"/>
              <a:t>Some language implementation systems are a compromise between compilers and pure interpreters; they translate high-level language programs to an intermediate language designed to allow easy interpretation. This method is faster than pure interpretation because the source language statements are decoded only once. Such implementations are called </a:t>
            </a:r>
            <a:r>
              <a:rPr lang="en-US" b="1" dirty="0" smtClean="0"/>
              <a:t>hybrid implementation systems</a:t>
            </a:r>
            <a:r>
              <a:rPr lang="en-US" dirty="0" smtClean="0"/>
              <a:t>.</a:t>
            </a:r>
          </a:p>
          <a:p>
            <a:pPr marL="342900" lvl="2" indent="-342900"/>
            <a:r>
              <a:rPr lang="en-US" dirty="0" smtClean="0"/>
              <a:t>Instead of translating intermediate language code to machine code, it simply interprets the intermediate code.</a:t>
            </a:r>
          </a:p>
          <a:p>
            <a:pPr marL="342900" lvl="2" indent="-342900"/>
            <a:r>
              <a:rPr lang="en-US" dirty="0" smtClean="0"/>
              <a:t>Perl is implemented with a hybrid system. Perl programs are partially - compiled to detect errors before interpretation and to simplify the interpreter.</a:t>
            </a:r>
          </a:p>
          <a:p>
            <a:pPr marL="342900" lvl="2" indent="-342900"/>
            <a:endParaRPr lang="en-US" dirty="0" smtClean="0"/>
          </a:p>
          <a:p>
            <a:pPr marL="342900" lvl="2" indent="-342900"/>
            <a:endParaRPr lang="en-US" b="1" dirty="0" smtClean="0"/>
          </a:p>
          <a:p>
            <a:pPr marL="342900" lvl="2" indent="-342900">
              <a:buNone/>
            </a:pPr>
            <a:endParaRPr lang="en-US" sz="3200" dirty="0" smtClean="0"/>
          </a:p>
          <a:p>
            <a:pPr>
              <a:buNone/>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46"/>
          <p:cNvPicPr>
            <a:picLocks noGrp="1"/>
          </p:cNvPicPr>
          <p:nvPr>
            <p:ph idx="1"/>
          </p:nvPr>
        </p:nvPicPr>
        <p:blipFill>
          <a:blip r:embed="rId2" cstate="print"/>
          <a:stretch>
            <a:fillRect/>
          </a:stretch>
        </p:blipFill>
        <p:spPr>
          <a:xfrm>
            <a:off x="2590800" y="457200"/>
            <a:ext cx="3962399" cy="566896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sz="2400" dirty="0" smtClean="0"/>
              <a:t>Initial implementations of Java were all hybrid. Its intermediate form, called byte code, provides portability to any machine that has a byte code interpreter and an associated run-time system.</a:t>
            </a:r>
          </a:p>
          <a:p>
            <a:r>
              <a:rPr lang="en-US" sz="2400" dirty="0" smtClean="0"/>
              <a:t>Sometimes an </a:t>
            </a:r>
            <a:r>
              <a:rPr lang="en-US" sz="2400" dirty="0" err="1" smtClean="0"/>
              <a:t>implementor</a:t>
            </a:r>
            <a:r>
              <a:rPr lang="en-US" sz="2400" dirty="0" smtClean="0"/>
              <a:t> may provide both compiled and interpreted implementations for a language. In these cases, the interpreter is used to develop and debug programs. Then, after a (relatively) bug-free state is reached, the programs are compiled to increase their execution speed.</a:t>
            </a:r>
          </a:p>
          <a:p>
            <a:pPr marL="342900" lvl="2" indent="-342900">
              <a:buNone/>
            </a:pPr>
            <a:r>
              <a:rPr lang="en-US" sz="3200" b="1" dirty="0" smtClean="0"/>
              <a:t>Preprocessors</a:t>
            </a:r>
          </a:p>
          <a:p>
            <a:pPr marL="342900" lvl="2" indent="-342900"/>
            <a:r>
              <a:rPr lang="en-US" sz="2600" dirty="0" smtClean="0"/>
              <a:t>A </a:t>
            </a:r>
            <a:r>
              <a:rPr lang="en-US" sz="2600" b="1" dirty="0" smtClean="0"/>
              <a:t>preprocessor </a:t>
            </a:r>
            <a:r>
              <a:rPr lang="en-US" sz="2600" dirty="0" smtClean="0"/>
              <a:t>is a program that processes a program just before the program is compiled. Preprocessor instructions are embedded in programs. The preprocessor is essentially a macro expander. Preprocessor instructions are commonly used to specify that the code from another file is to be included.</a:t>
            </a:r>
            <a:endParaRPr lang="en-US" sz="2600" b="1" dirty="0" smtClean="0"/>
          </a:p>
          <a:p>
            <a:pPr>
              <a:buNone/>
            </a:pPr>
            <a:r>
              <a:rPr lang="en-US" sz="2400" dirty="0" smtClean="0"/>
              <a:t> </a:t>
            </a:r>
          </a:p>
          <a:p>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a:bodyPr>
          <a:lstStyle/>
          <a:p>
            <a:pPr lvl="1">
              <a:buNone/>
            </a:pPr>
            <a:r>
              <a:rPr lang="en-US" b="1" dirty="0" smtClean="0"/>
              <a:t>Programming Environments</a:t>
            </a:r>
          </a:p>
          <a:p>
            <a:pPr lvl="1">
              <a:buFont typeface="Arial" pitchFamily="34" charset="0"/>
              <a:buChar char="•"/>
            </a:pPr>
            <a:r>
              <a:rPr lang="en-US" sz="2400" dirty="0" smtClean="0"/>
              <a:t>A programming environment is the collection of tools used in the development of software. </a:t>
            </a:r>
          </a:p>
          <a:p>
            <a:pPr lvl="1">
              <a:buFont typeface="Arial" pitchFamily="34" charset="0"/>
              <a:buChar char="•"/>
            </a:pPr>
            <a:r>
              <a:rPr lang="en-US" sz="2400" dirty="0" smtClean="0"/>
              <a:t>This collection may consist of only a file system, a text editor, a linker, and a compiler. Or it may include a large collection of integrated tools, each accessed through a uniform user interface.</a:t>
            </a:r>
          </a:p>
          <a:p>
            <a:pPr lvl="1">
              <a:buFont typeface="Arial" pitchFamily="34" charset="0"/>
              <a:buChar char="•"/>
            </a:pPr>
            <a:r>
              <a:rPr lang="en-US" sz="2400" dirty="0" smtClean="0"/>
              <a:t> In the latter case, the process of the development and maintenance of software is greatly enhanced. Therefore, the characteristics of a programming language are not the only measure of the software development capability of a system. We now briefly describe several programming environments</a:t>
            </a:r>
            <a:endParaRPr lang="en-US" sz="2400" b="1"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fontScale="92500" lnSpcReduction="10000"/>
          </a:bodyPr>
          <a:lstStyle/>
          <a:p>
            <a:r>
              <a:rPr lang="en-US" sz="2400" dirty="0" smtClean="0"/>
              <a:t>UNIX is an older programming environment, first distributed in the middle 1970s, built around a portable multiprogramming operating system. It provides a wide array of powerful support tools for software production and maintenance in a variety of languages. </a:t>
            </a:r>
          </a:p>
          <a:p>
            <a:r>
              <a:rPr lang="en-US" sz="2400" dirty="0" smtClean="0"/>
              <a:t>Microsoft Visual Studio .NET is a relatively recent step in the evolution of software development environments. It is a large and elaborate collection of software development tools, all used through a windowed interface. This system can be used to develop software in any one of the five .NET languages: C#, Visual Basic.NET, </a:t>
            </a:r>
            <a:r>
              <a:rPr lang="en-US" sz="2400" dirty="0" err="1" smtClean="0"/>
              <a:t>JScript</a:t>
            </a:r>
            <a:r>
              <a:rPr lang="en-US" sz="2400" dirty="0" smtClean="0"/>
              <a:t> (Microsoft’s version of JavaScript), F# (a functional language), and C++/CLI.</a:t>
            </a:r>
          </a:p>
          <a:p>
            <a:r>
              <a:rPr lang="en-US" sz="2400" dirty="0" err="1" smtClean="0"/>
              <a:t>NetBeans</a:t>
            </a:r>
            <a:r>
              <a:rPr lang="en-US" sz="2400" dirty="0" smtClean="0"/>
              <a:t> is a development environment that is primarily used for Java application development but also supports JavaScript, Ruby, and PHP. Both Visual Studio and </a:t>
            </a:r>
            <a:r>
              <a:rPr lang="en-US" sz="2400" dirty="0" err="1" smtClean="0"/>
              <a:t>NetBeans</a:t>
            </a:r>
            <a:r>
              <a:rPr lang="en-US" sz="2400" dirty="0" smtClean="0"/>
              <a:t> are more than development environments—they are also frameworks, which means they actually provide common parts of the code of the application.</a:t>
            </a:r>
          </a:p>
          <a:p>
            <a:endParaRPr lang="en-US" sz="2400" dirty="0" smtClean="0"/>
          </a:p>
          <a:p>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lstStyle/>
          <a:p>
            <a:pPr lvl="0">
              <a:buNone/>
            </a:pPr>
            <a:r>
              <a:rPr lang="en-US" b="1" dirty="0" smtClean="0"/>
              <a:t>       </a:t>
            </a:r>
            <a:r>
              <a:rPr lang="en-US" sz="4000" b="1" dirty="0" smtClean="0"/>
              <a:t>Describing Syntax and Semantics</a:t>
            </a:r>
          </a:p>
          <a:p>
            <a:r>
              <a:rPr lang="en-US" sz="2400" dirty="0" smtClean="0"/>
              <a:t>Programming language </a:t>
            </a:r>
            <a:r>
              <a:rPr lang="en-US" sz="2400" dirty="0" err="1" smtClean="0"/>
              <a:t>implementors</a:t>
            </a:r>
            <a:r>
              <a:rPr lang="en-US" sz="2400" dirty="0" smtClean="0"/>
              <a:t> obviously must be able to determine how the expressions, statements, and program units of a language are formed, and also their intended effect when executed. </a:t>
            </a:r>
          </a:p>
          <a:p>
            <a:r>
              <a:rPr lang="en-US" sz="2400" dirty="0" smtClean="0"/>
              <a:t>The difficulty of the implementers  job is, in part, determined by the completeness and precision of the language description.</a:t>
            </a:r>
          </a:p>
          <a:p>
            <a:r>
              <a:rPr lang="en-US" sz="2400" dirty="0" smtClean="0"/>
              <a:t>The study of programming languages, like the study of natural languages, can be divided into examinations of syntax and semantics. </a:t>
            </a:r>
          </a:p>
          <a:p>
            <a:pPr lvl="0"/>
            <a:endParaRPr lang="en-US" sz="2400" b="1"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a:bodyPr>
          <a:lstStyle/>
          <a:p>
            <a:pPr>
              <a:buNone/>
            </a:pPr>
            <a:r>
              <a:rPr lang="en-US" sz="2400" b="1" dirty="0" smtClean="0"/>
              <a:t>Syntax: </a:t>
            </a:r>
            <a:r>
              <a:rPr lang="en-US" sz="2400" dirty="0" smtClean="0"/>
              <a:t>The syntax of a programming language is the form of its expressions, statements, and - program units.</a:t>
            </a:r>
          </a:p>
          <a:p>
            <a:pPr>
              <a:buNone/>
            </a:pPr>
            <a:r>
              <a:rPr lang="en-US" sz="2400" b="1" dirty="0" smtClean="0"/>
              <a:t>Semantics : </a:t>
            </a:r>
            <a:r>
              <a:rPr lang="en-US" sz="2400" dirty="0" smtClean="0"/>
              <a:t>semantics</a:t>
            </a:r>
            <a:r>
              <a:rPr lang="en-US" sz="2400" b="1" dirty="0" smtClean="0"/>
              <a:t> </a:t>
            </a:r>
            <a:r>
              <a:rPr lang="en-US" sz="2400" dirty="0" smtClean="0"/>
              <a:t>is the meaning of those expressions, statements, and program units.</a:t>
            </a:r>
          </a:p>
          <a:p>
            <a:r>
              <a:rPr lang="en-US" sz="2400" dirty="0" smtClean="0"/>
              <a:t>For example, the syntax of a Java </a:t>
            </a:r>
            <a:r>
              <a:rPr lang="en-US" sz="2400" b="1" dirty="0" smtClean="0"/>
              <a:t>while </a:t>
            </a:r>
            <a:r>
              <a:rPr lang="en-US" sz="2400" dirty="0" smtClean="0"/>
              <a:t>statement is</a:t>
            </a:r>
            <a:br>
              <a:rPr lang="en-US" sz="2400" dirty="0" smtClean="0"/>
            </a:br>
            <a:r>
              <a:rPr lang="en-US" sz="2400" dirty="0" smtClean="0"/>
              <a:t> </a:t>
            </a:r>
            <a:r>
              <a:rPr lang="en-US" sz="2400" b="1" dirty="0" smtClean="0"/>
              <a:t>while </a:t>
            </a:r>
            <a:r>
              <a:rPr lang="en-US" sz="2400" dirty="0" smtClean="0"/>
              <a:t>(</a:t>
            </a:r>
            <a:r>
              <a:rPr lang="en-US" sz="2400" dirty="0" err="1" smtClean="0"/>
              <a:t>boolean_expr</a:t>
            </a:r>
            <a:r>
              <a:rPr lang="en-US" sz="2400" dirty="0" smtClean="0"/>
              <a:t>) statement</a:t>
            </a:r>
          </a:p>
          <a:p>
            <a:r>
              <a:rPr lang="en-US" sz="2400" dirty="0" smtClean="0"/>
              <a:t>The semantics of this statement  form is that when the current value of the Boolean expression is true, the embedded statement is executed. Then control implicitly returns to the Boolean expression to repeat the process. If the Boolean expression is false, control transfers to the statement following the </a:t>
            </a:r>
            <a:r>
              <a:rPr lang="en-US" sz="2400" b="1" dirty="0" smtClean="0"/>
              <a:t>while </a:t>
            </a:r>
            <a:r>
              <a:rPr lang="en-US" sz="2400" dirty="0" smtClean="0"/>
              <a:t>construct.</a:t>
            </a:r>
          </a:p>
          <a:p>
            <a:endParaRPr lang="en-US" sz="2400" dirty="0" smtClean="0"/>
          </a:p>
          <a:p>
            <a:pPr>
              <a:buNone/>
            </a:pPr>
            <a:endParaRPr lang="en-US" sz="2400"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533400"/>
            <a:ext cx="8229600" cy="5867400"/>
          </a:xfrm>
        </p:spPr>
        <p:txBody>
          <a:bodyPr>
            <a:normAutofit/>
          </a:bodyPr>
          <a:lstStyle/>
          <a:p>
            <a:r>
              <a:rPr lang="en-US" sz="2400" dirty="0" smtClean="0"/>
              <a:t>syntax and semantics are closely related. In a well-designed programming language, semantics should follow directly from syntax; that is, the appearance of a statement should strongly suggest what the statement is meant to accomplish.</a:t>
            </a:r>
          </a:p>
          <a:p>
            <a:r>
              <a:rPr lang="en-US" sz="2400" dirty="0" smtClean="0"/>
              <a:t>Describing syntax is easier than describing semantics, partly because a concise and universally accepted notation is available for syntax description, but none has yet been developed for semantics.</a:t>
            </a:r>
          </a:p>
          <a:p>
            <a:pPr>
              <a:buNone/>
            </a:pPr>
            <a:r>
              <a:rPr lang="en-US" sz="2400" b="1" dirty="0" smtClean="0"/>
              <a:t>The General Problem of Describing Syntax</a:t>
            </a:r>
          </a:p>
          <a:p>
            <a:r>
              <a:rPr lang="en-US" sz="2400" dirty="0" smtClean="0"/>
              <a:t>Terminologies</a:t>
            </a:r>
          </a:p>
          <a:p>
            <a:r>
              <a:rPr lang="en-US" sz="2400" b="1" dirty="0" smtClean="0"/>
              <a:t>Sentence </a:t>
            </a:r>
          </a:p>
          <a:p>
            <a:r>
              <a:rPr lang="en-US" sz="2400" b="1" dirty="0" smtClean="0"/>
              <a:t>Language</a:t>
            </a:r>
          </a:p>
          <a:p>
            <a:r>
              <a:rPr lang="en-US" sz="2400" b="1" dirty="0" smtClean="0"/>
              <a:t> Lexeme </a:t>
            </a:r>
          </a:p>
          <a:p>
            <a:r>
              <a:rPr lang="en-US" sz="2400" b="1" dirty="0" smtClean="0"/>
              <a:t>Token</a:t>
            </a:r>
            <a:endParaRPr lang="en-US" sz="2400" dirty="0" smtClean="0"/>
          </a:p>
          <a:p>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pPr>
              <a:buNone/>
            </a:pPr>
            <a:r>
              <a:rPr lang="en-US" sz="2800" b="1" dirty="0" smtClean="0"/>
              <a:t>Sentences:</a:t>
            </a:r>
            <a:r>
              <a:rPr lang="en-US" sz="2800" dirty="0" smtClean="0"/>
              <a:t> </a:t>
            </a:r>
            <a:r>
              <a:rPr lang="en-US" sz="2400" dirty="0" smtClean="0"/>
              <a:t>A sentence</a:t>
            </a:r>
            <a:r>
              <a:rPr lang="en-US" sz="2400" b="1" dirty="0" smtClean="0"/>
              <a:t> </a:t>
            </a:r>
            <a:r>
              <a:rPr lang="en-US" sz="2400" dirty="0" smtClean="0"/>
              <a:t>is a string of characters over some alphabet .</a:t>
            </a:r>
          </a:p>
          <a:p>
            <a:pPr>
              <a:buNone/>
            </a:pPr>
            <a:r>
              <a:rPr lang="en-US" sz="2800" b="1" dirty="0" smtClean="0"/>
              <a:t>Language </a:t>
            </a:r>
            <a:r>
              <a:rPr lang="en-US" sz="2400" b="1" dirty="0" smtClean="0"/>
              <a:t>: </a:t>
            </a:r>
            <a:r>
              <a:rPr lang="en-US" sz="2400" dirty="0" smtClean="0"/>
              <a:t>A language is a set of sentences.</a:t>
            </a:r>
          </a:p>
          <a:p>
            <a:r>
              <a:rPr lang="en-US" sz="2400" dirty="0" smtClean="0"/>
              <a:t>The syntax rules of a language specify which strings of characters from the language’s alphabet are in the language.</a:t>
            </a:r>
          </a:p>
          <a:p>
            <a:r>
              <a:rPr lang="en-US" sz="2400" dirty="0" smtClean="0"/>
              <a:t> for example, has a large and complex collection of rules for specifying the syntax of its sentences. By comparison, even the largest and most complex programming languages are syntactically very simple.</a:t>
            </a:r>
          </a:p>
          <a:p>
            <a:pPr>
              <a:buNone/>
            </a:pPr>
            <a:r>
              <a:rPr lang="en-US" sz="2800" b="1" dirty="0" smtClean="0"/>
              <a:t>Lexeme</a:t>
            </a:r>
            <a:r>
              <a:rPr lang="en-US" sz="2400" b="1" dirty="0" smtClean="0"/>
              <a:t>: </a:t>
            </a:r>
            <a:r>
              <a:rPr lang="en-US" sz="2400" dirty="0" smtClean="0"/>
              <a:t>A lexeme is the lowest level syntactic unit of a language (e.g., *, sum, begin)</a:t>
            </a:r>
          </a:p>
          <a:p>
            <a:r>
              <a:rPr lang="en-US" sz="2400" dirty="0" smtClean="0"/>
              <a:t>The description of lexemes can be given by a lexical specification, which is usually separate from the syntactic description of the language.</a:t>
            </a:r>
          </a:p>
          <a:p>
            <a:pPr>
              <a:buNone/>
            </a:pPr>
            <a:endParaRPr lang="en-US" sz="2400" dirty="0" smtClean="0"/>
          </a:p>
          <a:p>
            <a:pPr>
              <a:buNone/>
            </a:pPr>
            <a:endParaRPr 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lnSpcReduction="10000"/>
          </a:bodyPr>
          <a:lstStyle/>
          <a:p>
            <a:r>
              <a:rPr lang="en-US" sz="2400" dirty="0" smtClean="0"/>
              <a:t>The lexemes of a programming language include its numeric literals, operators, and special words, among others. One can think of programs as strings of lexemes rather than of characters.</a:t>
            </a:r>
          </a:p>
          <a:p>
            <a:r>
              <a:rPr lang="en-US" sz="2400" dirty="0" smtClean="0"/>
              <a:t>Lexemes are partitioned into groups—for example, the names of variables, methods, classes, and so forth in a programming language form a group called </a:t>
            </a:r>
            <a:r>
              <a:rPr lang="en-US" sz="2400" i="1" dirty="0" smtClean="0"/>
              <a:t>identifiers</a:t>
            </a:r>
            <a:r>
              <a:rPr lang="en-US" sz="2400" dirty="0" smtClean="0"/>
              <a:t>.</a:t>
            </a:r>
          </a:p>
          <a:p>
            <a:pPr>
              <a:buNone/>
            </a:pPr>
            <a:r>
              <a:rPr lang="en-US" sz="2800" b="1" dirty="0" smtClean="0"/>
              <a:t>Token: </a:t>
            </a:r>
            <a:r>
              <a:rPr lang="en-US" sz="2400" dirty="0" smtClean="0"/>
              <a:t>A token</a:t>
            </a:r>
            <a:r>
              <a:rPr lang="en-US" sz="2400" b="1" dirty="0" smtClean="0"/>
              <a:t> </a:t>
            </a:r>
            <a:r>
              <a:rPr lang="en-US" sz="2400" dirty="0" smtClean="0"/>
              <a:t>of a language is a category of its lexemes.</a:t>
            </a:r>
          </a:p>
          <a:p>
            <a:r>
              <a:rPr lang="en-US" sz="2400" dirty="0" smtClean="0"/>
              <a:t>For example, an identifier is a token that can have lexemes, or instances, such as sum and total.</a:t>
            </a:r>
          </a:p>
          <a:p>
            <a:r>
              <a:rPr lang="en-US" sz="2400" dirty="0" smtClean="0"/>
              <a:t> In some cases, a token has only a single possible lexeme. For example, the token for the arithmetic operator symbol + has just one possible lexeme.</a:t>
            </a:r>
          </a:p>
          <a:p>
            <a:r>
              <a:rPr lang="en-US" sz="2400" dirty="0" smtClean="0"/>
              <a:t>Consider the following Java statement:</a:t>
            </a:r>
          </a:p>
          <a:p>
            <a:pPr>
              <a:buNone/>
            </a:pPr>
            <a:r>
              <a:rPr lang="en-US" sz="2400" dirty="0" smtClean="0"/>
              <a:t>            index = 2 * count + 17;</a:t>
            </a:r>
          </a:p>
          <a:p>
            <a:pPr>
              <a:buNone/>
            </a:pP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5" name="Image 71"/>
          <p:cNvPicPr>
            <a:picLocks noGrp="1"/>
          </p:cNvPicPr>
          <p:nvPr>
            <p:ph idx="1"/>
          </p:nvPr>
        </p:nvPicPr>
        <p:blipFill>
          <a:blip r:embed="rId2" cstate="print"/>
          <a:stretch>
            <a:fillRect/>
          </a:stretch>
        </p:blipFill>
        <p:spPr>
          <a:xfrm>
            <a:off x="2133600" y="1371600"/>
            <a:ext cx="4467225" cy="42672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normAutofit fontScale="92500" lnSpcReduction="10000"/>
          </a:bodyPr>
          <a:lstStyle/>
          <a:p>
            <a:pPr>
              <a:buNone/>
            </a:pPr>
            <a:r>
              <a:rPr lang="en-US" sz="2400" dirty="0" smtClean="0"/>
              <a:t>In general, languages can be formally defined in two distinct ways</a:t>
            </a:r>
            <a:endParaRPr lang="en-US" sz="2400" b="1" dirty="0" smtClean="0"/>
          </a:p>
          <a:p>
            <a:pPr marL="342900" lvl="2" indent="-342900"/>
            <a:r>
              <a:rPr lang="en-US" sz="2400" b="1" dirty="0" smtClean="0"/>
              <a:t> </a:t>
            </a:r>
            <a:r>
              <a:rPr lang="en-US" dirty="0" smtClean="0"/>
              <a:t>Language Recognizers</a:t>
            </a:r>
          </a:p>
          <a:p>
            <a:pPr marL="342900" lvl="2" indent="-342900"/>
            <a:r>
              <a:rPr lang="en-US" dirty="0" smtClean="0"/>
              <a:t>Language Generators</a:t>
            </a:r>
          </a:p>
          <a:p>
            <a:pPr>
              <a:buNone/>
            </a:pPr>
            <a:r>
              <a:rPr lang="en-US" sz="1800" b="1" dirty="0" smtClean="0"/>
              <a:t> </a:t>
            </a:r>
            <a:r>
              <a:rPr lang="en-US" sz="2400" b="1" dirty="0" smtClean="0"/>
              <a:t>Language Recognizers</a:t>
            </a:r>
          </a:p>
          <a:p>
            <a:r>
              <a:rPr lang="en-US" sz="2400" dirty="0" smtClean="0"/>
              <a:t>Suppose we have a language L that uses an alphabet ∑ of characters. To define L formally using the recognition method, we would need to construct a mechanism R, called a recognition device, capable of reading strings of characters from the alphabet ∑. </a:t>
            </a:r>
          </a:p>
          <a:p>
            <a:r>
              <a:rPr lang="en-US" sz="2400" dirty="0" smtClean="0"/>
              <a:t>R would indicate whether a given input string was or was not in L. In effect, R would either accept or reject the given string. Such devices are like filters, separating legal sentences from those that are incorrectly formed. If R, when fed any string of characters over ∑, accepts it only if it is in L, then R is a description of L.</a:t>
            </a:r>
          </a:p>
          <a:p>
            <a:r>
              <a:rPr lang="en-US" sz="2400" dirty="0" smtClean="0"/>
              <a:t> Because most useful languages are, for all practical purposes, infinite, this might seem like a lengthy and ineffective process. Recognition devices, however, are not used to enumerate all of the sentences of a language—they have a different purpose.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a:bodyPr>
          <a:lstStyle/>
          <a:p>
            <a:r>
              <a:rPr lang="en-US" sz="2400" dirty="0" smtClean="0"/>
              <a:t>Recognition devices, however, are not used to enumerate all of the sentences of a language—they have a different purpose.</a:t>
            </a:r>
          </a:p>
          <a:p>
            <a:r>
              <a:rPr lang="en-US" sz="2400" dirty="0" smtClean="0"/>
              <a:t>The syntax analysis part of a compiler is a recognizer for the language the compiler translates. In this role, the recognizer need not test all possible strings of characters from some set to determine whether each is in the language. </a:t>
            </a:r>
          </a:p>
          <a:p>
            <a:r>
              <a:rPr lang="en-US" sz="2400" dirty="0" smtClean="0"/>
              <a:t>Rather, it need only determine whether given programs are in the language. In effect then, the syntax analyzer determines whether the given programs are syntactically correct. The structure of syntax analyzers, also known as parsers.</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a:bodyPr>
          <a:lstStyle/>
          <a:p>
            <a:pPr marL="342900" lvl="2" indent="-342900">
              <a:buNone/>
            </a:pPr>
            <a:r>
              <a:rPr lang="en-US" b="1" dirty="0" smtClean="0"/>
              <a:t>Language Generators</a:t>
            </a:r>
          </a:p>
          <a:p>
            <a:r>
              <a:rPr lang="en-US" sz="2400" dirty="0" smtClean="0"/>
              <a:t>A language generator is a device that can be used to generate the sentences of a language. We can think of the generator as having a button that produces a sentence of the language every time it is pushed</a:t>
            </a:r>
            <a:r>
              <a:rPr lang="en-US" dirty="0" smtClean="0"/>
              <a:t>.</a:t>
            </a:r>
          </a:p>
          <a:p>
            <a:r>
              <a:rPr lang="en-US" sz="2400" dirty="0" smtClean="0"/>
              <a:t>Because the particular sentence that is produced by a generator when its button is pushed is unpredictable, a generator seems to be a device of limited usefulness as a language descriptor</a:t>
            </a:r>
            <a:r>
              <a:rPr lang="en-US" dirty="0" smtClean="0"/>
              <a:t>.</a:t>
            </a:r>
          </a:p>
          <a:p>
            <a:r>
              <a:rPr lang="en-US" sz="2400" dirty="0" smtClean="0"/>
              <a:t>However, people prefer certain forms of generators over recognizers because they can more easily read and understand them. By contrast, the syntax-checking portion of a compiler (a language recognizer) is not as useful a language description for a programmer because it can be used only in trial-and-error mode.</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533400"/>
            <a:ext cx="8229600" cy="5592763"/>
          </a:xfrm>
        </p:spPr>
        <p:txBody>
          <a:bodyPr>
            <a:normAutofit/>
          </a:bodyPr>
          <a:lstStyle/>
          <a:p>
            <a:r>
              <a:rPr lang="en-US" sz="2400" dirty="0" smtClean="0"/>
              <a:t>For example, to determine the correct syntax of a particular statement using a compiler, the programmer can only submit a speculated version and note whether the compiler accepts it. On the other hand, it is often possible to determine whether the syntax of a particular statement is correct by comparing it with the structure of the generator.</a:t>
            </a:r>
          </a:p>
          <a:p>
            <a:r>
              <a:rPr lang="en-US" sz="2400" dirty="0" smtClean="0"/>
              <a:t>There is a close connection between formal generation and recognition devices for the same language. This was one of the seminal discoveries in computer science, and it led to much of what is now known about formal languages and compiler design theory. </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lstStyle/>
          <a:p>
            <a:pPr marL="342900" lvl="1" indent="-342900">
              <a:buNone/>
            </a:pPr>
            <a:r>
              <a:rPr lang="en-US" b="1" dirty="0" smtClean="0"/>
              <a:t>           Formal Methods of Describing Syntax</a:t>
            </a:r>
          </a:p>
          <a:p>
            <a:r>
              <a:rPr lang="en-US" sz="2400" dirty="0" smtClean="0"/>
              <a:t>The formal language-generation mechanisms, usually called </a:t>
            </a:r>
            <a:r>
              <a:rPr lang="en-US" sz="2400" b="1" dirty="0" smtClean="0"/>
              <a:t>grammars</a:t>
            </a:r>
            <a:r>
              <a:rPr lang="en-US" sz="2400" dirty="0" smtClean="0"/>
              <a:t>, that are commonly used to describe the syntax of programming languages.</a:t>
            </a:r>
          </a:p>
          <a:p>
            <a:pPr marL="342900" lvl="2" indent="-342900">
              <a:buNone/>
            </a:pPr>
            <a:r>
              <a:rPr lang="en-US" b="1" dirty="0" smtClean="0"/>
              <a:t>Backus-Naur Form and Context-Free Grammars</a:t>
            </a:r>
          </a:p>
          <a:p>
            <a:r>
              <a:rPr lang="en-US" sz="2400" dirty="0" smtClean="0"/>
              <a:t>In the middle to late 1950s, two men, Noam Chomsky and John Backus, in unrelated research efforts, developed the same syntax description formalism, which subsequently became the most widely used method for programming language syntax.</a:t>
            </a:r>
          </a:p>
          <a:p>
            <a:pPr>
              <a:buNone/>
            </a:pPr>
            <a:endParaRPr lang="en-US" dirty="0" smtClean="0"/>
          </a:p>
          <a:p>
            <a:pPr marL="342900" lvl="2" indent="-342900">
              <a:buNone/>
            </a:pPr>
            <a:endParaRPr lang="en-US" b="1" dirty="0" smtClean="0"/>
          </a:p>
          <a:p>
            <a:pPr>
              <a:buNone/>
            </a:pPr>
            <a:endParaRPr lang="en-US" sz="2400" dirty="0" smtClean="0"/>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5897563"/>
          </a:xfrm>
        </p:spPr>
        <p:txBody>
          <a:bodyPr/>
          <a:lstStyle/>
          <a:p>
            <a:pPr>
              <a:buNone/>
            </a:pPr>
            <a:r>
              <a:rPr lang="en-US" b="1" dirty="0" smtClean="0"/>
              <a:t>Context-Free Grammars</a:t>
            </a:r>
          </a:p>
          <a:p>
            <a:r>
              <a:rPr lang="en-US" sz="2400" dirty="0" smtClean="0"/>
              <a:t>Developed by </a:t>
            </a:r>
            <a:r>
              <a:rPr lang="en-US" sz="2400" b="1" dirty="0" smtClean="0"/>
              <a:t>Noam Chomsky</a:t>
            </a:r>
            <a:r>
              <a:rPr lang="en-US" sz="2400" dirty="0" smtClean="0"/>
              <a:t>(linguist) in the mid-1950s </a:t>
            </a:r>
          </a:p>
          <a:p>
            <a:r>
              <a:rPr lang="en-US" sz="2400" dirty="0" smtClean="0"/>
              <a:t>described four classes of generative devices or grammars that define four classes of languages</a:t>
            </a:r>
          </a:p>
          <a:p>
            <a:r>
              <a:rPr lang="en-US" sz="2400" dirty="0" smtClean="0"/>
              <a:t>Two of these grammar classes, named </a:t>
            </a:r>
            <a:r>
              <a:rPr lang="en-US" sz="2400" i="1" dirty="0" smtClean="0"/>
              <a:t>context-free </a:t>
            </a:r>
            <a:r>
              <a:rPr lang="en-US" sz="2400" dirty="0" smtClean="0"/>
              <a:t>and </a:t>
            </a:r>
            <a:r>
              <a:rPr lang="en-US" sz="2400" i="1" dirty="0" smtClean="0"/>
              <a:t>regular</a:t>
            </a:r>
            <a:r>
              <a:rPr lang="en-US" sz="2400" dirty="0" smtClean="0"/>
              <a:t>, turned out to be useful for describing the syntax of programming languages. </a:t>
            </a:r>
          </a:p>
          <a:p>
            <a:r>
              <a:rPr lang="en-US" sz="2400" dirty="0" smtClean="0"/>
              <a:t>The forms of the tokens of programming languages can be described by regular grammars. </a:t>
            </a:r>
          </a:p>
          <a:p>
            <a:r>
              <a:rPr lang="en-US" sz="2400" dirty="0" smtClean="0"/>
              <a:t>The syntax of whole programming languages, with minor exceptions, can be described by context- free grammars.</a:t>
            </a:r>
          </a:p>
          <a:p>
            <a:r>
              <a:rPr lang="en-US" sz="2400" dirty="0" smtClean="0"/>
              <a:t>No interest at the time in the artificial languages used to communicate with computers</a:t>
            </a:r>
          </a:p>
          <a:p>
            <a:pPr>
              <a:buNone/>
            </a:pP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lstStyle/>
          <a:p>
            <a:pPr marL="342900" lvl="3" indent="-342900">
              <a:buNone/>
            </a:pPr>
            <a:r>
              <a:rPr lang="en-US" sz="3600" b="1" dirty="0" smtClean="0"/>
              <a:t>Backus-Naur Form</a:t>
            </a:r>
          </a:p>
          <a:p>
            <a:r>
              <a:rPr lang="en-US" sz="2400" dirty="0" smtClean="0"/>
              <a:t>After Chomsky’s work  ACM-GAMM group began designing ALGOL 58.</a:t>
            </a:r>
          </a:p>
          <a:p>
            <a:r>
              <a:rPr lang="en-US" sz="2400" dirty="0" smtClean="0"/>
              <a:t>A landmark paper describing </a:t>
            </a:r>
            <a:r>
              <a:rPr lang="en-US" sz="2400" b="1" dirty="0" smtClean="0"/>
              <a:t>ALGOL 58 </a:t>
            </a:r>
            <a:r>
              <a:rPr lang="en-US" sz="2400" dirty="0" smtClean="0"/>
              <a:t>was presented by John Backus, a prominent member of the ACM-GAMM group, at an international conference in 1959</a:t>
            </a:r>
          </a:p>
          <a:p>
            <a:r>
              <a:rPr lang="en-US" sz="2400" dirty="0" smtClean="0"/>
              <a:t>This paper introduced a new formal notation for specifying</a:t>
            </a:r>
          </a:p>
          <a:p>
            <a:pPr>
              <a:buNone/>
            </a:pPr>
            <a:r>
              <a:rPr lang="en-US" sz="2400" dirty="0" smtClean="0"/>
              <a:t>      programming language syntax.</a:t>
            </a:r>
          </a:p>
          <a:p>
            <a:r>
              <a:rPr lang="en-US" sz="2400" dirty="0" smtClean="0"/>
              <a:t>Later modified slightly by </a:t>
            </a:r>
            <a:r>
              <a:rPr lang="en-US" sz="2400" b="1" dirty="0" smtClean="0"/>
              <a:t>Peter </a:t>
            </a:r>
            <a:r>
              <a:rPr lang="en-US" sz="2400" b="1" dirty="0" err="1" smtClean="0"/>
              <a:t>Naur</a:t>
            </a:r>
            <a:r>
              <a:rPr lang="en-US" sz="2400" b="1" dirty="0" smtClean="0"/>
              <a:t> </a:t>
            </a:r>
            <a:r>
              <a:rPr lang="en-US" sz="2400" dirty="0" smtClean="0"/>
              <a:t>for the description of ALGOL 60 .</a:t>
            </a:r>
          </a:p>
          <a:p>
            <a:r>
              <a:rPr lang="en-US" sz="2400" dirty="0" smtClean="0"/>
              <a:t>This revised method of syntax description became known as</a:t>
            </a:r>
          </a:p>
          <a:p>
            <a:pPr>
              <a:buNone/>
            </a:pPr>
            <a:r>
              <a:rPr lang="en-US" sz="2400" b="1" dirty="0" smtClean="0"/>
              <a:t>     Backus-Naur Form</a:t>
            </a:r>
            <a:r>
              <a:rPr lang="en-US" sz="2400" dirty="0" smtClean="0"/>
              <a:t>, or simply </a:t>
            </a:r>
            <a:r>
              <a:rPr lang="en-US" sz="2400" b="1" dirty="0" smtClean="0"/>
              <a:t>BNF</a:t>
            </a:r>
            <a:r>
              <a:rPr lang="en-US" sz="2400" dirty="0" smtClean="0"/>
              <a:t>.</a:t>
            </a:r>
          </a:p>
          <a:p>
            <a:endParaRPr lang="en-US" sz="2400" dirty="0" smtClean="0"/>
          </a:p>
          <a:p>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lstStyle/>
          <a:p>
            <a:r>
              <a:rPr lang="en-US" sz="2400" dirty="0" smtClean="0"/>
              <a:t>BNF is a natural notation for describing syntax.</a:t>
            </a:r>
          </a:p>
          <a:p>
            <a:r>
              <a:rPr lang="en-US" sz="2400" dirty="0" smtClean="0"/>
              <a:t>BNF in the ALGOL 60 report was not immediately accepted by computer users.</a:t>
            </a:r>
          </a:p>
          <a:p>
            <a:r>
              <a:rPr lang="en-US" sz="2400" dirty="0" smtClean="0"/>
              <a:t>It soon became and is still the most popular method of concisely describing programming language syntax.</a:t>
            </a:r>
          </a:p>
          <a:p>
            <a:pPr marL="342900" lvl="3" indent="-342900">
              <a:buNone/>
            </a:pPr>
            <a:r>
              <a:rPr lang="en-US" sz="3200" b="1" dirty="0" smtClean="0"/>
              <a:t>Fundamentals</a:t>
            </a:r>
          </a:p>
          <a:p>
            <a:r>
              <a:rPr lang="en-US" sz="2400" dirty="0" smtClean="0"/>
              <a:t>A  </a:t>
            </a:r>
            <a:r>
              <a:rPr lang="en-US" sz="2400" b="1" dirty="0" err="1" smtClean="0"/>
              <a:t>metalanguage</a:t>
            </a:r>
            <a:r>
              <a:rPr lang="en-US" sz="2400" b="1" dirty="0" smtClean="0"/>
              <a:t> </a:t>
            </a:r>
            <a:r>
              <a:rPr lang="en-US" sz="2400" dirty="0" smtClean="0"/>
              <a:t>is a language that is used to describe another language.</a:t>
            </a:r>
          </a:p>
          <a:p>
            <a:r>
              <a:rPr lang="en-US" sz="2400" dirty="0" smtClean="0"/>
              <a:t>BNF is a </a:t>
            </a:r>
            <a:r>
              <a:rPr lang="en-US" sz="2400" dirty="0" err="1" smtClean="0"/>
              <a:t>metalanguage</a:t>
            </a:r>
            <a:r>
              <a:rPr lang="en-US" sz="2400" dirty="0" smtClean="0"/>
              <a:t>  for programming languages</a:t>
            </a:r>
          </a:p>
          <a:p>
            <a:r>
              <a:rPr lang="en-US" sz="2400" dirty="0" smtClean="0"/>
              <a:t>BNF uses abstractions for syntactic structures.</a:t>
            </a:r>
          </a:p>
          <a:p>
            <a:endParaRPr lang="en-US" sz="2400" dirty="0" smtClean="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lnSpcReduction="10000"/>
          </a:bodyPr>
          <a:lstStyle/>
          <a:p>
            <a:r>
              <a:rPr lang="en-US" sz="2400" dirty="0" smtClean="0"/>
              <a:t>A simple Java assignment statement, for example, might be represented by the abstraction &lt;assign&gt; (pointed brackets are often used to delimit names of abstractions). The actual definition of &lt;assign&gt; can be given by</a:t>
            </a:r>
          </a:p>
          <a:p>
            <a:pPr>
              <a:buNone/>
            </a:pPr>
            <a:r>
              <a:rPr lang="en-US" sz="2400" b="1" dirty="0" smtClean="0"/>
              <a:t>     &lt;assign&gt; → &lt;</a:t>
            </a:r>
            <a:r>
              <a:rPr lang="en-US" sz="2400" b="1" dirty="0" err="1" smtClean="0"/>
              <a:t>var</a:t>
            </a:r>
            <a:r>
              <a:rPr lang="en-US" sz="2400" b="1" dirty="0" smtClean="0"/>
              <a:t>&gt; = &lt;expression&gt;</a:t>
            </a:r>
          </a:p>
          <a:p>
            <a:r>
              <a:rPr lang="en-US" sz="2400" dirty="0" smtClean="0"/>
              <a:t>The text on the left side of the arrow, which is aptly called the </a:t>
            </a:r>
            <a:r>
              <a:rPr lang="en-US" sz="2400" b="1" dirty="0" smtClean="0"/>
              <a:t>left-hand side </a:t>
            </a:r>
            <a:r>
              <a:rPr lang="en-US" sz="2400" dirty="0" smtClean="0"/>
              <a:t>(LHS), is the abstraction being defined. </a:t>
            </a:r>
          </a:p>
          <a:p>
            <a:r>
              <a:rPr lang="en-US" sz="2400" dirty="0" smtClean="0"/>
              <a:t>The text to the right of the arrow is the definition of the LHS. It is called the </a:t>
            </a:r>
            <a:r>
              <a:rPr lang="en-US" sz="2400" b="1" dirty="0" smtClean="0"/>
              <a:t>right-hand side </a:t>
            </a:r>
            <a:r>
              <a:rPr lang="en-US" sz="2400" dirty="0" smtClean="0"/>
              <a:t>(RHS) and consists of some mixture of tokens, lexemes, and references to other abstractions. </a:t>
            </a:r>
          </a:p>
          <a:p>
            <a:r>
              <a:rPr lang="en-US" sz="2400" dirty="0" smtClean="0"/>
              <a:t>Altogether, the definition is called a </a:t>
            </a:r>
            <a:r>
              <a:rPr lang="en-US" sz="2400" b="1" dirty="0" smtClean="0"/>
              <a:t>rule</a:t>
            </a:r>
            <a:r>
              <a:rPr lang="en-US" sz="2400" dirty="0" smtClean="0"/>
              <a:t>, or </a:t>
            </a:r>
            <a:r>
              <a:rPr lang="en-US" sz="2400" b="1" dirty="0" smtClean="0"/>
              <a:t>production</a:t>
            </a:r>
            <a:r>
              <a:rPr lang="en-US" sz="2400" dirty="0" smtClean="0"/>
              <a:t>. In the example rule just given, the abstractions &lt;</a:t>
            </a:r>
            <a:r>
              <a:rPr lang="en-US" sz="2400" dirty="0" err="1" smtClean="0"/>
              <a:t>var</a:t>
            </a:r>
            <a:r>
              <a:rPr lang="en-US" sz="2400" dirty="0" smtClean="0"/>
              <a:t>&gt; and &lt;expression&gt; obviously must be defined for the &lt;assign&gt; definition to be useful.</a:t>
            </a:r>
            <a:br>
              <a:rPr lang="en-US" sz="2400" dirty="0" smtClean="0"/>
            </a:b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lnSpcReduction="10000"/>
          </a:bodyPr>
          <a:lstStyle/>
          <a:p>
            <a:r>
              <a:rPr lang="en-US" sz="2400" dirty="0" smtClean="0"/>
              <a:t>This particular rule specifies that the abstraction &lt;assign&gt; is defined as an instance of the abstraction &lt;</a:t>
            </a:r>
            <a:r>
              <a:rPr lang="en-US" sz="2400" dirty="0" err="1" smtClean="0"/>
              <a:t>var</a:t>
            </a:r>
            <a:r>
              <a:rPr lang="en-US" sz="2400" dirty="0" smtClean="0"/>
              <a:t>&gt;, followed by the lexeme =, followed by an instance of the abstraction &lt;expression&gt;. One example sentence whose syntactic structure is described by the rule is</a:t>
            </a:r>
          </a:p>
          <a:p>
            <a:r>
              <a:rPr lang="en-US" sz="2400" b="1" dirty="0" smtClean="0"/>
              <a:t>total = subtotal1 + subtotal2</a:t>
            </a:r>
          </a:p>
          <a:p>
            <a:r>
              <a:rPr lang="en-US" sz="2400" dirty="0" smtClean="0"/>
              <a:t>The abstractions in a BNF description, or grammar, are often called </a:t>
            </a:r>
            <a:r>
              <a:rPr lang="en-US" sz="2400" b="1" dirty="0" err="1" smtClean="0"/>
              <a:t>nonterminal</a:t>
            </a:r>
            <a:r>
              <a:rPr lang="en-US" sz="2400" b="1" dirty="0" smtClean="0"/>
              <a:t> symbols</a:t>
            </a:r>
            <a:r>
              <a:rPr lang="en-US" sz="2400" dirty="0" smtClean="0"/>
              <a:t>, or simply </a:t>
            </a:r>
            <a:r>
              <a:rPr lang="en-US" sz="2400" b="1" dirty="0" err="1" smtClean="0"/>
              <a:t>nonterminals</a:t>
            </a:r>
            <a:r>
              <a:rPr lang="en-US" sz="2400" dirty="0" smtClean="0"/>
              <a:t>, and the lexemes and tokens of the rules are called </a:t>
            </a:r>
            <a:r>
              <a:rPr lang="en-US" sz="2400" b="1" dirty="0" smtClean="0"/>
              <a:t>terminal symbols</a:t>
            </a:r>
            <a:r>
              <a:rPr lang="en-US" sz="2400" dirty="0" smtClean="0"/>
              <a:t>, or simply </a:t>
            </a:r>
            <a:r>
              <a:rPr lang="en-US" sz="2400" b="1" dirty="0" smtClean="0"/>
              <a:t>terminals</a:t>
            </a:r>
            <a:r>
              <a:rPr lang="en-US" sz="2400" dirty="0" smtClean="0"/>
              <a:t>. A BNF description, or </a:t>
            </a:r>
            <a:r>
              <a:rPr lang="en-US" sz="2400" b="1" dirty="0" smtClean="0"/>
              <a:t>grammar</a:t>
            </a:r>
            <a:r>
              <a:rPr lang="en-US" sz="2400" dirty="0" smtClean="0"/>
              <a:t>, is a collection of rules.</a:t>
            </a:r>
          </a:p>
          <a:p>
            <a:r>
              <a:rPr lang="en-US" sz="2400" dirty="0" err="1" smtClean="0"/>
              <a:t>Nonterminal</a:t>
            </a:r>
            <a:r>
              <a:rPr lang="en-US" sz="2400" dirty="0" smtClean="0"/>
              <a:t> symbols can have two or more distinct definitions, representing two or more possible syntactic forms in the language. Multiple definitions can be written as a single rule, with the different definitions separated by the symbol |, meaning logical OR. </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5821363"/>
          </a:xfrm>
        </p:spPr>
        <p:txBody>
          <a:bodyPr>
            <a:normAutofit lnSpcReduction="10000"/>
          </a:bodyPr>
          <a:lstStyle/>
          <a:p>
            <a:r>
              <a:rPr lang="en-US" sz="2400" dirty="0" smtClean="0"/>
              <a:t>For example, a Java </a:t>
            </a:r>
            <a:r>
              <a:rPr lang="en-US" sz="2400" b="1" dirty="0" smtClean="0"/>
              <a:t>if </a:t>
            </a:r>
            <a:r>
              <a:rPr lang="en-US" sz="2400" dirty="0" smtClean="0"/>
              <a:t>statement can be described with the rules</a:t>
            </a:r>
          </a:p>
          <a:p>
            <a:r>
              <a:rPr lang="en-US" sz="2400" dirty="0" smtClean="0"/>
              <a:t>  &lt;</a:t>
            </a:r>
            <a:r>
              <a:rPr lang="en-US" sz="2400" dirty="0" err="1" smtClean="0"/>
              <a:t>if_stmt</a:t>
            </a:r>
            <a:r>
              <a:rPr lang="en-US" sz="2400" dirty="0" smtClean="0"/>
              <a:t>&gt; → </a:t>
            </a:r>
            <a:r>
              <a:rPr lang="en-US" sz="2400" b="1" dirty="0" smtClean="0"/>
              <a:t>if </a:t>
            </a:r>
            <a:r>
              <a:rPr lang="en-US" sz="2400" dirty="0" smtClean="0"/>
              <a:t>( &lt;</a:t>
            </a:r>
            <a:r>
              <a:rPr lang="en-US" sz="2400" dirty="0" err="1" smtClean="0"/>
              <a:t>logic_expr</a:t>
            </a:r>
            <a:r>
              <a:rPr lang="en-US" sz="2400" dirty="0" smtClean="0"/>
              <a:t>&gt; ) &lt;stmt&gt;</a:t>
            </a:r>
          </a:p>
          <a:p>
            <a:r>
              <a:rPr lang="en-US" sz="2400" dirty="0" smtClean="0"/>
              <a:t> &lt;</a:t>
            </a:r>
            <a:r>
              <a:rPr lang="en-US" sz="2400" dirty="0" err="1" smtClean="0"/>
              <a:t>if_stmt</a:t>
            </a:r>
            <a:r>
              <a:rPr lang="en-US" sz="2400" dirty="0" smtClean="0"/>
              <a:t>&gt; → </a:t>
            </a:r>
            <a:r>
              <a:rPr lang="en-US" sz="2400" b="1" dirty="0" smtClean="0"/>
              <a:t>if </a:t>
            </a:r>
            <a:r>
              <a:rPr lang="en-US" sz="2400" dirty="0" smtClean="0"/>
              <a:t>( &lt;</a:t>
            </a:r>
            <a:r>
              <a:rPr lang="en-US" sz="2400" dirty="0" err="1" smtClean="0"/>
              <a:t>logic_expr</a:t>
            </a:r>
            <a:r>
              <a:rPr lang="en-US" sz="2400" dirty="0" smtClean="0"/>
              <a:t>&gt; ) &lt;stmt&gt; </a:t>
            </a:r>
            <a:r>
              <a:rPr lang="en-US" sz="2400" b="1" dirty="0" smtClean="0"/>
              <a:t>else </a:t>
            </a:r>
            <a:r>
              <a:rPr lang="en-US" sz="2400" dirty="0" smtClean="0"/>
              <a:t>&lt;stmt&gt; or with the rule</a:t>
            </a:r>
          </a:p>
          <a:p>
            <a:r>
              <a:rPr lang="en-US" sz="2400" dirty="0" smtClean="0"/>
              <a:t>  &lt;</a:t>
            </a:r>
            <a:r>
              <a:rPr lang="en-US" sz="2400" dirty="0" err="1" smtClean="0"/>
              <a:t>if_stmt</a:t>
            </a:r>
            <a:r>
              <a:rPr lang="en-US" sz="2400" dirty="0" smtClean="0"/>
              <a:t>&gt; → </a:t>
            </a:r>
            <a:r>
              <a:rPr lang="en-US" sz="2400" b="1" dirty="0" smtClean="0"/>
              <a:t>if </a:t>
            </a:r>
            <a:r>
              <a:rPr lang="en-US" sz="2400" dirty="0" smtClean="0"/>
              <a:t>( &lt;</a:t>
            </a:r>
            <a:r>
              <a:rPr lang="en-US" sz="2400" dirty="0" err="1" smtClean="0"/>
              <a:t>logic_expr</a:t>
            </a:r>
            <a:r>
              <a:rPr lang="en-US" sz="2400" dirty="0" smtClean="0"/>
              <a:t>&gt; ) &lt;stmt&gt;</a:t>
            </a:r>
          </a:p>
          <a:p>
            <a:r>
              <a:rPr lang="en-US" sz="2400" dirty="0" smtClean="0"/>
              <a:t>  | </a:t>
            </a:r>
            <a:r>
              <a:rPr lang="en-US" sz="2400" b="1" dirty="0" smtClean="0"/>
              <a:t>if </a:t>
            </a:r>
            <a:r>
              <a:rPr lang="en-US" sz="2400" dirty="0" smtClean="0"/>
              <a:t>( &lt;</a:t>
            </a:r>
            <a:r>
              <a:rPr lang="en-US" sz="2400" dirty="0" err="1" smtClean="0"/>
              <a:t>logic_expr</a:t>
            </a:r>
            <a:r>
              <a:rPr lang="en-US" sz="2400" dirty="0" smtClean="0"/>
              <a:t>&gt; ) &lt;stmt&gt; </a:t>
            </a:r>
            <a:r>
              <a:rPr lang="en-US" sz="2400" b="1" dirty="0" smtClean="0"/>
              <a:t>else </a:t>
            </a:r>
            <a:r>
              <a:rPr lang="en-US" sz="2400" dirty="0" smtClean="0"/>
              <a:t>&lt;stmt&gt;</a:t>
            </a:r>
          </a:p>
          <a:p>
            <a:r>
              <a:rPr lang="en-US" sz="2400" dirty="0" smtClean="0"/>
              <a:t>In these rules, &lt;stmt&gt; represents either a single statement or a compound statement.</a:t>
            </a:r>
          </a:p>
          <a:p>
            <a:r>
              <a:rPr lang="en-US" sz="2400" dirty="0" smtClean="0"/>
              <a:t>Although BNF is simple, it is sufficiently powerful to describe nearly all of the syntax of programming languages. In particular, it can describe lists of similar constructs, the order in which different constructs must appear, and nested structures to any depth, and even imply operator precedence and operator </a:t>
            </a:r>
            <a:r>
              <a:rPr lang="en-US" sz="2400" dirty="0" err="1" smtClean="0"/>
              <a:t>associativity</a:t>
            </a:r>
            <a:r>
              <a:rPr lang="en-US" sz="2400" dirty="0" smtClean="0"/>
              <a:t>.</a:t>
            </a:r>
            <a:br>
              <a:rPr lang="en-US" sz="2400" dirty="0" smtClean="0"/>
            </a:br>
            <a:endParaRPr 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5668963"/>
          </a:xfrm>
        </p:spPr>
        <p:txBody>
          <a:bodyPr>
            <a:normAutofit lnSpcReduction="10000"/>
          </a:bodyPr>
          <a:lstStyle/>
          <a:p>
            <a:pPr marL="342900" lvl="3" indent="-342900">
              <a:buNone/>
            </a:pPr>
            <a:r>
              <a:rPr lang="en-US" sz="3200" b="1" dirty="0" smtClean="0"/>
              <a:t>     Describing Lists</a:t>
            </a:r>
          </a:p>
          <a:p>
            <a:r>
              <a:rPr lang="en-US" sz="2400" dirty="0" smtClean="0"/>
              <a:t>Variable-length lists in mathematics are often written using an ellipsis ( . . . ); </a:t>
            </a:r>
          </a:p>
          <a:p>
            <a:r>
              <a:rPr lang="en-US" sz="2400" dirty="0" smtClean="0"/>
              <a:t>1, 2, . . . is an example. BNF does not include the ellipsis, so an alternative method is required for describing lists of syntactic elements in programming languages .</a:t>
            </a:r>
          </a:p>
          <a:p>
            <a:r>
              <a:rPr lang="en-US" sz="2400" dirty="0" smtClean="0"/>
              <a:t>For BNF, the alternative is recursion. A rule is </a:t>
            </a:r>
            <a:r>
              <a:rPr lang="en-US" sz="2400" b="1" dirty="0" smtClean="0"/>
              <a:t>recursive </a:t>
            </a:r>
            <a:r>
              <a:rPr lang="en-US" sz="2400" dirty="0" smtClean="0"/>
              <a:t>if its LHS appears in its RHS. The following rules illustrate how recursion is used to describe lists:</a:t>
            </a:r>
          </a:p>
          <a:p>
            <a:r>
              <a:rPr lang="en-US" sz="2400" dirty="0" smtClean="0"/>
              <a:t>&lt;</a:t>
            </a:r>
            <a:r>
              <a:rPr lang="en-US" sz="2400" dirty="0" err="1" smtClean="0"/>
              <a:t>ident_list</a:t>
            </a:r>
            <a:r>
              <a:rPr lang="en-US" sz="2400" dirty="0" smtClean="0"/>
              <a:t>&gt; → identifier</a:t>
            </a:r>
          </a:p>
          <a:p>
            <a:r>
              <a:rPr lang="en-US" sz="2400" dirty="0" smtClean="0"/>
              <a:t> | identifier, &lt;</a:t>
            </a:r>
            <a:r>
              <a:rPr lang="en-US" sz="2400" dirty="0" err="1" smtClean="0"/>
              <a:t>ident_list</a:t>
            </a:r>
            <a:r>
              <a:rPr lang="en-US" sz="2400" dirty="0" smtClean="0"/>
              <a:t>&gt;</a:t>
            </a:r>
          </a:p>
          <a:p>
            <a:r>
              <a:rPr lang="en-US" sz="2400" dirty="0" smtClean="0"/>
              <a:t>This defines &lt;</a:t>
            </a:r>
            <a:r>
              <a:rPr lang="en-US" sz="2400" dirty="0" err="1" smtClean="0"/>
              <a:t>ident_list</a:t>
            </a:r>
            <a:r>
              <a:rPr lang="en-US" sz="2400" dirty="0" smtClean="0"/>
              <a:t>&gt; as either a single token (identifier) or an identifier followed by a comma and another instance of &lt;</a:t>
            </a:r>
            <a:r>
              <a:rPr lang="en-US" sz="2400" dirty="0" err="1" smtClean="0"/>
              <a:t>ident_list</a:t>
            </a:r>
            <a:r>
              <a:rPr lang="en-US" sz="2400" dirty="0" smtClean="0"/>
              <a:t>&gt;. </a:t>
            </a: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19800"/>
          </a:xfrm>
        </p:spPr>
        <p:txBody>
          <a:bodyPr>
            <a:normAutofit/>
          </a:bodyPr>
          <a:lstStyle/>
          <a:p>
            <a:pPr marL="342900" lvl="3" indent="-342900">
              <a:buNone/>
            </a:pPr>
            <a:r>
              <a:rPr lang="en-US" sz="3200" b="1" dirty="0" smtClean="0"/>
              <a:t>Grammars and Derivations</a:t>
            </a:r>
          </a:p>
          <a:p>
            <a:r>
              <a:rPr lang="en-US" sz="2400" dirty="0" smtClean="0"/>
              <a:t>A grammar is a generative device for defining languages.</a:t>
            </a:r>
          </a:p>
          <a:p>
            <a:r>
              <a:rPr lang="en-US" sz="2400" dirty="0" smtClean="0"/>
              <a:t> The sentences of the language are generated through a sequence of applications of the rules, beginning with a special </a:t>
            </a:r>
            <a:r>
              <a:rPr lang="en-US" sz="2400" dirty="0" err="1" smtClean="0"/>
              <a:t>nonterminal</a:t>
            </a:r>
            <a:r>
              <a:rPr lang="en-US" sz="2400" dirty="0" smtClean="0"/>
              <a:t> of the grammar called the </a:t>
            </a:r>
            <a:r>
              <a:rPr lang="en-US" sz="2400" b="1" dirty="0" smtClean="0"/>
              <a:t>start symbol</a:t>
            </a:r>
            <a:r>
              <a:rPr lang="en-US" sz="2400" dirty="0" smtClean="0"/>
              <a:t>. </a:t>
            </a:r>
          </a:p>
          <a:p>
            <a:r>
              <a:rPr lang="en-US" sz="2400" dirty="0" smtClean="0"/>
              <a:t>This sequence of rule applications is called a </a:t>
            </a:r>
            <a:r>
              <a:rPr lang="en-US" sz="2400" b="1" dirty="0" smtClean="0"/>
              <a:t>derivation</a:t>
            </a:r>
            <a:r>
              <a:rPr lang="en-US" sz="2400" dirty="0" smtClean="0"/>
              <a:t>. </a:t>
            </a:r>
          </a:p>
          <a:p>
            <a:r>
              <a:rPr lang="en-US" sz="2400" dirty="0" smtClean="0"/>
              <a:t>In a grammar for a complete programming language, the start symbol represents a complete program and is often named &lt;program&gt;. </a:t>
            </a:r>
          </a:p>
          <a:p>
            <a:r>
              <a:rPr lang="en-US" sz="2400" b="1" dirty="0" smtClean="0"/>
              <a:t>EXAMPLE : A Grammar for a Small Language</a:t>
            </a:r>
          </a:p>
          <a:p>
            <a:pPr>
              <a:buNone/>
            </a:pPr>
            <a:r>
              <a:rPr lang="en-US" sz="2400" dirty="0" smtClean="0"/>
              <a:t>           &lt;program&gt; → </a:t>
            </a:r>
            <a:r>
              <a:rPr lang="en-US" sz="2400" b="1" dirty="0" smtClean="0"/>
              <a:t>begin </a:t>
            </a:r>
            <a:r>
              <a:rPr lang="en-US" sz="2400" dirty="0" smtClean="0"/>
              <a:t>&lt;</a:t>
            </a:r>
            <a:r>
              <a:rPr lang="en-US" sz="2400" dirty="0" err="1" smtClean="0"/>
              <a:t>stmt_list</a:t>
            </a:r>
            <a:r>
              <a:rPr lang="en-US" sz="2400" dirty="0" smtClean="0"/>
              <a:t>&gt; </a:t>
            </a:r>
            <a:r>
              <a:rPr lang="en-US" sz="2400" b="1" dirty="0" smtClean="0"/>
              <a:t>end</a:t>
            </a:r>
            <a:endParaRPr lang="en-US" sz="2400" dirty="0" smtClean="0"/>
          </a:p>
          <a:p>
            <a:pPr>
              <a:buNone/>
            </a:pPr>
            <a:r>
              <a:rPr lang="en-US" sz="2400" b="1" dirty="0" smtClean="0"/>
              <a:t>                   </a:t>
            </a:r>
            <a:r>
              <a:rPr lang="en-US" sz="2400" dirty="0" smtClean="0"/>
              <a:t> &lt;</a:t>
            </a:r>
            <a:r>
              <a:rPr lang="en-US" sz="2400" dirty="0" err="1" smtClean="0"/>
              <a:t>stmt_list</a:t>
            </a:r>
            <a:r>
              <a:rPr lang="en-US" sz="2400" dirty="0" smtClean="0"/>
              <a:t>&gt; → &lt;stmt&gt;</a:t>
            </a:r>
          </a:p>
          <a:p>
            <a:pPr>
              <a:buNone/>
            </a:pPr>
            <a:r>
              <a:rPr lang="en-US" sz="2400" b="1" dirty="0" smtClean="0"/>
              <a:t>                       </a:t>
            </a:r>
            <a:r>
              <a:rPr lang="en-US" sz="2400" dirty="0" smtClean="0"/>
              <a:t>| &lt;stmt&gt; ; &lt;</a:t>
            </a:r>
            <a:r>
              <a:rPr lang="en-US" sz="2400" dirty="0" err="1" smtClean="0"/>
              <a:t>stmt_list</a:t>
            </a:r>
            <a:r>
              <a:rPr lang="en-US" sz="2400" dirty="0" smtClean="0"/>
              <a:t>&gt;</a:t>
            </a:r>
          </a:p>
          <a:p>
            <a:pPr>
              <a:buNone/>
            </a:pPr>
            <a:endParaRPr lang="en-US" sz="2400" b="1" dirty="0" smtClean="0"/>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fontScale="92500"/>
          </a:bodyPr>
          <a:lstStyle/>
          <a:p>
            <a:pPr>
              <a:buNone/>
            </a:pPr>
            <a:r>
              <a:rPr lang="en-US" sz="2400" dirty="0" smtClean="0"/>
              <a:t>               &lt;stmt&gt; → &lt;</a:t>
            </a:r>
            <a:r>
              <a:rPr lang="en-US" sz="2400" dirty="0" err="1" smtClean="0"/>
              <a:t>var</a:t>
            </a:r>
            <a:r>
              <a:rPr lang="en-US" sz="2400" dirty="0" smtClean="0"/>
              <a:t>&gt; = &lt;expression&gt;    </a:t>
            </a:r>
          </a:p>
          <a:p>
            <a:pPr>
              <a:buNone/>
            </a:pPr>
            <a:r>
              <a:rPr lang="en-US" sz="2400" dirty="0" smtClean="0"/>
              <a:t>              &lt;</a:t>
            </a:r>
            <a:r>
              <a:rPr lang="en-US" sz="2400" dirty="0" err="1" smtClean="0"/>
              <a:t>var</a:t>
            </a:r>
            <a:r>
              <a:rPr lang="en-US" sz="2400" dirty="0" smtClean="0"/>
              <a:t>&gt; → A | B | C</a:t>
            </a:r>
          </a:p>
          <a:p>
            <a:pPr>
              <a:buNone/>
            </a:pPr>
            <a:r>
              <a:rPr lang="en-US" sz="2400" dirty="0" smtClean="0"/>
              <a:t>             &lt;expression&gt; → &lt;</a:t>
            </a:r>
            <a:r>
              <a:rPr lang="en-US" sz="2400" dirty="0" err="1" smtClean="0"/>
              <a:t>var</a:t>
            </a:r>
            <a:r>
              <a:rPr lang="en-US" sz="2400" dirty="0" smtClean="0"/>
              <a:t>&gt; + &lt;</a:t>
            </a:r>
            <a:r>
              <a:rPr lang="en-US" sz="2400" dirty="0" err="1" smtClean="0"/>
              <a:t>var</a:t>
            </a:r>
            <a:r>
              <a:rPr lang="en-US" sz="2400" dirty="0" smtClean="0"/>
              <a:t>&gt;</a:t>
            </a:r>
          </a:p>
          <a:p>
            <a:pPr>
              <a:buNone/>
            </a:pPr>
            <a:r>
              <a:rPr lang="en-US" sz="2400" dirty="0" smtClean="0"/>
              <a:t>                                         | &lt;</a:t>
            </a:r>
            <a:r>
              <a:rPr lang="en-US" sz="2400" dirty="0" err="1" smtClean="0"/>
              <a:t>var</a:t>
            </a:r>
            <a:r>
              <a:rPr lang="en-US" sz="2400" dirty="0" smtClean="0"/>
              <a:t>&gt; - &lt;</a:t>
            </a:r>
            <a:r>
              <a:rPr lang="en-US" sz="2400" dirty="0" err="1" smtClean="0"/>
              <a:t>var</a:t>
            </a:r>
            <a:r>
              <a:rPr lang="en-US" sz="2400" dirty="0" smtClean="0"/>
              <a:t>&gt;</a:t>
            </a:r>
          </a:p>
          <a:p>
            <a:pPr>
              <a:buNone/>
            </a:pPr>
            <a:r>
              <a:rPr lang="en-US" sz="2400" dirty="0" smtClean="0"/>
              <a:t>                                         | &lt;</a:t>
            </a:r>
            <a:r>
              <a:rPr lang="en-US" sz="2400" dirty="0" err="1" smtClean="0"/>
              <a:t>var</a:t>
            </a:r>
            <a:r>
              <a:rPr lang="en-US" sz="2400" dirty="0" smtClean="0"/>
              <a:t>&gt;</a:t>
            </a:r>
          </a:p>
          <a:p>
            <a:r>
              <a:rPr lang="en-US" sz="2400" dirty="0" smtClean="0"/>
              <a:t>  A program consists of the special word </a:t>
            </a:r>
            <a:r>
              <a:rPr lang="en-US" sz="2400" b="1" dirty="0" smtClean="0"/>
              <a:t>begin</a:t>
            </a:r>
            <a:r>
              <a:rPr lang="en-US" sz="2400" dirty="0" smtClean="0"/>
              <a:t>, followed by a list of statements separated by semicolons, followed by the special word </a:t>
            </a:r>
            <a:r>
              <a:rPr lang="en-US" sz="2400" b="1" dirty="0" smtClean="0"/>
              <a:t>end</a:t>
            </a:r>
            <a:r>
              <a:rPr lang="en-US" sz="2400" dirty="0" smtClean="0"/>
              <a:t>. An expression is either a single variable or two variables separated by either a + or - operator. The only variable names in this language are A, B, and C.</a:t>
            </a:r>
          </a:p>
          <a:p>
            <a:pPr>
              <a:buNone/>
            </a:pPr>
            <a:r>
              <a:rPr lang="en-US" sz="2400" dirty="0" smtClean="0"/>
              <a:t>      A derivation of a program in this language follows: </a:t>
            </a:r>
          </a:p>
          <a:p>
            <a:pPr>
              <a:buNone/>
            </a:pPr>
            <a:r>
              <a:rPr lang="en-US" sz="2400" dirty="0" smtClean="0"/>
              <a:t>            &lt;program&gt; =&gt; </a:t>
            </a:r>
            <a:r>
              <a:rPr lang="en-US" sz="2400" b="1" dirty="0" smtClean="0"/>
              <a:t>begin </a:t>
            </a:r>
            <a:r>
              <a:rPr lang="en-US" sz="2400" dirty="0" smtClean="0"/>
              <a:t>&lt;</a:t>
            </a:r>
            <a:r>
              <a:rPr lang="en-US" sz="2400" dirty="0" err="1" smtClean="0"/>
              <a:t>stmt_list</a:t>
            </a:r>
            <a:r>
              <a:rPr lang="en-US" sz="2400" dirty="0" smtClean="0"/>
              <a:t>&gt; </a:t>
            </a:r>
            <a:r>
              <a:rPr lang="en-US" sz="2400" b="1" dirty="0" smtClean="0"/>
              <a:t>end</a:t>
            </a:r>
            <a:endParaRPr lang="en-US" sz="2400" dirty="0" smtClean="0"/>
          </a:p>
          <a:p>
            <a:pPr>
              <a:buNone/>
            </a:pPr>
            <a:r>
              <a:rPr lang="en-US" sz="2400" dirty="0" smtClean="0"/>
              <a:t>                                  =&gt; </a:t>
            </a:r>
            <a:r>
              <a:rPr lang="en-US" sz="2400" b="1" dirty="0" smtClean="0"/>
              <a:t>begin </a:t>
            </a:r>
            <a:r>
              <a:rPr lang="en-US" sz="2400" dirty="0" smtClean="0"/>
              <a:t>&lt;stmt&gt; ; &lt;</a:t>
            </a:r>
            <a:r>
              <a:rPr lang="en-US" sz="2400" dirty="0" err="1" smtClean="0"/>
              <a:t>stmt_list</a:t>
            </a:r>
            <a:r>
              <a:rPr lang="en-US" sz="2400" dirty="0" smtClean="0"/>
              <a:t>&gt; </a:t>
            </a:r>
            <a:r>
              <a:rPr lang="en-US" sz="2400" b="1" dirty="0" smtClean="0"/>
              <a:t>end</a:t>
            </a:r>
            <a:endParaRPr lang="en-US" sz="2400" dirty="0" smtClean="0"/>
          </a:p>
          <a:p>
            <a:pPr>
              <a:buNone/>
            </a:pPr>
            <a:r>
              <a:rPr lang="en-US" sz="2400" dirty="0" smtClean="0"/>
              <a:t>                                 =&gt; </a:t>
            </a:r>
            <a:r>
              <a:rPr lang="en-US" sz="2400" b="1" dirty="0" smtClean="0"/>
              <a:t>begin </a:t>
            </a:r>
            <a:r>
              <a:rPr lang="en-US" sz="2400" dirty="0" smtClean="0"/>
              <a:t>&lt;</a:t>
            </a:r>
            <a:r>
              <a:rPr lang="en-US" sz="2400" dirty="0" err="1" smtClean="0"/>
              <a:t>var</a:t>
            </a:r>
            <a:r>
              <a:rPr lang="en-US" sz="2400" dirty="0" smtClean="0"/>
              <a:t>&gt; = &lt;expression&gt; ; &lt;</a:t>
            </a:r>
            <a:r>
              <a:rPr lang="en-US" sz="2400" dirty="0" err="1" smtClean="0"/>
              <a:t>stmt_list</a:t>
            </a:r>
            <a:r>
              <a:rPr lang="en-US" sz="2400" dirty="0" smtClean="0"/>
              <a:t>&gt; </a:t>
            </a:r>
            <a:r>
              <a:rPr lang="en-US" sz="2400" b="1" dirty="0" smtClean="0"/>
              <a:t>end</a:t>
            </a:r>
            <a:endParaRPr lang="en-US" sz="2400" dirty="0" smtClean="0"/>
          </a:p>
          <a:p>
            <a:pPr>
              <a:buNone/>
            </a:pPr>
            <a:endParaRPr lang="en-US" sz="2400" dirty="0" smtClean="0"/>
          </a:p>
          <a:p>
            <a:pPr>
              <a:buNone/>
            </a:pPr>
            <a:r>
              <a:rPr lang="en-US" sz="2400" dirty="0" smtClean="0"/>
              <a:t>                </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spc="-150" dirty="0" smtClean="0"/>
              <a:t>.</a:t>
            </a:r>
            <a:endParaRPr lang="en-US" sz="800" spc="-150" dirty="0"/>
          </a:p>
        </p:txBody>
      </p:sp>
      <p:sp>
        <p:nvSpPr>
          <p:cNvPr id="3" name="Content Placeholder 2"/>
          <p:cNvSpPr>
            <a:spLocks noGrp="1"/>
          </p:cNvSpPr>
          <p:nvPr>
            <p:ph idx="1"/>
          </p:nvPr>
        </p:nvSpPr>
        <p:spPr>
          <a:xfrm>
            <a:off x="457200" y="228600"/>
            <a:ext cx="8229600" cy="5897563"/>
          </a:xfrm>
        </p:spPr>
        <p:txBody>
          <a:bodyPr>
            <a:noAutofit/>
          </a:bodyPr>
          <a:lstStyle/>
          <a:p>
            <a:r>
              <a:rPr lang="en-US" sz="2400" b="1" dirty="0" smtClean="0"/>
              <a:t>=&gt;begin A= </a:t>
            </a:r>
            <a:r>
              <a:rPr lang="en-US" sz="2400" b="1" dirty="0" smtClean="0"/>
              <a:t>&lt;expression&gt; ; &lt;</a:t>
            </a:r>
            <a:r>
              <a:rPr lang="en-US" sz="2400" b="1" dirty="0" err="1" smtClean="0"/>
              <a:t>stmt_list</a:t>
            </a:r>
            <a:r>
              <a:rPr lang="en-US" sz="2400" b="1" dirty="0" smtClean="0"/>
              <a:t>&gt; end</a:t>
            </a:r>
          </a:p>
          <a:p>
            <a:r>
              <a:rPr lang="en-US" sz="2400" b="1" dirty="0" smtClean="0"/>
              <a:t>=&gt;begin A= </a:t>
            </a:r>
            <a:r>
              <a:rPr lang="en-US" sz="2400" b="1" dirty="0" smtClean="0"/>
              <a:t>&lt;</a:t>
            </a:r>
            <a:r>
              <a:rPr lang="en-US" sz="2400" b="1" dirty="0" err="1" smtClean="0"/>
              <a:t>var</a:t>
            </a:r>
            <a:r>
              <a:rPr lang="en-US" sz="2400" b="1" dirty="0" smtClean="0"/>
              <a:t>&gt; + &lt;</a:t>
            </a:r>
            <a:r>
              <a:rPr lang="en-US" sz="2400" b="1" dirty="0" err="1" smtClean="0"/>
              <a:t>var</a:t>
            </a:r>
            <a:r>
              <a:rPr lang="en-US" sz="2400" b="1" dirty="0" smtClean="0"/>
              <a:t>&gt; ; &lt;</a:t>
            </a:r>
            <a:r>
              <a:rPr lang="en-US" sz="2400" b="1" dirty="0" err="1" smtClean="0"/>
              <a:t>stmt_list</a:t>
            </a:r>
            <a:r>
              <a:rPr lang="en-US" sz="2400" b="1" dirty="0" smtClean="0"/>
              <a:t>&gt; end</a:t>
            </a:r>
          </a:p>
          <a:p>
            <a:r>
              <a:rPr lang="en-US" sz="2400" b="1" dirty="0" smtClean="0"/>
              <a:t>=&gt;begin A= </a:t>
            </a:r>
            <a:r>
              <a:rPr lang="en-US" sz="2400" b="1" dirty="0" smtClean="0"/>
              <a:t>B + &lt;</a:t>
            </a:r>
            <a:r>
              <a:rPr lang="en-US" sz="2400" b="1" dirty="0" err="1" smtClean="0"/>
              <a:t>var</a:t>
            </a:r>
            <a:r>
              <a:rPr lang="en-US" sz="2400" b="1" dirty="0" smtClean="0"/>
              <a:t>&gt; ; &lt;</a:t>
            </a:r>
            <a:r>
              <a:rPr lang="en-US" sz="2400" b="1" dirty="0" err="1" smtClean="0"/>
              <a:t>stmt_list</a:t>
            </a:r>
            <a:r>
              <a:rPr lang="en-US" sz="2400" b="1" dirty="0" smtClean="0"/>
              <a:t>&gt; end</a:t>
            </a:r>
          </a:p>
          <a:p>
            <a:r>
              <a:rPr lang="en-US" sz="2400" b="1" dirty="0" smtClean="0"/>
              <a:t>=&gt;begin A= </a:t>
            </a:r>
            <a:r>
              <a:rPr lang="en-US" sz="2400" b="1" dirty="0" smtClean="0"/>
              <a:t>B + C ; &lt;</a:t>
            </a:r>
            <a:r>
              <a:rPr lang="en-US" sz="2400" b="1" dirty="0" err="1" smtClean="0"/>
              <a:t>stmt_list</a:t>
            </a:r>
            <a:r>
              <a:rPr lang="en-US" sz="2400" b="1" dirty="0" smtClean="0"/>
              <a:t>&gt; end</a:t>
            </a:r>
          </a:p>
          <a:p>
            <a:r>
              <a:rPr lang="en-US" sz="2400" b="1" dirty="0" smtClean="0"/>
              <a:t>=&gt;begin A= </a:t>
            </a:r>
            <a:r>
              <a:rPr lang="en-US" sz="2400" b="1" dirty="0" smtClean="0"/>
              <a:t>B + ; &lt;stmt&gt; end</a:t>
            </a:r>
          </a:p>
          <a:p>
            <a:r>
              <a:rPr lang="en-US" sz="2400" b="1" dirty="0" smtClean="0"/>
              <a:t> </a:t>
            </a:r>
            <a:r>
              <a:rPr lang="en-US" sz="2400" b="1" dirty="0" smtClean="0"/>
              <a:t>=&gt;begin A=B+C;&lt;</a:t>
            </a:r>
            <a:r>
              <a:rPr lang="en-US" sz="2400" b="1" dirty="0" err="1" smtClean="0"/>
              <a:t>var</a:t>
            </a:r>
            <a:r>
              <a:rPr lang="en-US" sz="2400" b="1" dirty="0" smtClean="0"/>
              <a:t>&gt; = &lt;expression&gt; end</a:t>
            </a:r>
          </a:p>
          <a:p>
            <a:r>
              <a:rPr lang="en-US" sz="2400" b="1" dirty="0" smtClean="0"/>
              <a:t>=&gt;begin A=B+C;B </a:t>
            </a:r>
            <a:r>
              <a:rPr lang="en-US" sz="2400" b="1" dirty="0" smtClean="0"/>
              <a:t>= &lt;expression&gt; end</a:t>
            </a:r>
          </a:p>
          <a:p>
            <a:r>
              <a:rPr lang="en-US" sz="2400" b="1" dirty="0" smtClean="0"/>
              <a:t>=&gt;begin A=B+C;B </a:t>
            </a:r>
            <a:r>
              <a:rPr lang="en-US" sz="2400" b="1" dirty="0" smtClean="0"/>
              <a:t>= &lt;</a:t>
            </a:r>
            <a:r>
              <a:rPr lang="en-US" sz="2400" b="1" dirty="0" err="1" smtClean="0"/>
              <a:t>var</a:t>
            </a:r>
            <a:r>
              <a:rPr lang="en-US" sz="2400" b="1" dirty="0" smtClean="0"/>
              <a:t>&gt; end</a:t>
            </a:r>
          </a:p>
          <a:p>
            <a:r>
              <a:rPr lang="en-US" sz="2400" b="1" dirty="0" smtClean="0"/>
              <a:t>=&gt;begin A=B+C;B </a:t>
            </a:r>
            <a:r>
              <a:rPr lang="en-US" sz="2400" b="1" dirty="0" smtClean="0"/>
              <a:t>= C </a:t>
            </a:r>
            <a:r>
              <a:rPr lang="en-US" sz="2400" b="1" dirty="0" smtClean="0"/>
              <a:t>end</a:t>
            </a:r>
          </a:p>
          <a:p>
            <a:r>
              <a:rPr lang="en-US" sz="2400" b="1" dirty="0" smtClean="0"/>
              <a:t>This derivation, like all derivations, begins with the start symbol, in this case</a:t>
            </a:r>
          </a:p>
          <a:p>
            <a:r>
              <a:rPr lang="en-US" sz="2400" b="1" dirty="0" smtClean="0"/>
              <a:t>&lt;program&gt;. The symbol =&gt; is read “derives.” Each successive string in the sequence is derived from the previous string by replacing one of the </a:t>
            </a:r>
            <a:r>
              <a:rPr lang="en-US" sz="2400" b="1" dirty="0" err="1" smtClean="0"/>
              <a:t>nonterminals</a:t>
            </a:r>
            <a:r>
              <a:rPr lang="en-US" sz="2400" b="1" dirty="0" smtClean="0"/>
              <a:t> with one of that </a:t>
            </a:r>
            <a:r>
              <a:rPr lang="en-US" sz="2400" b="1" dirty="0" err="1" smtClean="0"/>
              <a:t>nonterminal’s</a:t>
            </a:r>
            <a:r>
              <a:rPr lang="en-US" sz="2400" b="1" dirty="0" smtClean="0"/>
              <a:t> </a:t>
            </a:r>
            <a:r>
              <a:rPr lang="en-US" sz="2400" b="1" dirty="0" smtClean="0"/>
              <a:t>definitions</a:t>
            </a:r>
            <a:endParaRPr lang="en-US" sz="2400" b="1" dirty="0" smtClean="0"/>
          </a:p>
          <a:p>
            <a:pPr>
              <a:buNone/>
            </a:pP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553200"/>
          </a:xfrm>
        </p:spPr>
        <p:txBody>
          <a:bodyPr>
            <a:normAutofit/>
          </a:bodyPr>
          <a:lstStyle/>
          <a:p>
            <a:r>
              <a:rPr lang="en-US" sz="2400" b="1" dirty="0" smtClean="0"/>
              <a:t> </a:t>
            </a:r>
            <a:r>
              <a:rPr lang="en-US" sz="2400" dirty="0" smtClean="0"/>
              <a:t>Each of the strings in the derivation, including &lt;program&gt;, is called a sentential form.</a:t>
            </a:r>
          </a:p>
          <a:p>
            <a:r>
              <a:rPr lang="en-US" sz="2400" dirty="0" smtClean="0"/>
              <a:t>In </a:t>
            </a:r>
            <a:r>
              <a:rPr lang="en-US" sz="2400" dirty="0" smtClean="0"/>
              <a:t>this derivation, the replaced </a:t>
            </a:r>
            <a:r>
              <a:rPr lang="en-US" sz="2400" dirty="0" err="1" smtClean="0"/>
              <a:t>nonterminal</a:t>
            </a:r>
            <a:r>
              <a:rPr lang="en-US" sz="2400" dirty="0" smtClean="0"/>
              <a:t> is always the leftmost </a:t>
            </a:r>
            <a:r>
              <a:rPr lang="en-US" sz="2400" dirty="0" err="1" smtClean="0"/>
              <a:t>nonterminal</a:t>
            </a:r>
            <a:r>
              <a:rPr lang="en-US" sz="2400" dirty="0" smtClean="0"/>
              <a:t> in the previous sentential form. Derivations that use this order of replacement are called </a:t>
            </a:r>
            <a:r>
              <a:rPr lang="en-US" sz="2400" b="1" dirty="0" smtClean="0"/>
              <a:t>leftmost derivations</a:t>
            </a:r>
            <a:r>
              <a:rPr lang="en-US" sz="2400" dirty="0" smtClean="0"/>
              <a:t>. The derivation continues until the sentential form contains no </a:t>
            </a:r>
            <a:r>
              <a:rPr lang="en-US" sz="2400" dirty="0" err="1" smtClean="0"/>
              <a:t>nonterminals</a:t>
            </a:r>
            <a:r>
              <a:rPr lang="en-US" sz="2400" dirty="0" smtClean="0"/>
              <a:t>. That sentential form, consisting of only terminals, or lexemes, is the generated sentence.</a:t>
            </a:r>
          </a:p>
          <a:p>
            <a:pPr>
              <a:buNone/>
            </a:pPr>
            <a:r>
              <a:rPr lang="en-US" sz="2400" b="1" dirty="0" smtClean="0"/>
              <a:t>EXAMPLE </a:t>
            </a:r>
            <a:r>
              <a:rPr lang="en-US" sz="2400" b="1" dirty="0" smtClean="0"/>
              <a:t>Grammar </a:t>
            </a:r>
            <a:r>
              <a:rPr lang="en-US" sz="2400" b="1" dirty="0" smtClean="0"/>
              <a:t>for Simple Assignment Statements</a:t>
            </a:r>
          </a:p>
          <a:p>
            <a:r>
              <a:rPr lang="en-US" sz="2400" dirty="0" smtClean="0"/>
              <a:t> &lt;assign&gt; → &lt;id&gt; = &lt;</a:t>
            </a:r>
            <a:r>
              <a:rPr lang="en-US" sz="2400" dirty="0" err="1" smtClean="0"/>
              <a:t>expr</a:t>
            </a:r>
            <a:r>
              <a:rPr lang="en-US" sz="2400" dirty="0" smtClean="0"/>
              <a:t>&gt;  </a:t>
            </a:r>
            <a:endParaRPr lang="en-US" sz="2400" dirty="0" smtClean="0"/>
          </a:p>
          <a:p>
            <a:r>
              <a:rPr lang="en-US" sz="2400" dirty="0" smtClean="0"/>
              <a:t>&lt;</a:t>
            </a:r>
            <a:r>
              <a:rPr lang="en-US" sz="2400" dirty="0" smtClean="0"/>
              <a:t>id&gt; → A| B | C</a:t>
            </a:r>
          </a:p>
          <a:p>
            <a:r>
              <a:rPr lang="en-US" sz="2400" dirty="0" smtClean="0"/>
              <a:t>s </a:t>
            </a:r>
            <a:r>
              <a:rPr lang="en-US" sz="2400" dirty="0" smtClean="0"/>
              <a:t>&lt;</a:t>
            </a:r>
            <a:r>
              <a:rPr lang="en-US" sz="2400" dirty="0" err="1" smtClean="0"/>
              <a:t>expr</a:t>
            </a:r>
            <a:r>
              <a:rPr lang="en-US" sz="2400" dirty="0" smtClean="0"/>
              <a:t>&gt; → &lt;id&gt; + &lt;</a:t>
            </a:r>
            <a:r>
              <a:rPr lang="en-US" sz="2400" dirty="0" err="1" smtClean="0"/>
              <a:t>expr</a:t>
            </a:r>
            <a:r>
              <a:rPr lang="en-US" sz="2400" dirty="0" smtClean="0"/>
              <a:t>&gt;</a:t>
            </a:r>
          </a:p>
          <a:p>
            <a:r>
              <a:rPr lang="en-US" sz="2400" dirty="0" smtClean="0"/>
              <a:t> </a:t>
            </a:r>
            <a:r>
              <a:rPr lang="en-US" sz="2400" dirty="0" smtClean="0"/>
              <a:t>| &lt;id&gt; * &lt;</a:t>
            </a:r>
            <a:r>
              <a:rPr lang="en-US" sz="2400" dirty="0" err="1" smtClean="0"/>
              <a:t>expr</a:t>
            </a:r>
            <a:r>
              <a:rPr lang="en-US" sz="2400" dirty="0" smtClean="0"/>
              <a:t>&gt;</a:t>
            </a:r>
          </a:p>
          <a:p>
            <a:r>
              <a:rPr lang="en-US" sz="2400" dirty="0" smtClean="0"/>
              <a:t> | ( &lt;</a:t>
            </a:r>
            <a:r>
              <a:rPr lang="en-US" sz="2400" dirty="0" err="1" smtClean="0"/>
              <a:t>expr</a:t>
            </a:r>
            <a:r>
              <a:rPr lang="en-US" sz="2400" dirty="0" smtClean="0"/>
              <a:t>&gt;)  </a:t>
            </a:r>
            <a:endParaRPr lang="en-US" sz="2400" dirty="0" smtClean="0"/>
          </a:p>
          <a:p>
            <a:r>
              <a:rPr lang="en-US" sz="2400" dirty="0" smtClean="0"/>
              <a:t>| </a:t>
            </a:r>
            <a:r>
              <a:rPr lang="en-US" sz="2400" dirty="0" smtClean="0"/>
              <a:t>&lt;id&gt;</a:t>
            </a:r>
          </a:p>
          <a:p>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400800"/>
          </a:xfrm>
        </p:spPr>
        <p:txBody>
          <a:bodyPr>
            <a:normAutofit/>
          </a:bodyPr>
          <a:lstStyle/>
          <a:p>
            <a:r>
              <a:rPr lang="en-US" sz="2400" dirty="0" smtClean="0"/>
              <a:t>For example, the statement</a:t>
            </a:r>
          </a:p>
          <a:p>
            <a:r>
              <a:rPr lang="en-US" sz="2400" dirty="0" smtClean="0"/>
              <a:t>A = B * ( A + C )</a:t>
            </a:r>
          </a:p>
          <a:p>
            <a:r>
              <a:rPr lang="en-US" sz="2400" dirty="0" smtClean="0"/>
              <a:t> </a:t>
            </a:r>
            <a:r>
              <a:rPr lang="en-US" sz="2400" dirty="0" smtClean="0"/>
              <a:t>is </a:t>
            </a:r>
            <a:r>
              <a:rPr lang="en-US" sz="2400" dirty="0" smtClean="0"/>
              <a:t>generated by the leftmost derivation: </a:t>
            </a:r>
            <a:endParaRPr lang="en-US" sz="2400" dirty="0" smtClean="0"/>
          </a:p>
          <a:p>
            <a:r>
              <a:rPr lang="en-US" sz="2400" dirty="0" smtClean="0"/>
              <a:t>&lt;</a:t>
            </a:r>
            <a:r>
              <a:rPr lang="en-US" sz="2400" dirty="0" smtClean="0"/>
              <a:t>assign&gt; =&gt; &lt;id&gt; = &lt;</a:t>
            </a:r>
            <a:r>
              <a:rPr lang="en-US" sz="2400" dirty="0" err="1" smtClean="0"/>
              <a:t>expr</a:t>
            </a:r>
            <a:r>
              <a:rPr lang="en-US" sz="2400" dirty="0" smtClean="0"/>
              <a:t>&gt;</a:t>
            </a:r>
          </a:p>
          <a:p>
            <a:r>
              <a:rPr lang="en-US" sz="2400" dirty="0" smtClean="0"/>
              <a:t>=&gt; A = &lt;</a:t>
            </a:r>
            <a:r>
              <a:rPr lang="en-US" sz="2400" dirty="0" err="1" smtClean="0"/>
              <a:t>expr</a:t>
            </a:r>
            <a:r>
              <a:rPr lang="en-US" sz="2400" dirty="0" smtClean="0"/>
              <a:t>&gt;</a:t>
            </a:r>
          </a:p>
          <a:p>
            <a:r>
              <a:rPr lang="en-US" sz="2400" dirty="0" smtClean="0"/>
              <a:t>=&gt; A = &lt;id&gt; * &lt;</a:t>
            </a:r>
            <a:r>
              <a:rPr lang="en-US" sz="2400" dirty="0" err="1" smtClean="0"/>
              <a:t>expr</a:t>
            </a:r>
            <a:r>
              <a:rPr lang="en-US" sz="2400" dirty="0" smtClean="0"/>
              <a:t>&gt;</a:t>
            </a:r>
          </a:p>
          <a:p>
            <a:r>
              <a:rPr lang="en-US" sz="2400" dirty="0" smtClean="0"/>
              <a:t>=&gt; A = B * &lt;</a:t>
            </a:r>
            <a:r>
              <a:rPr lang="en-US" sz="2400" dirty="0" err="1" smtClean="0"/>
              <a:t>expr</a:t>
            </a:r>
            <a:r>
              <a:rPr lang="en-US" sz="2400" dirty="0" smtClean="0"/>
              <a:t>&gt;</a:t>
            </a:r>
            <a:endParaRPr lang="en-US" sz="2400" dirty="0" smtClean="0"/>
          </a:p>
          <a:p>
            <a:r>
              <a:rPr lang="en-US" sz="2400" dirty="0" smtClean="0"/>
              <a:t>=&gt; A = B * ( &lt;</a:t>
            </a:r>
            <a:r>
              <a:rPr lang="en-US" sz="2400" dirty="0" err="1" smtClean="0"/>
              <a:t>expr</a:t>
            </a:r>
            <a:r>
              <a:rPr lang="en-US" sz="2400" dirty="0" smtClean="0"/>
              <a:t>&gt;)</a:t>
            </a:r>
            <a:r>
              <a:rPr lang="en-US" sz="2400" dirty="0" smtClean="0"/>
              <a:t> </a:t>
            </a:r>
          </a:p>
          <a:p>
            <a:r>
              <a:rPr lang="en-US" sz="2400" dirty="0" smtClean="0"/>
              <a:t>=&gt; A = B * ( &lt;id&gt; + &lt;</a:t>
            </a:r>
            <a:r>
              <a:rPr lang="en-US" sz="2400" dirty="0" err="1" smtClean="0"/>
              <a:t>expr</a:t>
            </a:r>
            <a:r>
              <a:rPr lang="en-US" sz="2400" dirty="0" smtClean="0"/>
              <a:t>&gt;)</a:t>
            </a:r>
            <a:r>
              <a:rPr lang="en-US" sz="2400" dirty="0" smtClean="0"/>
              <a:t/>
            </a:r>
            <a:br>
              <a:rPr lang="en-US" sz="2400" dirty="0" smtClean="0"/>
            </a:br>
            <a:r>
              <a:rPr lang="en-US" sz="2400" dirty="0" smtClean="0"/>
              <a:t>=&gt; A = B * ( A + &lt;</a:t>
            </a:r>
            <a:r>
              <a:rPr lang="en-US" sz="2400" dirty="0" err="1" smtClean="0"/>
              <a:t>expr</a:t>
            </a:r>
            <a:r>
              <a:rPr lang="en-US" sz="2400" dirty="0" smtClean="0"/>
              <a:t>&gt;)</a:t>
            </a:r>
            <a:endParaRPr lang="en-US" sz="2400" dirty="0" smtClean="0"/>
          </a:p>
          <a:p>
            <a:r>
              <a:rPr lang="en-US" sz="2400" dirty="0" smtClean="0"/>
              <a:t>=&gt; A = B * ( A + &lt;id</a:t>
            </a:r>
            <a:r>
              <a:rPr lang="en-US" sz="2400" dirty="0" smtClean="0"/>
              <a:t>&gt;)</a:t>
            </a:r>
            <a:endParaRPr lang="en-US" sz="2400" dirty="0" smtClean="0"/>
          </a:p>
          <a:p>
            <a:r>
              <a:rPr lang="en-US" sz="2400" dirty="0" smtClean="0"/>
              <a:t>=&gt; A = B * ( A + C )</a:t>
            </a:r>
          </a:p>
          <a:p>
            <a:endParaRPr 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lvl="3">
              <a:buNone/>
            </a:pPr>
            <a:r>
              <a:rPr lang="en-US" sz="3200" b="1" dirty="0" smtClean="0"/>
              <a:t>Parse Trees</a:t>
            </a:r>
          </a:p>
          <a:p>
            <a:r>
              <a:rPr lang="en-US" sz="2400" dirty="0" smtClean="0"/>
              <a:t>One of the most attractive features of grammars is that they naturally describe the hierarchical syntactic structure of the sentences of the languages they define. These hierarchical structures are called </a:t>
            </a:r>
            <a:r>
              <a:rPr lang="en-US" sz="2400" b="1" dirty="0" smtClean="0"/>
              <a:t>parse trees</a:t>
            </a:r>
            <a:r>
              <a:rPr lang="en-US" dirty="0" smtClean="0"/>
              <a:t>. </a:t>
            </a:r>
            <a:endParaRPr lang="en-US" dirty="0" smtClean="0"/>
          </a:p>
          <a:p>
            <a:r>
              <a:rPr lang="en-US" sz="2400" b="1" dirty="0" smtClean="0"/>
              <a:t>A parse tree for the simple statement A = B * (A + C)</a:t>
            </a:r>
            <a:endParaRPr lang="en-US" sz="2400" dirty="0" smtClean="0"/>
          </a:p>
          <a:p>
            <a:pPr>
              <a:buNone/>
            </a:pPr>
            <a:endParaRPr lang="en-US" sz="2400" dirty="0"/>
          </a:p>
        </p:txBody>
      </p:sp>
      <p:pic>
        <p:nvPicPr>
          <p:cNvPr id="4" name="Image 114"/>
          <p:cNvPicPr/>
          <p:nvPr/>
        </p:nvPicPr>
        <p:blipFill>
          <a:blip r:embed="rId2" cstate="print"/>
          <a:stretch>
            <a:fillRect/>
          </a:stretch>
        </p:blipFill>
        <p:spPr>
          <a:xfrm>
            <a:off x="2057400" y="2971800"/>
            <a:ext cx="3810000" cy="35814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marL="342900" lvl="3" indent="-342900">
              <a:buNone/>
            </a:pPr>
            <a:r>
              <a:rPr lang="en-US" sz="2800" b="1" dirty="0" smtClean="0"/>
              <a:t>Ambiguity</a:t>
            </a:r>
          </a:p>
          <a:p>
            <a:r>
              <a:rPr lang="en-US" sz="2400" dirty="0" smtClean="0"/>
              <a:t>A grammar that generates a sentential form for which there are two or more distinct parse trees is said to be </a:t>
            </a:r>
            <a:r>
              <a:rPr lang="en-US" sz="2400" b="1" dirty="0" smtClean="0"/>
              <a:t>ambiguous</a:t>
            </a:r>
          </a:p>
          <a:p>
            <a:pPr>
              <a:buNone/>
            </a:pPr>
            <a:r>
              <a:rPr lang="en-US" sz="2400" b="1" dirty="0" smtClean="0"/>
              <a:t>An Ambiguous Grammar for Simple Assignment </a:t>
            </a:r>
            <a:r>
              <a:rPr lang="en-US" sz="2400" b="1" dirty="0" smtClean="0"/>
              <a:t>Statements:</a:t>
            </a:r>
          </a:p>
          <a:p>
            <a:r>
              <a:rPr lang="en-US" sz="2400" dirty="0" smtClean="0"/>
              <a:t> &lt;assign&gt; → &lt;id&gt; = &lt;</a:t>
            </a:r>
            <a:r>
              <a:rPr lang="en-US" sz="2400" dirty="0" err="1" smtClean="0"/>
              <a:t>expr</a:t>
            </a:r>
            <a:r>
              <a:rPr lang="en-US" sz="2400" dirty="0" smtClean="0"/>
              <a:t>&gt;</a:t>
            </a:r>
          </a:p>
          <a:p>
            <a:r>
              <a:rPr lang="en-US" sz="2400" dirty="0" smtClean="0"/>
              <a:t>  </a:t>
            </a:r>
            <a:r>
              <a:rPr lang="en-US" sz="2400" dirty="0" smtClean="0"/>
              <a:t>&lt;id&gt; → A | B | C</a:t>
            </a:r>
          </a:p>
          <a:p>
            <a:r>
              <a:rPr lang="en-US" sz="2400" dirty="0" smtClean="0"/>
              <a:t>  &lt;</a:t>
            </a:r>
            <a:r>
              <a:rPr lang="en-US" sz="2400" dirty="0" err="1" smtClean="0"/>
              <a:t>expr</a:t>
            </a:r>
            <a:r>
              <a:rPr lang="en-US" sz="2400" dirty="0" smtClean="0"/>
              <a:t>&gt; → &lt;</a:t>
            </a:r>
            <a:r>
              <a:rPr lang="en-US" sz="2400" dirty="0" err="1" smtClean="0"/>
              <a:t>expr</a:t>
            </a:r>
            <a:r>
              <a:rPr lang="en-US" sz="2400" dirty="0" smtClean="0"/>
              <a:t>&gt; + &lt;</a:t>
            </a:r>
            <a:r>
              <a:rPr lang="en-US" sz="2400" dirty="0" err="1" smtClean="0"/>
              <a:t>expr</a:t>
            </a:r>
            <a:r>
              <a:rPr lang="en-US" sz="2400" dirty="0" smtClean="0"/>
              <a:t>&gt;</a:t>
            </a:r>
          </a:p>
          <a:p>
            <a:r>
              <a:rPr lang="en-US" sz="2400" dirty="0" smtClean="0"/>
              <a:t>  | &lt;</a:t>
            </a:r>
            <a:r>
              <a:rPr lang="en-US" sz="2400" dirty="0" err="1" smtClean="0"/>
              <a:t>expr</a:t>
            </a:r>
            <a:r>
              <a:rPr lang="en-US" sz="2400" dirty="0" smtClean="0"/>
              <a:t>&gt; * &lt;</a:t>
            </a:r>
            <a:r>
              <a:rPr lang="en-US" sz="2400" dirty="0" err="1" smtClean="0"/>
              <a:t>expr</a:t>
            </a:r>
            <a:r>
              <a:rPr lang="en-US" sz="2400" dirty="0" smtClean="0"/>
              <a:t>&gt;</a:t>
            </a:r>
          </a:p>
          <a:p>
            <a:r>
              <a:rPr lang="en-US" sz="2400" dirty="0" smtClean="0"/>
              <a:t>  | ( &lt;</a:t>
            </a:r>
            <a:r>
              <a:rPr lang="en-US" sz="2400" dirty="0" err="1" smtClean="0"/>
              <a:t>expr</a:t>
            </a:r>
            <a:r>
              <a:rPr lang="en-US" sz="2400" dirty="0" smtClean="0"/>
              <a:t>&gt; </a:t>
            </a:r>
            <a:r>
              <a:rPr lang="en-US" sz="2400" dirty="0" smtClean="0"/>
              <a:t>)</a:t>
            </a:r>
          </a:p>
          <a:p>
            <a:r>
              <a:rPr lang="en-US" sz="2400" dirty="0" smtClean="0"/>
              <a:t>| </a:t>
            </a:r>
            <a:r>
              <a:rPr lang="en-US" sz="2400" dirty="0" smtClean="0"/>
              <a:t>&lt;id&gt;</a:t>
            </a:r>
          </a:p>
          <a:p>
            <a:pPr>
              <a:buNone/>
            </a:pPr>
            <a:endParaRPr lang="en-US" sz="2400" b="1" dirty="0" smtClean="0"/>
          </a:p>
          <a:p>
            <a:r>
              <a:rPr lang="en-US" sz="2400" dirty="0" smtClean="0"/>
              <a:t>The grammar of  </a:t>
            </a:r>
            <a:r>
              <a:rPr lang="en-US" sz="2400" dirty="0" smtClean="0"/>
              <a:t>is </a:t>
            </a:r>
            <a:r>
              <a:rPr lang="en-US" sz="2400" dirty="0" smtClean="0"/>
              <a:t>ambiguous because the sentence</a:t>
            </a:r>
          </a:p>
          <a:p>
            <a:r>
              <a:rPr lang="en-US" sz="2400" dirty="0" smtClean="0"/>
              <a:t>A = B + C * </a:t>
            </a:r>
            <a:r>
              <a:rPr lang="en-US" sz="2400" dirty="0" smtClean="0"/>
              <a:t>A</a:t>
            </a:r>
            <a:endParaRPr lang="en-US" sz="2400" dirty="0" smtClean="0"/>
          </a:p>
          <a:p>
            <a:r>
              <a:rPr lang="en-US" sz="2400" dirty="0" smtClean="0"/>
              <a:t>has two distinct parse </a:t>
            </a:r>
            <a:r>
              <a:rPr lang="en-US" sz="2400" dirty="0" smtClean="0"/>
              <a:t>trees as shown below</a:t>
            </a:r>
            <a:endParaRPr lang="en-US"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121"/>
          <p:cNvPicPr>
            <a:picLocks noGrp="1"/>
          </p:cNvPicPr>
          <p:nvPr>
            <p:ph idx="1"/>
          </p:nvPr>
        </p:nvPicPr>
        <p:blipFill>
          <a:blip r:embed="rId2" cstate="print"/>
          <a:stretch>
            <a:fillRect/>
          </a:stretch>
        </p:blipFill>
        <p:spPr>
          <a:xfrm>
            <a:off x="1143000" y="304800"/>
            <a:ext cx="5905500" cy="37528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r>
              <a:rPr lang="en-US" b="1" dirty="0" smtClean="0"/>
              <a:t>An Unambiguous Grammar </a:t>
            </a:r>
            <a:endParaRPr lang="en-US" b="1" dirty="0" smtClean="0"/>
          </a:p>
          <a:p>
            <a:r>
              <a:rPr lang="en-US" sz="2400" dirty="0" smtClean="0"/>
              <a:t>In above parse </a:t>
            </a:r>
            <a:r>
              <a:rPr lang="en-US" sz="2400" dirty="0" smtClean="0"/>
              <a:t>tree of a sentence with multiple operators, regardless of the particular operators involved, has the rightmost operator in the expression at the lowest point in the parse tree, with the other operators in the tree moving progressively higher as one moves to the left in the expression. </a:t>
            </a:r>
            <a:endParaRPr lang="en-US" sz="2400" dirty="0" smtClean="0"/>
          </a:p>
          <a:p>
            <a:r>
              <a:rPr lang="en-US" sz="2400" dirty="0" smtClean="0"/>
              <a:t>For </a:t>
            </a:r>
            <a:r>
              <a:rPr lang="en-US" sz="2400" dirty="0" smtClean="0"/>
              <a:t>example, in the expression A + B * C, * is the lowest in the tree, indicating it is to be done first. However, in the expression A * B + C, + is the lowest, indicating it is to be done first</a:t>
            </a:r>
            <a:r>
              <a:rPr lang="en-US" sz="2400" dirty="0" smtClean="0"/>
              <a:t>.</a:t>
            </a:r>
          </a:p>
          <a:p>
            <a:r>
              <a:rPr lang="en-US" sz="2400" dirty="0" smtClean="0"/>
              <a:t>A grammar can be written for the simple expressions we have been discussing that is both unambiguous and specifies a consistent precedence of the + and * operators, regardless of the order in which the operators appear in an expression</a:t>
            </a:r>
          </a:p>
          <a:p>
            <a:pPr>
              <a:buNone/>
            </a:pPr>
            <a:endParaRPr 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pPr>
              <a:buNone/>
            </a:pPr>
            <a:r>
              <a:rPr lang="en-US" sz="2400" dirty="0" smtClean="0"/>
              <a:t>An Unambiguous Grammar for </a:t>
            </a:r>
            <a:r>
              <a:rPr lang="en-US" sz="2400" dirty="0" smtClean="0"/>
              <a:t>Expressions</a:t>
            </a:r>
          </a:p>
          <a:p>
            <a:r>
              <a:rPr lang="en-US" sz="2400" dirty="0" smtClean="0"/>
              <a:t>&lt;assign&gt; → &lt;id&gt; = &lt;</a:t>
            </a:r>
            <a:r>
              <a:rPr lang="en-US" sz="2400" dirty="0" err="1" smtClean="0"/>
              <a:t>expr</a:t>
            </a:r>
            <a:r>
              <a:rPr lang="en-US" sz="2400" dirty="0" smtClean="0"/>
              <a:t>&gt; </a:t>
            </a:r>
            <a:endParaRPr lang="en-US" sz="2400" dirty="0" smtClean="0"/>
          </a:p>
          <a:p>
            <a:r>
              <a:rPr lang="en-US" sz="2400" dirty="0" smtClean="0"/>
              <a:t> </a:t>
            </a:r>
            <a:r>
              <a:rPr lang="en-US" sz="2400" dirty="0" smtClean="0"/>
              <a:t>&lt;id&gt; → A | B | C</a:t>
            </a:r>
          </a:p>
          <a:p>
            <a:r>
              <a:rPr lang="en-US" sz="2400" dirty="0" smtClean="0"/>
              <a:t>  &lt;</a:t>
            </a:r>
            <a:r>
              <a:rPr lang="en-US" sz="2400" dirty="0" err="1" smtClean="0"/>
              <a:t>expr</a:t>
            </a:r>
            <a:r>
              <a:rPr lang="en-US" sz="2400" dirty="0" smtClean="0"/>
              <a:t>&gt; → &lt;</a:t>
            </a:r>
            <a:r>
              <a:rPr lang="en-US" sz="2400" dirty="0" err="1" smtClean="0"/>
              <a:t>expr</a:t>
            </a:r>
            <a:r>
              <a:rPr lang="en-US" sz="2400" dirty="0" smtClean="0"/>
              <a:t>&gt; + &lt;term&gt;</a:t>
            </a:r>
          </a:p>
          <a:p>
            <a:r>
              <a:rPr lang="en-US" sz="2400" dirty="0" smtClean="0"/>
              <a:t> | &lt;term&gt;</a:t>
            </a:r>
          </a:p>
          <a:p>
            <a:r>
              <a:rPr lang="en-US" sz="2400" dirty="0" smtClean="0"/>
              <a:t>  &lt;term&gt; → &lt;term&gt; * &lt;factor&gt;</a:t>
            </a:r>
          </a:p>
          <a:p>
            <a:r>
              <a:rPr lang="en-US" sz="2400" dirty="0" smtClean="0"/>
              <a:t> | &lt;factor&gt;</a:t>
            </a:r>
          </a:p>
          <a:p>
            <a:r>
              <a:rPr lang="en-US" sz="2400" dirty="0" smtClean="0"/>
              <a:t> &lt;factor&gt; → ( &lt;</a:t>
            </a:r>
            <a:r>
              <a:rPr lang="en-US" sz="2400" dirty="0" err="1" smtClean="0"/>
              <a:t>expr</a:t>
            </a:r>
            <a:r>
              <a:rPr lang="en-US" sz="2400" dirty="0" smtClean="0"/>
              <a:t>&gt; )  | &lt;id</a:t>
            </a:r>
            <a:r>
              <a:rPr lang="en-US" sz="2400" dirty="0" smtClean="0"/>
              <a:t>&gt;</a:t>
            </a:r>
          </a:p>
          <a:p>
            <a:r>
              <a:rPr lang="en-US" sz="2400" dirty="0" smtClean="0"/>
              <a:t>unambiguous and it specifies the usual precedence order of multiplication and addition operators. </a:t>
            </a:r>
            <a:endParaRPr lang="en-US" sz="2400" dirty="0" smtClean="0"/>
          </a:p>
          <a:p>
            <a:r>
              <a:rPr lang="en-US" sz="2400" dirty="0" smtClean="0"/>
              <a:t>The following derivation of the sentence A = B + C * A uses the grammar </a:t>
            </a:r>
          </a:p>
          <a:p>
            <a:pPr>
              <a:buNone/>
            </a:pPr>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normAutofit/>
          </a:bodyPr>
          <a:lstStyle/>
          <a:p>
            <a:r>
              <a:rPr lang="en-US" sz="2400" dirty="0" smtClean="0"/>
              <a:t>&lt;assign&gt; =&gt; &lt;id&gt; = &lt;</a:t>
            </a:r>
            <a:r>
              <a:rPr lang="en-US" sz="2400" dirty="0" err="1" smtClean="0"/>
              <a:t>expr</a:t>
            </a:r>
            <a:r>
              <a:rPr lang="en-US" sz="2400" dirty="0" smtClean="0"/>
              <a:t>&gt;</a:t>
            </a:r>
          </a:p>
          <a:p>
            <a:r>
              <a:rPr lang="en-US" sz="2400" dirty="0" smtClean="0"/>
              <a:t>=&gt; A = &lt;</a:t>
            </a:r>
            <a:r>
              <a:rPr lang="en-US" sz="2400" dirty="0" err="1" smtClean="0"/>
              <a:t>expr</a:t>
            </a:r>
            <a:r>
              <a:rPr lang="en-US" sz="2400" dirty="0" smtClean="0"/>
              <a:t>&gt;</a:t>
            </a:r>
          </a:p>
          <a:p>
            <a:r>
              <a:rPr lang="en-US" sz="2400" dirty="0" smtClean="0"/>
              <a:t>=&gt; A = &lt;</a:t>
            </a:r>
            <a:r>
              <a:rPr lang="en-US" sz="2400" dirty="0" err="1" smtClean="0"/>
              <a:t>expr</a:t>
            </a:r>
            <a:r>
              <a:rPr lang="en-US" sz="2400" dirty="0" smtClean="0"/>
              <a:t>&gt; + &lt;term&gt;</a:t>
            </a:r>
          </a:p>
          <a:p>
            <a:r>
              <a:rPr lang="en-US" sz="2400" dirty="0" smtClean="0"/>
              <a:t>=&gt; A = &lt;term&gt; + &lt;term&gt;</a:t>
            </a:r>
          </a:p>
          <a:p>
            <a:r>
              <a:rPr lang="en-US" sz="2400" dirty="0" smtClean="0"/>
              <a:t>=&gt; A = &lt;factor&gt; + &lt;term&gt;</a:t>
            </a:r>
          </a:p>
          <a:p>
            <a:r>
              <a:rPr lang="en-US" sz="2400" dirty="0" smtClean="0"/>
              <a:t>=&gt; A = &lt;id&gt; + &lt;term&gt;</a:t>
            </a:r>
          </a:p>
          <a:p>
            <a:r>
              <a:rPr lang="en-US" sz="2400" dirty="0" smtClean="0"/>
              <a:t>=&gt; A = B + &lt;term</a:t>
            </a:r>
            <a:r>
              <a:rPr lang="en-US" sz="2400" dirty="0" smtClean="0"/>
              <a:t>&gt;</a:t>
            </a:r>
            <a:endParaRPr lang="en-US" sz="2400" dirty="0" smtClean="0"/>
          </a:p>
          <a:p>
            <a:r>
              <a:rPr lang="en-US" sz="2400" dirty="0" smtClean="0"/>
              <a:t>=&gt; A = B + &lt;term&gt; * &lt;factor&gt;</a:t>
            </a:r>
          </a:p>
          <a:p>
            <a:r>
              <a:rPr lang="en-US" sz="2400" dirty="0" smtClean="0"/>
              <a:t>=&gt; A = B + &lt;factor&gt; * &lt;factor</a:t>
            </a:r>
            <a:r>
              <a:rPr lang="en-US" sz="2400" dirty="0" smtClean="0"/>
              <a:t>&gt;</a:t>
            </a:r>
            <a:r>
              <a:rPr lang="en-US" sz="2400" dirty="0" smtClean="0"/>
              <a:t/>
            </a:r>
            <a:br>
              <a:rPr lang="en-US" sz="2400" dirty="0" smtClean="0"/>
            </a:br>
            <a:r>
              <a:rPr lang="en-US" sz="2400" dirty="0" smtClean="0"/>
              <a:t>=&gt;A=B+&lt;</a:t>
            </a:r>
            <a:r>
              <a:rPr lang="en-US" sz="2400" dirty="0" smtClean="0"/>
              <a:t>id&gt; * &lt;factor&gt;</a:t>
            </a:r>
          </a:p>
          <a:p>
            <a:r>
              <a:rPr lang="en-US" sz="2400" dirty="0" smtClean="0"/>
              <a:t>=&gt;A=B+C </a:t>
            </a:r>
            <a:r>
              <a:rPr lang="en-US" sz="2400" dirty="0" smtClean="0"/>
              <a:t>* &lt;factor&gt;</a:t>
            </a:r>
          </a:p>
          <a:p>
            <a:r>
              <a:rPr lang="en-US" sz="2400" dirty="0" smtClean="0"/>
              <a:t>=&gt;A=B+C </a:t>
            </a:r>
            <a:r>
              <a:rPr lang="en-US" sz="2400" dirty="0" smtClean="0"/>
              <a:t>* &lt;id&gt;</a:t>
            </a:r>
          </a:p>
          <a:p>
            <a:r>
              <a:rPr lang="en-US" sz="2400" dirty="0" smtClean="0"/>
              <a:t>=&gt;A=B+C </a:t>
            </a:r>
            <a:r>
              <a:rPr lang="en-US" sz="2400" dirty="0" smtClean="0"/>
              <a:t>* A</a:t>
            </a:r>
          </a:p>
          <a:p>
            <a:endParaRPr lang="en-US" sz="24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r>
              <a:rPr lang="en-US" sz="2400" b="1" dirty="0" smtClean="0"/>
              <a:t>The unique </a:t>
            </a:r>
            <a:r>
              <a:rPr lang="en-US" sz="2400" b="1" dirty="0" err="1" smtClean="0"/>
              <a:t>parse</a:t>
            </a:r>
            <a:r>
              <a:rPr lang="en-US" sz="2400" b="1" dirty="0" err="1" smtClean="0"/>
              <a:t>tree</a:t>
            </a:r>
            <a:r>
              <a:rPr lang="en-US" sz="2400" b="1" dirty="0" smtClean="0"/>
              <a:t> for A = B + C * A using an unambiguous grammar</a:t>
            </a:r>
            <a:endParaRPr lang="en-US" sz="2400" dirty="0" smtClean="0"/>
          </a:p>
          <a:p>
            <a:pPr>
              <a:buNone/>
            </a:pPr>
            <a:endParaRPr lang="en-US" sz="2400" b="1" dirty="0" smtClean="0"/>
          </a:p>
          <a:p>
            <a:pPr>
              <a:buNone/>
            </a:pPr>
            <a:endParaRPr lang="en-US" sz="2400" dirty="0"/>
          </a:p>
        </p:txBody>
      </p:sp>
      <p:pic>
        <p:nvPicPr>
          <p:cNvPr id="4" name="Image 143"/>
          <p:cNvPicPr/>
          <p:nvPr/>
        </p:nvPicPr>
        <p:blipFill>
          <a:blip r:embed="rId2" cstate="print"/>
          <a:stretch>
            <a:fillRect/>
          </a:stretch>
        </p:blipFill>
        <p:spPr>
          <a:xfrm>
            <a:off x="2429933" y="986367"/>
            <a:ext cx="4284133" cy="4885266"/>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096000"/>
          </a:xfrm>
        </p:spPr>
        <p:txBody>
          <a:bodyPr/>
          <a:lstStyle/>
          <a:p>
            <a:pPr lvl="3">
              <a:buNone/>
            </a:pPr>
            <a:r>
              <a:rPr lang="en-US" sz="2400" b="1" dirty="0" smtClean="0"/>
              <a:t>An Unambiguous Grammar for if-else</a:t>
            </a:r>
            <a:endParaRPr lang="en-US" sz="2400" dirty="0" smtClean="0"/>
          </a:p>
          <a:p>
            <a:r>
              <a:rPr lang="en-US" sz="2400" dirty="0" smtClean="0"/>
              <a:t>The BNF rules for a Java </a:t>
            </a:r>
            <a:r>
              <a:rPr lang="en-US" sz="2400" b="1" dirty="0" smtClean="0"/>
              <a:t>if-else </a:t>
            </a:r>
            <a:r>
              <a:rPr lang="en-US" sz="2400" dirty="0" smtClean="0"/>
              <a:t>statement are as follows:  &lt;</a:t>
            </a:r>
            <a:r>
              <a:rPr lang="en-US" sz="2400" dirty="0" err="1" smtClean="0"/>
              <a:t>if_stmt</a:t>
            </a:r>
            <a:r>
              <a:rPr lang="en-US" sz="2400" dirty="0" smtClean="0"/>
              <a:t>&gt; → </a:t>
            </a:r>
            <a:r>
              <a:rPr lang="en-US" sz="2400" b="1" dirty="0" smtClean="0"/>
              <a:t>if </a:t>
            </a:r>
            <a:r>
              <a:rPr lang="en-US" sz="2400" dirty="0" smtClean="0"/>
              <a:t>(&lt;</a:t>
            </a:r>
            <a:r>
              <a:rPr lang="en-US" sz="2400" dirty="0" err="1" smtClean="0"/>
              <a:t>logic_expr</a:t>
            </a:r>
            <a:r>
              <a:rPr lang="en-US" sz="2400" dirty="0" smtClean="0"/>
              <a:t>&gt;) &lt;stmt&gt;</a:t>
            </a:r>
          </a:p>
          <a:p>
            <a:r>
              <a:rPr lang="en-US" sz="2400" dirty="0" smtClean="0"/>
              <a:t>  </a:t>
            </a:r>
            <a:r>
              <a:rPr lang="en-US" sz="2400" b="1" dirty="0" smtClean="0"/>
              <a:t>if </a:t>
            </a:r>
            <a:r>
              <a:rPr lang="en-US" sz="2400" dirty="0" smtClean="0"/>
              <a:t>(&lt;</a:t>
            </a:r>
            <a:r>
              <a:rPr lang="en-US" sz="2400" dirty="0" err="1" smtClean="0"/>
              <a:t>logic_expr</a:t>
            </a:r>
            <a:r>
              <a:rPr lang="en-US" sz="2400" dirty="0" smtClean="0"/>
              <a:t>&gt;) &lt;stmt&gt; </a:t>
            </a:r>
            <a:r>
              <a:rPr lang="en-US" sz="2400" b="1" dirty="0" smtClean="0"/>
              <a:t>else </a:t>
            </a:r>
            <a:r>
              <a:rPr lang="en-US" sz="2400" dirty="0" smtClean="0"/>
              <a:t>&lt;stmt&gt;</a:t>
            </a:r>
          </a:p>
          <a:p>
            <a:r>
              <a:rPr lang="en-US" sz="2400" dirty="0" smtClean="0"/>
              <a:t>If we also have &lt;stmt&gt; → &lt;</a:t>
            </a:r>
            <a:r>
              <a:rPr lang="en-US" sz="2400" dirty="0" err="1" smtClean="0"/>
              <a:t>if_stmt</a:t>
            </a:r>
            <a:r>
              <a:rPr lang="en-US" sz="2400" dirty="0" smtClean="0"/>
              <a:t>&gt;,</a:t>
            </a:r>
          </a:p>
          <a:p>
            <a:r>
              <a:rPr lang="en-US" sz="2400" dirty="0" smtClean="0"/>
              <a:t> </a:t>
            </a:r>
            <a:r>
              <a:rPr lang="en-US" sz="2400" dirty="0" smtClean="0"/>
              <a:t>this grammar is ambiguous. The simplest sentential form that illustrates this ambiguity is</a:t>
            </a:r>
          </a:p>
          <a:p>
            <a:r>
              <a:rPr lang="en-US" sz="2400" dirty="0" smtClean="0"/>
              <a:t>  </a:t>
            </a:r>
            <a:r>
              <a:rPr lang="en-US" sz="2400" b="1" dirty="0" smtClean="0"/>
              <a:t>if </a:t>
            </a:r>
            <a:r>
              <a:rPr lang="en-US" sz="2400" dirty="0" smtClean="0"/>
              <a:t>(&lt;</a:t>
            </a:r>
            <a:r>
              <a:rPr lang="en-US" sz="2400" dirty="0" err="1" smtClean="0"/>
              <a:t>logic_expr</a:t>
            </a:r>
            <a:r>
              <a:rPr lang="en-US" sz="2400" dirty="0" smtClean="0"/>
              <a:t>&gt;) </a:t>
            </a:r>
            <a:r>
              <a:rPr lang="en-US" sz="2400" b="1" dirty="0" smtClean="0"/>
              <a:t>if </a:t>
            </a:r>
            <a:r>
              <a:rPr lang="en-US" sz="2400" dirty="0" smtClean="0"/>
              <a:t>(&lt;</a:t>
            </a:r>
            <a:r>
              <a:rPr lang="en-US" sz="2400" dirty="0" err="1" smtClean="0"/>
              <a:t>logic_expr</a:t>
            </a:r>
            <a:r>
              <a:rPr lang="en-US" sz="2400" dirty="0" smtClean="0"/>
              <a:t>&gt;) &lt;stmt&gt; </a:t>
            </a:r>
            <a:r>
              <a:rPr lang="en-US" sz="2400" b="1" dirty="0" smtClean="0"/>
              <a:t>else </a:t>
            </a:r>
            <a:r>
              <a:rPr lang="en-US" sz="2400" dirty="0" smtClean="0"/>
              <a:t>&lt;stmt&gt;</a:t>
            </a:r>
          </a:p>
          <a:p>
            <a:r>
              <a:rPr lang="en-US" dirty="0" smtClean="0"/>
              <a:t>The two parse trees </a:t>
            </a:r>
            <a:r>
              <a:rPr lang="en-US" dirty="0" smtClean="0"/>
              <a:t>show </a:t>
            </a:r>
            <a:r>
              <a:rPr lang="en-US" dirty="0" smtClean="0"/>
              <a:t>the ambiguity of this sentential form. Consider the following example of this construct</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165"/>
          <p:cNvPicPr>
            <a:picLocks noGrp="1"/>
          </p:cNvPicPr>
          <p:nvPr>
            <p:ph idx="1"/>
          </p:nvPr>
        </p:nvPicPr>
        <p:blipFill>
          <a:blip r:embed="rId2" cstate="print"/>
          <a:stretch>
            <a:fillRect/>
          </a:stretch>
        </p:blipFill>
        <p:spPr>
          <a:xfrm>
            <a:off x="1841133" y="381000"/>
            <a:ext cx="5461734" cy="6096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172200"/>
          </a:xfrm>
        </p:spPr>
        <p:txBody>
          <a:bodyPr/>
          <a:lstStyle/>
          <a:p>
            <a:pPr marL="342900" lvl="2" indent="-342900"/>
            <a:r>
              <a:rPr lang="en-US" b="1" dirty="0" smtClean="0"/>
              <a:t>Extended BNF</a:t>
            </a:r>
          </a:p>
          <a:p>
            <a:r>
              <a:rPr lang="en-US" sz="2400" dirty="0" smtClean="0"/>
              <a:t>Because of a few minor inconveniences in BNF, it has been extended in several ways. Most extended versions are called Extended BNF, or simply EBNF, even though they are not all exactly the same. The extensions do not enhance the descriptive power of BNF; they only increase its readability and </a:t>
            </a:r>
            <a:r>
              <a:rPr lang="en-US" sz="2400" dirty="0" err="1" smtClean="0"/>
              <a:t>writability</a:t>
            </a:r>
            <a:r>
              <a:rPr lang="en-US" sz="2400" dirty="0" smtClean="0"/>
              <a:t>.</a:t>
            </a:r>
          </a:p>
          <a:p>
            <a:r>
              <a:rPr lang="en-US" sz="2400" dirty="0" smtClean="0"/>
              <a:t>Three extensions are commonly included in the various versions of EBNF. The first of these denotes an optional part of an RHS, which is delimited by brackets. For example, a C </a:t>
            </a:r>
            <a:r>
              <a:rPr lang="en-US" sz="2400" b="1" dirty="0" smtClean="0"/>
              <a:t>if-else </a:t>
            </a:r>
            <a:r>
              <a:rPr lang="en-US" sz="2400" dirty="0" smtClean="0"/>
              <a:t>statement can be described as</a:t>
            </a:r>
          </a:p>
          <a:p>
            <a:r>
              <a:rPr lang="en-US" sz="2400" dirty="0" smtClean="0"/>
              <a:t>  &lt;</a:t>
            </a:r>
            <a:r>
              <a:rPr lang="en-US" sz="2400" dirty="0" err="1" smtClean="0"/>
              <a:t>if_stmt</a:t>
            </a:r>
            <a:r>
              <a:rPr lang="en-US" sz="2400" dirty="0" smtClean="0"/>
              <a:t>&gt; → </a:t>
            </a:r>
            <a:r>
              <a:rPr lang="en-US" sz="2400" b="1" dirty="0" smtClean="0"/>
              <a:t>if </a:t>
            </a:r>
            <a:r>
              <a:rPr lang="en-US" sz="2400" dirty="0" smtClean="0"/>
              <a:t>(&lt;expression&gt;) &lt;statement&gt; [</a:t>
            </a:r>
            <a:r>
              <a:rPr lang="en-US" sz="2400" b="1" dirty="0" smtClean="0"/>
              <a:t>else </a:t>
            </a:r>
            <a:r>
              <a:rPr lang="en-US" sz="2400" dirty="0" smtClean="0"/>
              <a:t>&lt;statement&gt;]</a:t>
            </a:r>
          </a:p>
          <a:p>
            <a:endParaRPr lang="en-US"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lnSpcReduction="10000"/>
          </a:bodyPr>
          <a:lstStyle/>
          <a:p>
            <a:r>
              <a:rPr lang="en-US" sz="2400" dirty="0" smtClean="0"/>
              <a:t>Without the use of the brackets, the syntactic description of this statement would require the following two rules:</a:t>
            </a:r>
          </a:p>
          <a:p>
            <a:r>
              <a:rPr lang="en-US" sz="2400" dirty="0" smtClean="0"/>
              <a:t>  &lt;</a:t>
            </a:r>
            <a:r>
              <a:rPr lang="en-US" sz="2400" dirty="0" err="1" smtClean="0"/>
              <a:t>if_stmt</a:t>
            </a:r>
            <a:r>
              <a:rPr lang="en-US" sz="2400" dirty="0" smtClean="0"/>
              <a:t>&gt; → </a:t>
            </a:r>
            <a:r>
              <a:rPr lang="en-US" sz="2400" b="1" dirty="0" smtClean="0"/>
              <a:t>if </a:t>
            </a:r>
            <a:r>
              <a:rPr lang="en-US" sz="2400" dirty="0" smtClean="0"/>
              <a:t>(&lt;expression&gt;) &lt;statement&gt;</a:t>
            </a:r>
          </a:p>
          <a:p>
            <a:r>
              <a:rPr lang="en-US" sz="2400" dirty="0" smtClean="0"/>
              <a:t>  |</a:t>
            </a:r>
            <a:r>
              <a:rPr lang="en-US" sz="2400" b="1" dirty="0" smtClean="0"/>
              <a:t>if </a:t>
            </a:r>
            <a:r>
              <a:rPr lang="en-US" sz="2400" dirty="0" smtClean="0"/>
              <a:t>(&lt;expression&gt;) &lt;statement&gt; </a:t>
            </a:r>
            <a:r>
              <a:rPr lang="en-US" sz="2400" b="1" dirty="0" smtClean="0"/>
              <a:t>else </a:t>
            </a:r>
            <a:r>
              <a:rPr lang="en-US" sz="2400" dirty="0" smtClean="0"/>
              <a:t>&lt;statement&gt;</a:t>
            </a:r>
          </a:p>
          <a:p>
            <a:r>
              <a:rPr lang="en-US" sz="2400" dirty="0" smtClean="0"/>
              <a:t>The second extension is the use of braces in a RHS to indicate that the enclosed part can be repeated indefinitely or left out altogether. This extension allows lists to be built with a single rule, instead of using recursion and two rules. For example, lists of identifiers separated by commas can be described by the following rule:</a:t>
            </a:r>
          </a:p>
          <a:p>
            <a:r>
              <a:rPr lang="en-US" sz="2400" dirty="0" smtClean="0"/>
              <a:t> &lt;</a:t>
            </a:r>
            <a:r>
              <a:rPr lang="en-US" sz="2400" dirty="0" err="1" smtClean="0"/>
              <a:t>ident_list</a:t>
            </a:r>
            <a:r>
              <a:rPr lang="en-US" sz="2400" dirty="0" smtClean="0"/>
              <a:t>&gt; → &lt;identifier&gt; {, &lt;identifier&gt;}</a:t>
            </a:r>
          </a:p>
          <a:p>
            <a:r>
              <a:rPr lang="en-US" sz="2400" dirty="0" smtClean="0"/>
              <a:t>This is a replacement of the recursion by a form of implied iteration; the </a:t>
            </a:r>
            <a:r>
              <a:rPr lang="en-US" sz="2400" dirty="0" smtClean="0"/>
              <a:t>part </a:t>
            </a:r>
            <a:r>
              <a:rPr lang="en-US" sz="2400" dirty="0" smtClean="0"/>
              <a:t>enclosed within braces can be iterated any number of times.</a:t>
            </a:r>
          </a:p>
          <a:p>
            <a:endParaRPr lang="en-US" sz="2400" dirty="0" smtClean="0"/>
          </a:p>
          <a:p>
            <a:r>
              <a:rPr lang="en-US" sz="2400" dirty="0" smtClean="0"/>
              <a:t/>
            </a:r>
            <a:br>
              <a:rPr lang="en-US" sz="2400" dirty="0" smtClean="0"/>
            </a:br>
            <a:endParaRPr lang="en-US"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457200"/>
            <a:ext cx="8229600" cy="6019800"/>
          </a:xfrm>
        </p:spPr>
        <p:txBody>
          <a:bodyPr>
            <a:normAutofit/>
          </a:bodyPr>
          <a:lstStyle/>
          <a:p>
            <a:r>
              <a:rPr lang="en-US" sz="2400" dirty="0" smtClean="0"/>
              <a:t>The third common extension deals with multiple-choice options. When a single element must be chosen from a group, the options are placed in parentheses and separated by the OR operator, |. For example,</a:t>
            </a:r>
          </a:p>
          <a:p>
            <a:r>
              <a:rPr lang="en-US" sz="2400" dirty="0" smtClean="0"/>
              <a:t>  &lt;term&gt; → &lt;term&gt; (* | / | %) &lt;factor&gt;</a:t>
            </a:r>
          </a:p>
          <a:p>
            <a:r>
              <a:rPr lang="en-US" sz="2400" dirty="0" smtClean="0"/>
              <a:t>In BNF, a description of this &lt;term&gt; would require the following three rules:  &lt;term&gt; → &lt;term&gt; * &lt;factor&gt;</a:t>
            </a:r>
          </a:p>
          <a:p>
            <a:r>
              <a:rPr lang="en-US" sz="2400" dirty="0" smtClean="0"/>
              <a:t> | &lt;term&gt; / &lt;factor&gt;</a:t>
            </a:r>
          </a:p>
          <a:p>
            <a:r>
              <a:rPr lang="en-US" sz="2400" dirty="0" smtClean="0"/>
              <a:t> | &lt;term&gt; % &lt;factor&gt;</a:t>
            </a:r>
          </a:p>
          <a:p>
            <a:r>
              <a:rPr lang="en-US" sz="2400" dirty="0" smtClean="0"/>
              <a:t>The brackets, braces, and parentheses in the EBNF extensions are </a:t>
            </a:r>
            <a:r>
              <a:rPr lang="en-US" sz="2400" b="1" dirty="0" err="1" smtClean="0"/>
              <a:t>metasymbols</a:t>
            </a:r>
            <a:r>
              <a:rPr lang="en-US" sz="2400" dirty="0" smtClean="0"/>
              <a:t>, which means they are notational tools and not terminal symbols in the syntactic entities they help describe. </a:t>
            </a:r>
            <a:endParaRPr lang="en-US" sz="2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lstStyle/>
          <a:p>
            <a:r>
              <a:rPr lang="en-US" sz="2400" dirty="0" smtClean="0"/>
              <a:t>BNF and </a:t>
            </a:r>
            <a:r>
              <a:rPr lang="en-US" sz="2400" dirty="0" smtClean="0"/>
              <a:t>EBNF Versions </a:t>
            </a:r>
            <a:r>
              <a:rPr lang="en-US" sz="2400" dirty="0" smtClean="0"/>
              <a:t>of an Expression </a:t>
            </a:r>
            <a:r>
              <a:rPr lang="en-US" sz="2400" dirty="0" smtClean="0"/>
              <a:t>Grammar example</a:t>
            </a:r>
            <a:endParaRPr lang="en-US" sz="2400" dirty="0" smtClean="0"/>
          </a:p>
          <a:p>
            <a:r>
              <a:rPr lang="en-US" sz="2400" b="1" dirty="0" smtClean="0"/>
              <a:t>BNF:</a:t>
            </a:r>
          </a:p>
          <a:p>
            <a:r>
              <a:rPr lang="en-US" sz="2400" dirty="0" smtClean="0"/>
              <a:t>  &lt;</a:t>
            </a:r>
            <a:r>
              <a:rPr lang="en-US" sz="2400" dirty="0" err="1" smtClean="0"/>
              <a:t>expr</a:t>
            </a:r>
            <a:r>
              <a:rPr lang="en-US" sz="2400" dirty="0" smtClean="0"/>
              <a:t>&gt; → &lt;</a:t>
            </a:r>
            <a:r>
              <a:rPr lang="en-US" sz="2400" dirty="0" err="1" smtClean="0"/>
              <a:t>expr</a:t>
            </a:r>
            <a:r>
              <a:rPr lang="en-US" sz="2400" dirty="0" smtClean="0"/>
              <a:t>&gt; + &lt;term&gt;</a:t>
            </a:r>
          </a:p>
          <a:p>
            <a:r>
              <a:rPr lang="en-US" sz="2400" dirty="0" smtClean="0"/>
              <a:t>  | &lt;</a:t>
            </a:r>
            <a:r>
              <a:rPr lang="en-US" sz="2400" dirty="0" err="1" smtClean="0"/>
              <a:t>expr</a:t>
            </a:r>
            <a:r>
              <a:rPr lang="en-US" sz="2400" dirty="0" smtClean="0"/>
              <a:t>&gt; - &lt;term&gt;</a:t>
            </a:r>
          </a:p>
          <a:p>
            <a:r>
              <a:rPr lang="en-US" sz="2400" dirty="0" smtClean="0"/>
              <a:t> | &lt;term</a:t>
            </a:r>
            <a:r>
              <a:rPr lang="en-US" sz="2400" dirty="0" smtClean="0"/>
              <a:t>&gt;</a:t>
            </a:r>
            <a:r>
              <a:rPr lang="en-US" sz="2400" dirty="0" smtClean="0"/>
              <a:t/>
            </a:r>
            <a:br>
              <a:rPr lang="en-US" sz="2400" dirty="0" smtClean="0"/>
            </a:br>
            <a:r>
              <a:rPr lang="en-US" sz="2400" dirty="0" smtClean="0"/>
              <a:t>  &lt;term&gt; → &lt;term&gt; * &lt;factor&gt;</a:t>
            </a:r>
          </a:p>
          <a:p>
            <a:r>
              <a:rPr lang="en-US" sz="2400" dirty="0" smtClean="0"/>
              <a:t> | &lt;term&gt; / &lt;factor&gt;</a:t>
            </a:r>
          </a:p>
          <a:p>
            <a:r>
              <a:rPr lang="en-US" sz="2400" dirty="0" smtClean="0"/>
              <a:t> | &lt;factor&gt;</a:t>
            </a:r>
          </a:p>
          <a:p>
            <a:r>
              <a:rPr lang="en-US" sz="2400" dirty="0" smtClean="0"/>
              <a:t> &lt;factor&gt; → &lt;exp&gt; ** &lt;factor&gt;  &lt;exp&gt;</a:t>
            </a:r>
          </a:p>
          <a:p>
            <a:r>
              <a:rPr lang="en-US" sz="2400" dirty="0" smtClean="0"/>
              <a:t> &lt;exp&gt; → (&lt;</a:t>
            </a:r>
            <a:r>
              <a:rPr lang="en-US" sz="2400" dirty="0" err="1" smtClean="0"/>
              <a:t>expr</a:t>
            </a:r>
            <a:r>
              <a:rPr lang="en-US" sz="2400" dirty="0" smtClean="0"/>
              <a:t>&gt;) </a:t>
            </a:r>
            <a:endParaRPr lang="en-US" sz="2400" dirty="0" smtClean="0"/>
          </a:p>
          <a:p>
            <a:r>
              <a:rPr lang="en-US" sz="2400" dirty="0" smtClean="0"/>
              <a:t> </a:t>
            </a:r>
            <a:r>
              <a:rPr lang="en-US" sz="2400" dirty="0" smtClean="0"/>
              <a:t>| id</a:t>
            </a:r>
          </a:p>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b="1" dirty="0" smtClean="0"/>
              <a:t>EBNF:</a:t>
            </a:r>
          </a:p>
          <a:p>
            <a:r>
              <a:rPr lang="en-US" sz="2400" dirty="0" smtClean="0"/>
              <a:t>  &lt;</a:t>
            </a:r>
            <a:r>
              <a:rPr lang="en-US" sz="2400" dirty="0" err="1" smtClean="0"/>
              <a:t>expr</a:t>
            </a:r>
            <a:r>
              <a:rPr lang="en-US" sz="2400" dirty="0" smtClean="0"/>
              <a:t>&gt; → &lt;term&gt; {(+ | -) &lt;term&gt;}</a:t>
            </a:r>
          </a:p>
          <a:p>
            <a:r>
              <a:rPr lang="en-US" sz="2400" dirty="0" smtClean="0"/>
              <a:t> &lt;term&gt; → &lt;factor&gt; {(* | /) &lt;factor&gt;}  &lt;factor&gt; → &lt;exp&gt; { ** &lt;exp&gt;}</a:t>
            </a:r>
          </a:p>
          <a:p>
            <a:r>
              <a:rPr lang="en-US" sz="2400" dirty="0" smtClean="0"/>
              <a:t> &lt;exp&gt; → (&lt;</a:t>
            </a:r>
            <a:r>
              <a:rPr lang="en-US" sz="2400" dirty="0" err="1" smtClean="0"/>
              <a:t>expr</a:t>
            </a:r>
            <a:r>
              <a:rPr lang="en-US" sz="2400" dirty="0" smtClean="0"/>
              <a:t>&gt;)  | id</a:t>
            </a:r>
          </a:p>
          <a:p>
            <a:r>
              <a:rPr lang="en-US" sz="2400" dirty="0" smtClean="0"/>
              <a:t>The BNF rule</a:t>
            </a:r>
          </a:p>
          <a:p>
            <a:r>
              <a:rPr lang="en-US" sz="2400" dirty="0" smtClean="0"/>
              <a:t>  &lt;</a:t>
            </a:r>
            <a:r>
              <a:rPr lang="en-US" sz="2400" dirty="0" err="1" smtClean="0"/>
              <a:t>expr</a:t>
            </a:r>
            <a:r>
              <a:rPr lang="en-US" sz="2400" dirty="0" smtClean="0"/>
              <a:t>&gt; → &lt;</a:t>
            </a:r>
            <a:r>
              <a:rPr lang="en-US" sz="2400" dirty="0" err="1" smtClean="0"/>
              <a:t>expr</a:t>
            </a:r>
            <a:r>
              <a:rPr lang="en-US" sz="2400" dirty="0" smtClean="0"/>
              <a:t>&gt; + &lt;term&gt;</a:t>
            </a:r>
          </a:p>
          <a:p>
            <a:r>
              <a:rPr lang="en-US" sz="2400" dirty="0" smtClean="0"/>
              <a:t>clearly specifies—in fact forces—the + operator to be left associative. However, the EBNF version,</a:t>
            </a:r>
          </a:p>
          <a:p>
            <a:r>
              <a:rPr lang="en-US" sz="2400" dirty="0" smtClean="0"/>
              <a:t>  &lt;</a:t>
            </a:r>
            <a:r>
              <a:rPr lang="en-US" sz="2400" dirty="0" err="1" smtClean="0"/>
              <a:t>expr</a:t>
            </a:r>
            <a:r>
              <a:rPr lang="en-US" sz="2400" dirty="0" smtClean="0"/>
              <a:t>&gt; → &lt;term&gt; {+ &lt;term&gt;}</a:t>
            </a:r>
          </a:p>
          <a:p>
            <a:endParaRPr lang="en-US" sz="2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248400"/>
          </a:xfrm>
        </p:spPr>
        <p:txBody>
          <a:bodyPr>
            <a:normAutofit lnSpcReduction="10000"/>
          </a:bodyPr>
          <a:lstStyle/>
          <a:p>
            <a:pPr marL="342900" lvl="1" indent="-342900">
              <a:buNone/>
            </a:pPr>
            <a:r>
              <a:rPr lang="en-US" b="1" dirty="0" smtClean="0"/>
              <a:t>Attribute Grammars</a:t>
            </a:r>
          </a:p>
          <a:p>
            <a:r>
              <a:rPr lang="en-US" sz="2400" dirty="0" smtClean="0"/>
              <a:t>An </a:t>
            </a:r>
            <a:r>
              <a:rPr lang="en-US" sz="2400" b="1" dirty="0" smtClean="0"/>
              <a:t>attribute grammar </a:t>
            </a:r>
            <a:r>
              <a:rPr lang="en-US" sz="2400" dirty="0" smtClean="0"/>
              <a:t>is a device used to describe more of the structure of a programming language than can be described with a context-free grammar.</a:t>
            </a:r>
          </a:p>
          <a:p>
            <a:r>
              <a:rPr lang="en-US" sz="2400" dirty="0" smtClean="0"/>
              <a:t>An attribute grammar is an extension to a context-free grammar. The extension allows certain language rules to be conveniently described, such as type compatibility</a:t>
            </a:r>
            <a:r>
              <a:rPr lang="en-US" sz="2400" dirty="0" smtClean="0"/>
              <a:t>.</a:t>
            </a:r>
          </a:p>
          <a:p>
            <a:pPr>
              <a:buNone/>
            </a:pPr>
            <a:r>
              <a:rPr lang="en-US" sz="2400" b="1" dirty="0" smtClean="0"/>
              <a:t>Static Semantics:</a:t>
            </a:r>
          </a:p>
          <a:p>
            <a:r>
              <a:rPr lang="en-US" sz="2400" dirty="0" smtClean="0"/>
              <a:t>There are some characteristics of programming languages that are difficult to describe with BNF, and some that are impossible. As an example of a syntax rule that is difficult to specify with BNF, consider type compatibility rules</a:t>
            </a:r>
            <a:r>
              <a:rPr lang="en-US" sz="2400" dirty="0" smtClean="0"/>
              <a:t>.</a:t>
            </a:r>
          </a:p>
          <a:p>
            <a:r>
              <a:rPr lang="en-US" sz="2400" dirty="0" smtClean="0"/>
              <a:t>The </a:t>
            </a:r>
            <a:r>
              <a:rPr lang="en-US" sz="2400" b="1" dirty="0" smtClean="0"/>
              <a:t>static semantics </a:t>
            </a:r>
            <a:r>
              <a:rPr lang="en-US" sz="2400" dirty="0" smtClean="0"/>
              <a:t>of a language is only indirectly related to the meaning of programs during execution; rather, it has to do with the legal forms of programs (syntax rather than semantics). </a:t>
            </a:r>
            <a:endParaRPr lang="en-US" sz="2400" b="1"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400800"/>
          </a:xfrm>
        </p:spPr>
        <p:txBody>
          <a:bodyPr>
            <a:normAutofit/>
          </a:bodyPr>
          <a:lstStyle/>
          <a:p>
            <a:pPr marL="342900" lvl="2" indent="-342900">
              <a:buNone/>
            </a:pPr>
            <a:r>
              <a:rPr lang="en-US" b="1" dirty="0" smtClean="0"/>
              <a:t>Intrinsic </a:t>
            </a:r>
            <a:r>
              <a:rPr lang="en-US" b="1" dirty="0" smtClean="0"/>
              <a:t>Attributes:</a:t>
            </a:r>
          </a:p>
          <a:p>
            <a:pPr marL="342900" lvl="2" indent="-342900"/>
            <a:r>
              <a:rPr lang="en-US" b="1" dirty="0" smtClean="0"/>
              <a:t>Intrinsic attributes </a:t>
            </a:r>
            <a:r>
              <a:rPr lang="en-US" dirty="0" smtClean="0"/>
              <a:t>are synthesized attributes of leaf nodes whose values are determined outside the parse tree</a:t>
            </a:r>
            <a:r>
              <a:rPr lang="en-US" dirty="0" smtClean="0"/>
              <a:t>.</a:t>
            </a:r>
          </a:p>
          <a:p>
            <a:pPr marL="342900" lvl="2" indent="-342900"/>
            <a:r>
              <a:rPr lang="en-US" dirty="0" smtClean="0"/>
              <a:t>For example, the type of an instance of a variable in a program could come from the symbol table, which is used to store variable names and their types</a:t>
            </a:r>
            <a:endParaRPr lang="en-US" b="1" dirty="0" smtClean="0"/>
          </a:p>
          <a:p>
            <a:pPr marL="342900" lvl="2" indent="-342900">
              <a:buNone/>
            </a:pPr>
            <a:r>
              <a:rPr lang="en-US" b="1" dirty="0" smtClean="0"/>
              <a:t>Examples of Attribute Grammars</a:t>
            </a:r>
          </a:p>
          <a:p>
            <a:r>
              <a:rPr lang="en-US" sz="2400" dirty="0" smtClean="0"/>
              <a:t>when there is more than one occurrence of a </a:t>
            </a:r>
            <a:r>
              <a:rPr lang="en-US" sz="2400" dirty="0" err="1" smtClean="0"/>
              <a:t>nonterminal</a:t>
            </a:r>
            <a:r>
              <a:rPr lang="en-US" sz="2400" dirty="0" smtClean="0"/>
              <a:t> in a syntax rule in an attribute grammar, the </a:t>
            </a:r>
            <a:r>
              <a:rPr lang="en-US" sz="2400" dirty="0" err="1" smtClean="0"/>
              <a:t>nonterminals</a:t>
            </a:r>
            <a:r>
              <a:rPr lang="en-US" sz="2400" dirty="0" smtClean="0"/>
              <a:t> are subscripted with brackets to distinguish them</a:t>
            </a:r>
            <a:r>
              <a:rPr lang="en-US" sz="2400" dirty="0" smtClean="0"/>
              <a:t>.</a:t>
            </a:r>
            <a:endParaRPr lang="en-US" sz="2400" dirty="0" smtClean="0"/>
          </a:p>
          <a:p>
            <a:r>
              <a:rPr lang="en-US" sz="2400" dirty="0" smtClean="0"/>
              <a:t> </a:t>
            </a:r>
            <a:r>
              <a:rPr lang="en-US" sz="2400" dirty="0" smtClean="0"/>
              <a:t>Neither </a:t>
            </a:r>
            <a:r>
              <a:rPr lang="en-US" sz="2400" dirty="0" err="1" smtClean="0"/>
              <a:t>thesubscripts</a:t>
            </a:r>
            <a:r>
              <a:rPr lang="en-US" sz="2400" dirty="0" smtClean="0"/>
              <a:t> </a:t>
            </a:r>
            <a:r>
              <a:rPr lang="en-US" sz="2400" dirty="0" smtClean="0"/>
              <a:t>nor the brackets are part of the described language. </a:t>
            </a:r>
            <a:endParaRPr 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Syntax rule: &lt;</a:t>
            </a:r>
            <a:r>
              <a:rPr lang="en-US" sz="2400" dirty="0" err="1" smtClean="0"/>
              <a:t>proc_def</a:t>
            </a:r>
            <a:r>
              <a:rPr lang="en-US" sz="2400" dirty="0" smtClean="0"/>
              <a:t>&gt; → </a:t>
            </a:r>
            <a:r>
              <a:rPr lang="en-US" sz="2400" b="1" dirty="0" smtClean="0"/>
              <a:t>procedure </a:t>
            </a:r>
            <a:r>
              <a:rPr lang="en-US" sz="2400" dirty="0" smtClean="0"/>
              <a:t>&lt;</a:t>
            </a:r>
            <a:r>
              <a:rPr lang="en-US" sz="2400" dirty="0" err="1" smtClean="0"/>
              <a:t>proc_name</a:t>
            </a:r>
            <a:r>
              <a:rPr lang="en-US" sz="2400" dirty="0" smtClean="0"/>
              <a:t>&gt;[1]</a:t>
            </a:r>
          </a:p>
          <a:p>
            <a:r>
              <a:rPr lang="en-US" sz="2400" dirty="0" smtClean="0"/>
              <a:t>&lt;</a:t>
            </a:r>
            <a:r>
              <a:rPr lang="en-US" sz="2400" dirty="0" err="1" smtClean="0"/>
              <a:t>proc_body</a:t>
            </a:r>
            <a:r>
              <a:rPr lang="en-US" sz="2400" dirty="0" smtClean="0"/>
              <a:t>&gt; </a:t>
            </a:r>
            <a:r>
              <a:rPr lang="en-US" sz="2400" b="1" dirty="0" smtClean="0"/>
              <a:t>end </a:t>
            </a:r>
            <a:r>
              <a:rPr lang="en-US" sz="2400" dirty="0" smtClean="0"/>
              <a:t>&lt;</a:t>
            </a:r>
            <a:r>
              <a:rPr lang="en-US" sz="2400" dirty="0" err="1" smtClean="0"/>
              <a:t>proc_name</a:t>
            </a:r>
            <a:r>
              <a:rPr lang="en-US" sz="2400" dirty="0" smtClean="0"/>
              <a:t>&gt;[2];  Predicate: &lt;</a:t>
            </a:r>
            <a:r>
              <a:rPr lang="en-US" sz="2400" dirty="0" err="1" smtClean="0"/>
              <a:t>proc_name</a:t>
            </a:r>
            <a:r>
              <a:rPr lang="en-US" sz="2400" dirty="0" smtClean="0"/>
              <a:t>&gt;[1]string == &lt;</a:t>
            </a:r>
            <a:r>
              <a:rPr lang="en-US" sz="2400" dirty="0" err="1" smtClean="0"/>
              <a:t>proc_name</a:t>
            </a:r>
            <a:r>
              <a:rPr lang="en-US" sz="2400" dirty="0" smtClean="0"/>
              <a:t>&gt;[2].string</a:t>
            </a:r>
          </a:p>
          <a:p>
            <a:r>
              <a:rPr lang="en-US" sz="2400" dirty="0" smtClean="0"/>
              <a:t>In this example, the predicate rule states that the name string attribute of the</a:t>
            </a:r>
          </a:p>
          <a:p>
            <a:r>
              <a:rPr lang="en-US" sz="2400" dirty="0" smtClean="0"/>
              <a:t>&lt;</a:t>
            </a:r>
            <a:r>
              <a:rPr lang="en-US" sz="2400" dirty="0" err="1" smtClean="0"/>
              <a:t>proc_name</a:t>
            </a:r>
            <a:r>
              <a:rPr lang="en-US" sz="2400" dirty="0" smtClean="0"/>
              <a:t>&gt; </a:t>
            </a:r>
            <a:r>
              <a:rPr lang="en-US" sz="2400" dirty="0" err="1" smtClean="0"/>
              <a:t>nonterminal</a:t>
            </a:r>
            <a:r>
              <a:rPr lang="en-US" sz="2400" dirty="0" smtClean="0"/>
              <a:t> in the subprogram header must match the name string attribute of the &lt;</a:t>
            </a:r>
            <a:r>
              <a:rPr lang="en-US" sz="2400" dirty="0" err="1" smtClean="0"/>
              <a:t>proc_name</a:t>
            </a:r>
            <a:r>
              <a:rPr lang="en-US" sz="2400" dirty="0" smtClean="0"/>
              <a:t>&gt; </a:t>
            </a:r>
            <a:r>
              <a:rPr lang="en-US" sz="2400" dirty="0" err="1" smtClean="0"/>
              <a:t>nonterminal</a:t>
            </a:r>
            <a:r>
              <a:rPr lang="en-US" sz="2400" dirty="0" smtClean="0"/>
              <a:t> following the end of the subprogram.</a:t>
            </a:r>
          </a:p>
          <a:p>
            <a:r>
              <a:rPr lang="en-US" sz="2400" dirty="0" smtClean="0"/>
              <a:t>The syntax portion of our example attribute grammar is  &lt;assign&gt; → &lt;</a:t>
            </a:r>
            <a:r>
              <a:rPr lang="en-US" sz="2400" dirty="0" err="1" smtClean="0"/>
              <a:t>var</a:t>
            </a:r>
            <a:r>
              <a:rPr lang="en-US" sz="2400" dirty="0" smtClean="0"/>
              <a:t>&gt; = &lt;</a:t>
            </a:r>
            <a:r>
              <a:rPr lang="en-US" sz="2400" dirty="0" err="1" smtClean="0"/>
              <a:t>expr</a:t>
            </a:r>
            <a:r>
              <a:rPr lang="en-US" sz="2400" dirty="0" smtClean="0"/>
              <a:t>&gt;</a:t>
            </a:r>
          </a:p>
          <a:p>
            <a:r>
              <a:rPr lang="en-US" sz="2400" dirty="0" smtClean="0"/>
              <a:t>  &lt;</a:t>
            </a:r>
            <a:r>
              <a:rPr lang="en-US" sz="2400" dirty="0" err="1" smtClean="0"/>
              <a:t>expr</a:t>
            </a:r>
            <a:r>
              <a:rPr lang="en-US" sz="2400" dirty="0" smtClean="0"/>
              <a:t>&gt; → &lt;</a:t>
            </a:r>
            <a:r>
              <a:rPr lang="en-US" sz="2400" dirty="0" err="1" smtClean="0"/>
              <a:t>var</a:t>
            </a:r>
            <a:r>
              <a:rPr lang="en-US" sz="2400" dirty="0" smtClean="0"/>
              <a:t>&gt; + &lt;</a:t>
            </a:r>
            <a:r>
              <a:rPr lang="en-US" sz="2400" dirty="0" err="1" smtClean="0"/>
              <a:t>var</a:t>
            </a:r>
            <a:r>
              <a:rPr lang="en-US" sz="2400" dirty="0" smtClean="0"/>
              <a:t>&gt;</a:t>
            </a:r>
          </a:p>
          <a:p>
            <a:r>
              <a:rPr lang="en-US" sz="2400" dirty="0" smtClean="0"/>
              <a:t> | &lt;</a:t>
            </a:r>
            <a:r>
              <a:rPr lang="en-US" sz="2400" dirty="0" err="1" smtClean="0"/>
              <a:t>var</a:t>
            </a:r>
            <a:r>
              <a:rPr lang="en-US" sz="2400" dirty="0" smtClean="0"/>
              <a:t>&gt;</a:t>
            </a:r>
          </a:p>
          <a:p>
            <a:r>
              <a:rPr lang="en-US" sz="2400" dirty="0" smtClean="0"/>
              <a:t>  &lt;</a:t>
            </a:r>
            <a:r>
              <a:rPr lang="en-US" sz="2400" dirty="0" err="1" smtClean="0"/>
              <a:t>var</a:t>
            </a:r>
            <a:r>
              <a:rPr lang="en-US" sz="2400" dirty="0" smtClean="0"/>
              <a:t>&gt; → A | B | C</a:t>
            </a:r>
          </a:p>
          <a:p>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096000"/>
          </a:xfrm>
        </p:spPr>
        <p:txBody>
          <a:bodyPr>
            <a:normAutofit lnSpcReduction="10000"/>
          </a:bodyPr>
          <a:lstStyle/>
          <a:p>
            <a:pPr>
              <a:buNone/>
            </a:pPr>
            <a:r>
              <a:rPr lang="en-US" sz="2400" b="1" dirty="0" smtClean="0"/>
              <a:t>An Attribute Grammar for Simple Assignment Statements</a:t>
            </a:r>
          </a:p>
          <a:p>
            <a:pPr lvl="0"/>
            <a:r>
              <a:rPr lang="en-US" sz="2400" dirty="0" smtClean="0"/>
              <a:t>Syntax rule: &lt;assign&gt; → &lt;</a:t>
            </a:r>
            <a:r>
              <a:rPr lang="en-US" sz="2400" dirty="0" err="1" smtClean="0"/>
              <a:t>var</a:t>
            </a:r>
            <a:r>
              <a:rPr lang="en-US" sz="2400" dirty="0" smtClean="0"/>
              <a:t>&gt; = &lt;</a:t>
            </a:r>
            <a:r>
              <a:rPr lang="en-US" sz="2400" dirty="0" err="1" smtClean="0"/>
              <a:t>expr</a:t>
            </a:r>
            <a:r>
              <a:rPr lang="en-US" sz="2400" dirty="0" smtClean="0"/>
              <a:t>&gt;</a:t>
            </a:r>
          </a:p>
          <a:p>
            <a:r>
              <a:rPr lang="en-US" sz="2400" dirty="0" smtClean="0"/>
              <a:t>Semantic rule: &lt;</a:t>
            </a:r>
            <a:r>
              <a:rPr lang="en-US" sz="2400" dirty="0" err="1" smtClean="0"/>
              <a:t>expr</a:t>
            </a:r>
            <a:r>
              <a:rPr lang="en-US" sz="2400" dirty="0" smtClean="0"/>
              <a:t>&gt;.</a:t>
            </a:r>
            <a:r>
              <a:rPr lang="en-US" sz="2400" dirty="0" err="1" smtClean="0"/>
              <a:t>expected_type</a:t>
            </a:r>
            <a:r>
              <a:rPr lang="en-US" sz="2400" dirty="0" smtClean="0"/>
              <a:t> ← &lt;</a:t>
            </a:r>
            <a:r>
              <a:rPr lang="en-US" sz="2400" dirty="0" err="1" smtClean="0"/>
              <a:t>var</a:t>
            </a:r>
            <a:r>
              <a:rPr lang="en-US" sz="2400" dirty="0" smtClean="0"/>
              <a:t>&gt;.</a:t>
            </a:r>
            <a:r>
              <a:rPr lang="en-US" sz="2400" dirty="0" err="1" smtClean="0"/>
              <a:t>actual_type</a:t>
            </a:r>
            <a:endParaRPr lang="en-US" sz="2400" dirty="0" smtClean="0"/>
          </a:p>
          <a:p>
            <a:pPr lvl="0"/>
            <a:r>
              <a:rPr lang="en-US" sz="2400" dirty="0" smtClean="0"/>
              <a:t>Syntax rule: &lt;</a:t>
            </a:r>
            <a:r>
              <a:rPr lang="en-US" sz="2400" dirty="0" err="1" smtClean="0"/>
              <a:t>expr</a:t>
            </a:r>
            <a:r>
              <a:rPr lang="en-US" sz="2400" dirty="0" smtClean="0"/>
              <a:t>&gt; → &lt;</a:t>
            </a:r>
            <a:r>
              <a:rPr lang="en-US" sz="2400" dirty="0" err="1" smtClean="0"/>
              <a:t>var</a:t>
            </a:r>
            <a:r>
              <a:rPr lang="en-US" sz="2400" dirty="0" smtClean="0"/>
              <a:t>&gt;[2] + &lt;</a:t>
            </a:r>
            <a:r>
              <a:rPr lang="en-US" sz="2400" dirty="0" err="1" smtClean="0"/>
              <a:t>var</a:t>
            </a:r>
            <a:r>
              <a:rPr lang="en-US" sz="2400" dirty="0" smtClean="0"/>
              <a:t>&gt;[3]</a:t>
            </a:r>
          </a:p>
          <a:p>
            <a:r>
              <a:rPr lang="en-US" sz="2400" dirty="0" smtClean="0"/>
              <a:t>Semantic rule: &lt;</a:t>
            </a:r>
            <a:r>
              <a:rPr lang="en-US" sz="2400" dirty="0" err="1" smtClean="0"/>
              <a:t>expr</a:t>
            </a:r>
            <a:r>
              <a:rPr lang="en-US" sz="2400" dirty="0" smtClean="0"/>
              <a:t>&gt;.</a:t>
            </a:r>
            <a:r>
              <a:rPr lang="en-US" sz="2400" dirty="0" err="1" smtClean="0"/>
              <a:t>actual_type</a:t>
            </a:r>
            <a:r>
              <a:rPr lang="en-US" sz="2400" dirty="0" smtClean="0"/>
              <a:t> ←</a:t>
            </a:r>
          </a:p>
          <a:p>
            <a:r>
              <a:rPr lang="en-US" sz="2400" dirty="0" smtClean="0"/>
              <a:t>if (&lt;</a:t>
            </a:r>
            <a:r>
              <a:rPr lang="en-US" sz="2400" dirty="0" err="1" smtClean="0"/>
              <a:t>var</a:t>
            </a:r>
            <a:r>
              <a:rPr lang="en-US" sz="2400" dirty="0" smtClean="0"/>
              <a:t>&gt;[2].</a:t>
            </a:r>
            <a:r>
              <a:rPr lang="en-US" sz="2400" dirty="0" err="1" smtClean="0"/>
              <a:t>actual_type</a:t>
            </a:r>
            <a:r>
              <a:rPr lang="en-US" sz="2400" dirty="0" smtClean="0"/>
              <a:t> = </a:t>
            </a:r>
            <a:r>
              <a:rPr lang="en-US" sz="2400" dirty="0" err="1" smtClean="0"/>
              <a:t>int</a:t>
            </a:r>
            <a:r>
              <a:rPr lang="en-US" sz="2400" dirty="0" smtClean="0"/>
              <a:t>) and</a:t>
            </a:r>
          </a:p>
          <a:p>
            <a:r>
              <a:rPr lang="en-US" sz="2400" dirty="0" smtClean="0"/>
              <a:t>(&lt;</a:t>
            </a:r>
            <a:r>
              <a:rPr lang="en-US" sz="2400" dirty="0" err="1" smtClean="0"/>
              <a:t>var</a:t>
            </a:r>
            <a:r>
              <a:rPr lang="en-US" sz="2400" dirty="0" smtClean="0"/>
              <a:t>&gt;[3].</a:t>
            </a:r>
            <a:r>
              <a:rPr lang="en-US" sz="2400" dirty="0" err="1" smtClean="0"/>
              <a:t>actual_type</a:t>
            </a:r>
            <a:r>
              <a:rPr lang="en-US" sz="2400" dirty="0" smtClean="0"/>
              <a:t> = </a:t>
            </a:r>
            <a:r>
              <a:rPr lang="en-US" sz="2400" dirty="0" err="1" smtClean="0"/>
              <a:t>int</a:t>
            </a:r>
            <a:r>
              <a:rPr lang="en-US" sz="2400" dirty="0" smtClean="0"/>
              <a:t>) then </a:t>
            </a:r>
            <a:r>
              <a:rPr lang="en-US" sz="2400" dirty="0" err="1" smtClean="0"/>
              <a:t>int</a:t>
            </a:r>
            <a:endParaRPr lang="en-US" sz="2400" dirty="0" smtClean="0"/>
          </a:p>
          <a:p>
            <a:r>
              <a:rPr lang="en-US" sz="2400" dirty="0" smtClean="0"/>
              <a:t>else real</a:t>
            </a:r>
          </a:p>
          <a:p>
            <a:r>
              <a:rPr lang="en-US" sz="2400" dirty="0" smtClean="0"/>
              <a:t>end if</a:t>
            </a:r>
          </a:p>
          <a:p>
            <a:r>
              <a:rPr lang="en-US" sz="2400" dirty="0" smtClean="0"/>
              <a:t>Predicate: &lt;</a:t>
            </a:r>
            <a:r>
              <a:rPr lang="en-US" sz="2400" dirty="0" err="1" smtClean="0"/>
              <a:t>expr</a:t>
            </a:r>
            <a:r>
              <a:rPr lang="en-US" sz="2400" dirty="0" smtClean="0"/>
              <a:t>&gt;.</a:t>
            </a:r>
            <a:r>
              <a:rPr lang="en-US" sz="2400" dirty="0" err="1" smtClean="0"/>
              <a:t>actual_type</a:t>
            </a:r>
            <a:r>
              <a:rPr lang="en-US" sz="2400" dirty="0" smtClean="0"/>
              <a:t> == &lt;</a:t>
            </a:r>
            <a:r>
              <a:rPr lang="en-US" sz="2400" dirty="0" err="1" smtClean="0"/>
              <a:t>expr</a:t>
            </a:r>
            <a:r>
              <a:rPr lang="en-US" sz="2400" dirty="0" smtClean="0"/>
              <a:t>&gt;.</a:t>
            </a:r>
            <a:r>
              <a:rPr lang="en-US" sz="2400" dirty="0" err="1" smtClean="0"/>
              <a:t>expected_type</a:t>
            </a:r>
            <a:endParaRPr lang="en-US" sz="2400" dirty="0" smtClean="0"/>
          </a:p>
          <a:p>
            <a:pPr lvl="0"/>
            <a:r>
              <a:rPr lang="en-US" sz="2400" dirty="0" smtClean="0"/>
              <a:t>Syntax rule: &lt;</a:t>
            </a:r>
            <a:r>
              <a:rPr lang="en-US" sz="2400" dirty="0" err="1" smtClean="0"/>
              <a:t>expr</a:t>
            </a:r>
            <a:r>
              <a:rPr lang="en-US" sz="2400" dirty="0" smtClean="0"/>
              <a:t>&gt; → &lt;</a:t>
            </a:r>
            <a:r>
              <a:rPr lang="en-US" sz="2400" dirty="0" err="1" smtClean="0"/>
              <a:t>var</a:t>
            </a:r>
            <a:r>
              <a:rPr lang="en-US" sz="2400" dirty="0" smtClean="0"/>
              <a:t>&gt;</a:t>
            </a:r>
          </a:p>
          <a:p>
            <a:r>
              <a:rPr lang="en-US" sz="2400" dirty="0" smtClean="0"/>
              <a:t>Semantic rule: &lt;</a:t>
            </a:r>
            <a:r>
              <a:rPr lang="en-US" sz="2400" dirty="0" err="1" smtClean="0"/>
              <a:t>expr</a:t>
            </a:r>
            <a:r>
              <a:rPr lang="en-US" sz="2400" dirty="0" smtClean="0"/>
              <a:t>&gt;.</a:t>
            </a:r>
            <a:r>
              <a:rPr lang="en-US" sz="2400" dirty="0" err="1" smtClean="0"/>
              <a:t>actual_type</a:t>
            </a:r>
            <a:r>
              <a:rPr lang="en-US" sz="2400" dirty="0" smtClean="0"/>
              <a:t> ← &lt;</a:t>
            </a:r>
            <a:r>
              <a:rPr lang="en-US" sz="2400" dirty="0" err="1" smtClean="0"/>
              <a:t>var</a:t>
            </a:r>
            <a:r>
              <a:rPr lang="en-US" sz="2400" dirty="0" smtClean="0"/>
              <a:t>&gt;.</a:t>
            </a:r>
            <a:r>
              <a:rPr lang="en-US" sz="2400" dirty="0" err="1" smtClean="0"/>
              <a:t>actual_type</a:t>
            </a:r>
            <a:r>
              <a:rPr lang="en-US" sz="2400" dirty="0" smtClean="0"/>
              <a:t> Predicate: &lt;</a:t>
            </a:r>
            <a:r>
              <a:rPr lang="en-US" sz="2400" dirty="0" err="1" smtClean="0"/>
              <a:t>expr</a:t>
            </a:r>
            <a:r>
              <a:rPr lang="en-US" sz="2400" dirty="0" smtClean="0"/>
              <a:t>&gt;.</a:t>
            </a:r>
            <a:r>
              <a:rPr lang="en-US" sz="2400" dirty="0" err="1" smtClean="0"/>
              <a:t>actual_type</a:t>
            </a:r>
            <a:r>
              <a:rPr lang="en-US" sz="2400" dirty="0" smtClean="0"/>
              <a:t> == &lt;</a:t>
            </a:r>
            <a:r>
              <a:rPr lang="en-US" sz="2400" dirty="0" err="1" smtClean="0"/>
              <a:t>expr</a:t>
            </a:r>
            <a:r>
              <a:rPr lang="en-US" sz="2400" dirty="0" smtClean="0"/>
              <a:t>&gt;.</a:t>
            </a:r>
            <a:r>
              <a:rPr lang="en-US" sz="2400" dirty="0" err="1" smtClean="0"/>
              <a:t>expected_type</a:t>
            </a:r>
            <a:endParaRPr lang="en-US" sz="2400" dirty="0" smtClean="0"/>
          </a:p>
          <a:p>
            <a:pPr lvl="0"/>
            <a:r>
              <a:rPr lang="en-US" sz="2400" dirty="0" smtClean="0"/>
              <a:t>Syntax rule: &lt;</a:t>
            </a:r>
            <a:r>
              <a:rPr lang="en-US" sz="2400" dirty="0" err="1" smtClean="0"/>
              <a:t>var</a:t>
            </a:r>
            <a:r>
              <a:rPr lang="en-US" sz="2400" dirty="0" smtClean="0"/>
              <a:t>&gt; → A | B | C</a:t>
            </a:r>
          </a:p>
          <a:p>
            <a:r>
              <a:rPr lang="en-US" sz="2400" dirty="0" smtClean="0"/>
              <a:t>Semantic rule: &lt;</a:t>
            </a:r>
            <a:r>
              <a:rPr lang="en-US" sz="2400" dirty="0" err="1" smtClean="0"/>
              <a:t>var</a:t>
            </a:r>
            <a:r>
              <a:rPr lang="en-US" sz="2400" dirty="0" smtClean="0"/>
              <a:t>&gt;.</a:t>
            </a:r>
            <a:r>
              <a:rPr lang="en-US" sz="2400" dirty="0" err="1" smtClean="0"/>
              <a:t>actual_type</a:t>
            </a:r>
            <a:r>
              <a:rPr lang="en-US" sz="2400" dirty="0" smtClean="0"/>
              <a:t> ← look-up(&lt;</a:t>
            </a:r>
            <a:r>
              <a:rPr lang="en-US" sz="2400" dirty="0" err="1" smtClean="0"/>
              <a:t>var</a:t>
            </a:r>
            <a:r>
              <a:rPr lang="en-US" sz="2400" dirty="0" smtClean="0"/>
              <a:t>&gt;.string)</a:t>
            </a:r>
          </a:p>
          <a:p>
            <a:pPr>
              <a:buNone/>
            </a:pPr>
            <a:endParaRPr 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222"/>
          <p:cNvPicPr>
            <a:picLocks noGrp="1"/>
          </p:cNvPicPr>
          <p:nvPr>
            <p:ph idx="1"/>
          </p:nvPr>
        </p:nvPicPr>
        <p:blipFill>
          <a:blip r:embed="rId2" cstate="print"/>
          <a:stretch>
            <a:fillRect/>
          </a:stretch>
        </p:blipFill>
        <p:spPr>
          <a:xfrm>
            <a:off x="1619250" y="1214437"/>
            <a:ext cx="5905500" cy="442912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pPr marL="342900" lvl="1" indent="-342900">
              <a:buNone/>
            </a:pPr>
            <a:r>
              <a:rPr lang="en-US" b="1" dirty="0" smtClean="0"/>
              <a:t>Describing the Meanings of Programs: Dynamic Semantics</a:t>
            </a:r>
          </a:p>
          <a:p>
            <a:r>
              <a:rPr lang="en-US" sz="2400" dirty="0" smtClean="0"/>
              <a:t>There are several different reasons underlying the need for a methodology and notation for describing semantics. </a:t>
            </a:r>
            <a:endParaRPr lang="en-US" sz="2400" dirty="0" smtClean="0"/>
          </a:p>
          <a:p>
            <a:r>
              <a:rPr lang="en-US" sz="2400" dirty="0" smtClean="0"/>
              <a:t>Programmers </a:t>
            </a:r>
            <a:r>
              <a:rPr lang="en-US" sz="2400" dirty="0" smtClean="0"/>
              <a:t>obviously need to know precisely what the statements of a language do before they can use them effectively in their programs. </a:t>
            </a:r>
            <a:endParaRPr lang="en-US" sz="2400" dirty="0" smtClean="0"/>
          </a:p>
          <a:p>
            <a:r>
              <a:rPr lang="en-US" sz="2400" dirty="0" smtClean="0"/>
              <a:t>Compiler </a:t>
            </a:r>
            <a:r>
              <a:rPr lang="en-US" sz="2400" dirty="0" smtClean="0"/>
              <a:t>writers must know exactly what language constructs mean to design implementations for them correctly. If there were a precise semantics specification of a programming language, programs written in the language potentially could be proven correct without testing. </a:t>
            </a:r>
            <a:endParaRPr lang="en-US" sz="2400" dirty="0" smtClean="0"/>
          </a:p>
          <a:p>
            <a:r>
              <a:rPr lang="en-US" sz="2400" dirty="0" smtClean="0"/>
              <a:t>Also, compilers could be shown to produce programs that exhibited exactly the behavior given in the language definition; that is, their correctness could be verified</a:t>
            </a:r>
            <a:endParaRPr lang="en-US" sz="24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Finally</a:t>
            </a:r>
            <a:r>
              <a:rPr lang="en-US" sz="2400" dirty="0" smtClean="0"/>
              <a:t>, language designers, who would develop the semantic descriptions of their languages, could in the process discover ambiguities and inconsistencies in their designs.</a:t>
            </a:r>
          </a:p>
          <a:p>
            <a:r>
              <a:rPr lang="en-US" sz="2400" dirty="0" smtClean="0"/>
              <a:t>Software developers and compiler designers typically determine the semantics of programming languages by reading English explanations in language manuals. </a:t>
            </a:r>
            <a:endParaRPr lang="en-US" sz="2400" dirty="0" smtClean="0"/>
          </a:p>
          <a:p>
            <a:r>
              <a:rPr lang="en-US" sz="2400" dirty="0" smtClean="0"/>
              <a:t>Because </a:t>
            </a:r>
            <a:r>
              <a:rPr lang="en-US" sz="2400" dirty="0" smtClean="0"/>
              <a:t>such explanations are often imprecise and incomplete, this approach is clearly unsatisfactory. Due to the lack of complete semantics specifications of programming languages, programs are rarely proven correct without testing, and commercial compilers are never generated automatically from language descriptions.</a:t>
            </a:r>
          </a:p>
          <a:p>
            <a:r>
              <a:rPr lang="en-US" sz="2400" dirty="0" smtClean="0"/>
              <a:t>Scheme, a functional language described in </a:t>
            </a:r>
            <a:r>
              <a:rPr lang="en-US" sz="2400" dirty="0" smtClean="0"/>
              <a:t>is </a:t>
            </a:r>
            <a:r>
              <a:rPr lang="en-US" sz="2400" dirty="0" smtClean="0"/>
              <a:t>one of only a few programming languages whose definition includes a formal semantics description</a:t>
            </a:r>
            <a:endParaRPr lang="en-US" sz="2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6477000"/>
          </a:xfrm>
        </p:spPr>
        <p:txBody>
          <a:bodyPr>
            <a:normAutofit/>
          </a:bodyPr>
          <a:lstStyle/>
          <a:p>
            <a:pPr marL="342900" lvl="2" indent="-342900">
              <a:buNone/>
            </a:pPr>
            <a:r>
              <a:rPr lang="en-US" b="1" dirty="0" smtClean="0"/>
              <a:t>Operational </a:t>
            </a:r>
            <a:r>
              <a:rPr lang="en-US" b="1" dirty="0" smtClean="0"/>
              <a:t>Semantics:</a:t>
            </a:r>
            <a:endParaRPr lang="en-US" b="1" dirty="0" smtClean="0"/>
          </a:p>
          <a:p>
            <a:r>
              <a:rPr lang="en-US" sz="2400" dirty="0" smtClean="0"/>
              <a:t>The idea behind </a:t>
            </a:r>
            <a:r>
              <a:rPr lang="en-US" sz="2400" b="1" dirty="0" smtClean="0"/>
              <a:t>operational semantics </a:t>
            </a:r>
            <a:r>
              <a:rPr lang="en-US" sz="2400" dirty="0" smtClean="0"/>
              <a:t>is to describe the meaning of a statement or program by specifying the effects of </a:t>
            </a:r>
            <a:r>
              <a:rPr lang="en-US" sz="2400" dirty="0" smtClean="0"/>
              <a:t>running </a:t>
            </a:r>
            <a:r>
              <a:rPr lang="en-US" sz="2400" dirty="0" smtClean="0"/>
              <a:t>it on a machine. </a:t>
            </a:r>
            <a:endParaRPr lang="en-US" sz="2400" dirty="0" smtClean="0"/>
          </a:p>
          <a:p>
            <a:r>
              <a:rPr lang="en-US" sz="2400" dirty="0" smtClean="0"/>
              <a:t>The effects on the machine are viewed as the sequence of changes in its state, where the machine’s state is the collection of the values in its storage. </a:t>
            </a:r>
            <a:endParaRPr lang="en-US" sz="2400" dirty="0" smtClean="0"/>
          </a:p>
          <a:p>
            <a:r>
              <a:rPr lang="en-US" sz="2400" dirty="0" smtClean="0"/>
              <a:t>An </a:t>
            </a:r>
            <a:r>
              <a:rPr lang="en-US" sz="2400" dirty="0" smtClean="0"/>
              <a:t>obvious operational semantics description, then, is given by executing a compiled version of the program on a computer. Most programmers have, on at least one occasion, written a small test program to determine the meaning of some programming language construct, often while learning the language. </a:t>
            </a:r>
            <a:endParaRPr lang="en-US" sz="2400" dirty="0" smtClean="0"/>
          </a:p>
          <a:p>
            <a:r>
              <a:rPr lang="en-US" sz="2400" dirty="0" smtClean="0"/>
              <a:t>Essentially</a:t>
            </a:r>
            <a:r>
              <a:rPr lang="en-US" sz="2400" dirty="0" smtClean="0"/>
              <a:t>, what such a programmer is doing is using operational semantics to determine the meaning of the construct.</a:t>
            </a:r>
          </a:p>
          <a:p>
            <a:endParaRPr lang="en-US" sz="24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There are different levels of uses of operational semantics. At the highest level, the interest is in the final result of the execution of a complete program. This is sometimes called </a:t>
            </a:r>
            <a:r>
              <a:rPr lang="en-US" sz="2400" b="1" dirty="0" smtClean="0"/>
              <a:t>natural operational semantics</a:t>
            </a:r>
            <a:r>
              <a:rPr lang="en-US" sz="2400" dirty="0" smtClean="0"/>
              <a:t>.</a:t>
            </a:r>
          </a:p>
          <a:p>
            <a:r>
              <a:rPr lang="en-US" sz="2400" dirty="0" smtClean="0"/>
              <a:t> </a:t>
            </a:r>
            <a:r>
              <a:rPr lang="en-US" sz="2400" dirty="0" smtClean="0"/>
              <a:t>At the lowest level, operational semantics can be used to determine the precise meaning of a program through an examination of the complete sequence of state changes that occur when the program is executed. This use is sometimes called </a:t>
            </a:r>
            <a:r>
              <a:rPr lang="en-US" sz="2400" b="1" dirty="0" smtClean="0"/>
              <a:t>structural operational semantics</a:t>
            </a:r>
            <a:r>
              <a:rPr lang="en-US" sz="2400" dirty="0" smtClean="0"/>
              <a:t>.</a:t>
            </a:r>
          </a:p>
          <a:p>
            <a:r>
              <a:rPr lang="en-US" sz="2400" dirty="0" smtClean="0"/>
              <a:t>The basic process of operational semantics is not unusual. In fact, the concept is frequently used in programming textbooks and programming language reference manuals. For example, the semantics of the C </a:t>
            </a:r>
            <a:r>
              <a:rPr lang="en-US" sz="2400" b="1" dirty="0" smtClean="0"/>
              <a:t>for </a:t>
            </a:r>
            <a:r>
              <a:rPr lang="en-US" sz="2400" dirty="0" smtClean="0"/>
              <a:t>construct can be described in terms of simpler statements, as in</a:t>
            </a:r>
          </a:p>
          <a:p>
            <a:r>
              <a:rPr lang="en-US" sz="2400" dirty="0" smtClean="0"/>
              <a:t/>
            </a:r>
            <a:br>
              <a:rPr lang="en-US" sz="2400" dirty="0" smtClean="0"/>
            </a:br>
            <a:endParaRPr lang="en-US" sz="2400" dirty="0" smtClean="0"/>
          </a:p>
          <a:p>
            <a:endParaRPr lang="en-US" sz="2400" dirty="0" smtClean="0"/>
          </a:p>
          <a:p>
            <a:endParaRPr lang="en-US" sz="2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pic>
        <p:nvPicPr>
          <p:cNvPr id="4" name="Image 225"/>
          <p:cNvPicPr>
            <a:picLocks noGrp="1"/>
          </p:cNvPicPr>
          <p:nvPr>
            <p:ph idx="1"/>
          </p:nvPr>
        </p:nvPicPr>
        <p:blipFill>
          <a:blip r:embed="rId2" cstate="print"/>
          <a:stretch>
            <a:fillRect/>
          </a:stretch>
        </p:blipFill>
        <p:spPr>
          <a:xfrm>
            <a:off x="990600" y="457200"/>
            <a:ext cx="5905500" cy="1790700"/>
          </a:xfrm>
          <a:prstGeom prst="rect">
            <a:avLst/>
          </a:prstGeom>
        </p:spPr>
      </p:pic>
      <p:sp>
        <p:nvSpPr>
          <p:cNvPr id="5" name="Rectangle 4"/>
          <p:cNvSpPr/>
          <p:nvPr/>
        </p:nvSpPr>
        <p:spPr>
          <a:xfrm>
            <a:off x="0" y="2743200"/>
            <a:ext cx="7620000" cy="4154984"/>
          </a:xfrm>
          <a:prstGeom prst="rect">
            <a:avLst/>
          </a:prstGeom>
        </p:spPr>
        <p:txBody>
          <a:bodyPr wrap="square">
            <a:spAutoFit/>
          </a:bodyPr>
          <a:lstStyle/>
          <a:p>
            <a:pPr lvl="2"/>
            <a:r>
              <a:rPr lang="en-US" sz="2400" b="1" dirty="0" err="1" smtClean="0"/>
              <a:t>Denotational</a:t>
            </a:r>
            <a:r>
              <a:rPr lang="en-US" sz="2400" b="1" dirty="0" smtClean="0"/>
              <a:t> </a:t>
            </a:r>
            <a:r>
              <a:rPr lang="en-US" sz="2400" b="1" dirty="0" smtClean="0"/>
              <a:t>Semantics:</a:t>
            </a:r>
          </a:p>
          <a:p>
            <a:pPr lvl="2">
              <a:buFont typeface="Arial" pitchFamily="34" charset="0"/>
              <a:buChar char="•"/>
            </a:pPr>
            <a:r>
              <a:rPr lang="en-US" sz="2400" b="1" dirty="0" err="1" smtClean="0"/>
              <a:t>Denotational</a:t>
            </a:r>
            <a:r>
              <a:rPr lang="en-US" sz="2400" b="1" dirty="0" smtClean="0"/>
              <a:t> </a:t>
            </a:r>
            <a:r>
              <a:rPr lang="en-US" sz="2400" b="1" dirty="0" smtClean="0"/>
              <a:t>semantics </a:t>
            </a:r>
            <a:r>
              <a:rPr lang="en-US" sz="2400" dirty="0" smtClean="0"/>
              <a:t>is the most rigorous and most widely known formal method for describing the meaning of programs. </a:t>
            </a:r>
            <a:endParaRPr lang="en-US" sz="2400" dirty="0" smtClean="0"/>
          </a:p>
          <a:p>
            <a:pPr lvl="2">
              <a:buFont typeface="Arial" pitchFamily="34" charset="0"/>
              <a:buChar char="•"/>
            </a:pPr>
            <a:r>
              <a:rPr lang="en-US" sz="2400" dirty="0" smtClean="0"/>
              <a:t>It </a:t>
            </a:r>
            <a:r>
              <a:rPr lang="en-US" sz="2400" dirty="0" smtClean="0"/>
              <a:t>is solidly based on recursive function theory. A thorough discussion of the use of </a:t>
            </a:r>
            <a:r>
              <a:rPr lang="en-US" sz="2400" dirty="0" err="1" smtClean="0"/>
              <a:t>denotational</a:t>
            </a:r>
            <a:r>
              <a:rPr lang="en-US" sz="2400" dirty="0" smtClean="0"/>
              <a:t> semantics to describe the semantics of programming languages is necessarily long and complex. </a:t>
            </a:r>
            <a:endParaRPr lang="en-US" sz="2400" dirty="0" smtClean="0"/>
          </a:p>
          <a:p>
            <a:pPr lvl="2"/>
            <a:endParaRPr lang="en-US" sz="2400" b="1" dirty="0" smtClean="0"/>
          </a:p>
          <a:p>
            <a:pPr lvl="2"/>
            <a:endParaRPr lang="en-US" sz="2400" b="1"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marL="342900" lvl="2" indent="-342900"/>
            <a:r>
              <a:rPr lang="en-US" dirty="0" smtClean="0"/>
              <a:t>It is our intent to provide the reader with an introduction to the central concepts of </a:t>
            </a:r>
            <a:r>
              <a:rPr lang="en-US" dirty="0" err="1" smtClean="0"/>
              <a:t>denotational</a:t>
            </a:r>
            <a:r>
              <a:rPr lang="en-US" dirty="0" smtClean="0"/>
              <a:t> semantics, along with a few simple examples that are relevant to programming language specifications</a:t>
            </a:r>
            <a:r>
              <a:rPr lang="en-US" dirty="0" smtClean="0"/>
              <a:t>.</a:t>
            </a:r>
          </a:p>
          <a:p>
            <a:pPr marL="342900" lvl="2" indent="-342900"/>
            <a:r>
              <a:rPr lang="en-US" dirty="0" smtClean="0"/>
              <a:t>The process of constructing a </a:t>
            </a:r>
            <a:r>
              <a:rPr lang="en-US" dirty="0" err="1" smtClean="0"/>
              <a:t>denotational</a:t>
            </a:r>
            <a:r>
              <a:rPr lang="en-US" dirty="0" smtClean="0"/>
              <a:t> semantics specification for a programming language requires one to define for each language entity both a mathematical object and a function that maps instances of that language entity onto instances of the mathematical object. </a:t>
            </a:r>
            <a:endParaRPr lang="en-US" dirty="0" smtClean="0"/>
          </a:p>
          <a:p>
            <a:pPr marL="342900" lvl="2" indent="-342900"/>
            <a:r>
              <a:rPr lang="en-US" dirty="0" smtClean="0"/>
              <a:t>The idea is based on the fact that there are rigorous ways of manipulating mathematical objects but not programming language constructs. The difficulty with this method lies in creating the objects and the mapping functions. </a:t>
            </a:r>
            <a:endParaRPr lang="en-US" dirty="0" smtClean="0"/>
          </a:p>
          <a:p>
            <a:pPr marL="342900" lvl="2" indent="-342900"/>
            <a:r>
              <a:rPr lang="en-US" dirty="0" smtClean="0"/>
              <a:t>The </a:t>
            </a:r>
            <a:r>
              <a:rPr lang="en-US" dirty="0" smtClean="0"/>
              <a:t>method is named </a:t>
            </a:r>
            <a:r>
              <a:rPr lang="en-US" i="1" dirty="0" err="1" smtClean="0"/>
              <a:t>denotational</a:t>
            </a:r>
            <a:r>
              <a:rPr lang="en-US" i="1" dirty="0" smtClean="0"/>
              <a:t> </a:t>
            </a:r>
            <a:r>
              <a:rPr lang="en-US" dirty="0" smtClean="0"/>
              <a:t>because the mathematical objects denote the meaning of their corresponding syntactic entities.</a:t>
            </a:r>
          </a:p>
          <a:p>
            <a:pPr>
              <a:buNone/>
            </a:pPr>
            <a:endParaRPr lang="en-US" sz="2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81000"/>
            <a:ext cx="8229600" cy="5745163"/>
          </a:xfrm>
        </p:spPr>
        <p:txBody>
          <a:bodyPr>
            <a:normAutofit/>
          </a:bodyPr>
          <a:lstStyle/>
          <a:p>
            <a:r>
              <a:rPr lang="en-US" sz="2400" dirty="0" smtClean="0"/>
              <a:t>The mapping functions of a </a:t>
            </a:r>
            <a:r>
              <a:rPr lang="en-US" sz="2400" dirty="0" err="1" smtClean="0"/>
              <a:t>denotational</a:t>
            </a:r>
            <a:r>
              <a:rPr lang="en-US" sz="2400" dirty="0" smtClean="0"/>
              <a:t> semantics programming language specification, like all functions in mathematics, have a domain and a range</a:t>
            </a:r>
            <a:r>
              <a:rPr lang="en-US" sz="2400" dirty="0" smtClean="0"/>
              <a:t>.</a:t>
            </a:r>
          </a:p>
          <a:p>
            <a:r>
              <a:rPr lang="en-US" sz="2400" dirty="0" smtClean="0"/>
              <a:t> </a:t>
            </a:r>
            <a:r>
              <a:rPr lang="en-US" sz="2400" dirty="0" smtClean="0"/>
              <a:t>The domain is the collection of values that are legitimate parameters to the function; the range is the collection of objects to which the parameters are mapped. </a:t>
            </a:r>
            <a:endParaRPr lang="en-US" sz="2400" dirty="0" smtClean="0"/>
          </a:p>
          <a:p>
            <a:r>
              <a:rPr lang="en-US" sz="2400" dirty="0" smtClean="0"/>
              <a:t>In </a:t>
            </a:r>
            <a:r>
              <a:rPr lang="en-US" sz="2400" dirty="0" err="1" smtClean="0"/>
              <a:t>denotational</a:t>
            </a:r>
            <a:r>
              <a:rPr lang="en-US" sz="2400" dirty="0" smtClean="0"/>
              <a:t> semantics, the domain is called the </a:t>
            </a:r>
            <a:r>
              <a:rPr lang="en-US" sz="2400" b="1" dirty="0" smtClean="0"/>
              <a:t>syntactic domain</a:t>
            </a:r>
            <a:r>
              <a:rPr lang="en-US" sz="2400" dirty="0" smtClean="0"/>
              <a:t>, because it is syntactic structures that are mapped. The range is called the </a:t>
            </a:r>
            <a:r>
              <a:rPr lang="en-US" sz="2400" b="1" dirty="0" smtClean="0"/>
              <a:t>semantic domain</a:t>
            </a:r>
            <a:r>
              <a:rPr lang="en-US" sz="2400" dirty="0" smtClean="0"/>
              <a:t>.</a:t>
            </a:r>
          </a:p>
          <a:p>
            <a:r>
              <a:rPr lang="en-US" sz="2400" dirty="0" err="1" smtClean="0"/>
              <a:t>Denotational</a:t>
            </a:r>
            <a:r>
              <a:rPr lang="en-US" sz="2400" dirty="0" smtClean="0"/>
              <a:t> semantics is related to operational semantics. In operational semantics, programming language constructs are translated into simpler programming language constructs, which become the basis of the meaning of the construct. </a:t>
            </a:r>
          </a:p>
          <a:p>
            <a:endParaRPr lang="en-US" sz="24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152400"/>
            <a:ext cx="8229600" cy="6400800"/>
          </a:xfrm>
        </p:spPr>
        <p:txBody>
          <a:bodyPr>
            <a:normAutofit lnSpcReduction="10000"/>
          </a:bodyPr>
          <a:lstStyle/>
          <a:p>
            <a:r>
              <a:rPr lang="en-US" sz="2400" dirty="0" smtClean="0"/>
              <a:t>In </a:t>
            </a:r>
            <a:r>
              <a:rPr lang="en-US" sz="2400" dirty="0" err="1" smtClean="0"/>
              <a:t>denotational</a:t>
            </a:r>
            <a:r>
              <a:rPr lang="en-US" sz="2400" dirty="0" smtClean="0"/>
              <a:t> semantics, programming language constructs are mapped to mathematical objects, either sets or, more often, functions.</a:t>
            </a:r>
          </a:p>
          <a:p>
            <a:r>
              <a:rPr lang="en-US" sz="2400" dirty="0" smtClean="0"/>
              <a:t>However, unlike operational semantics, </a:t>
            </a:r>
            <a:r>
              <a:rPr lang="en-US" sz="2400" dirty="0" err="1" smtClean="0"/>
              <a:t>denotational</a:t>
            </a:r>
            <a:r>
              <a:rPr lang="en-US" sz="2400" dirty="0" smtClean="0"/>
              <a:t> semantics does not model the step-by-step computational processing of </a:t>
            </a:r>
            <a:r>
              <a:rPr lang="en-US" sz="2400" dirty="0" smtClean="0"/>
              <a:t>programs.</a:t>
            </a:r>
          </a:p>
          <a:p>
            <a:r>
              <a:rPr lang="en-US" sz="2400" b="1" dirty="0" smtClean="0"/>
              <a:t>Two </a:t>
            </a:r>
            <a:r>
              <a:rPr lang="en-US" sz="2400" b="1" dirty="0" smtClean="0"/>
              <a:t>Simple Examples</a:t>
            </a:r>
          </a:p>
          <a:p>
            <a:r>
              <a:rPr lang="en-US" sz="2600" dirty="0" smtClean="0"/>
              <a:t>We use a very simple language construct, character string representations of binary numbers, to introduce the </a:t>
            </a:r>
            <a:r>
              <a:rPr lang="en-US" sz="2600" dirty="0" err="1" smtClean="0"/>
              <a:t>denotational</a:t>
            </a:r>
            <a:r>
              <a:rPr lang="en-US" sz="2600" dirty="0" smtClean="0"/>
              <a:t> method. The syntax of such binary numbers can be described by the following grammar rules:</a:t>
            </a:r>
          </a:p>
          <a:p>
            <a:r>
              <a:rPr lang="en-US" sz="2600" dirty="0" smtClean="0"/>
              <a:t> &lt;</a:t>
            </a:r>
            <a:r>
              <a:rPr lang="en-US" sz="2600" dirty="0" err="1" smtClean="0"/>
              <a:t>bin_num</a:t>
            </a:r>
            <a:r>
              <a:rPr lang="en-US" sz="2600" dirty="0" smtClean="0"/>
              <a:t>&gt; → '0</a:t>
            </a:r>
            <a:r>
              <a:rPr lang="en-US" sz="2600" dirty="0" smtClean="0"/>
              <a:t>'</a:t>
            </a:r>
            <a:endParaRPr lang="en-US" sz="2600" dirty="0" smtClean="0"/>
          </a:p>
          <a:p>
            <a:r>
              <a:rPr lang="en-US" sz="2600" dirty="0" smtClean="0"/>
              <a:t>| '1</a:t>
            </a:r>
            <a:r>
              <a:rPr lang="en-US" sz="2600" dirty="0" smtClean="0"/>
              <a:t>'</a:t>
            </a:r>
            <a:r>
              <a:rPr lang="en-US" sz="2600" dirty="0" smtClean="0"/>
              <a:t> </a:t>
            </a:r>
          </a:p>
          <a:p>
            <a:r>
              <a:rPr lang="en-US" sz="2600" dirty="0" smtClean="0"/>
              <a:t>| &lt;</a:t>
            </a:r>
            <a:r>
              <a:rPr lang="en-US" sz="2600" dirty="0" err="1" smtClean="0"/>
              <a:t>bin_num</a:t>
            </a:r>
            <a:r>
              <a:rPr lang="en-US" sz="2600" dirty="0" smtClean="0"/>
              <a:t>&gt; '0'</a:t>
            </a:r>
          </a:p>
          <a:p>
            <a:r>
              <a:rPr lang="en-US" sz="2600" dirty="0" smtClean="0"/>
              <a:t>| &lt;</a:t>
            </a:r>
            <a:r>
              <a:rPr lang="en-US" sz="2600" dirty="0" err="1" smtClean="0"/>
              <a:t>bin_num</a:t>
            </a:r>
            <a:r>
              <a:rPr lang="en-US" sz="2600" dirty="0" smtClean="0"/>
              <a:t>&gt; '1'</a:t>
            </a:r>
          </a:p>
          <a:p>
            <a:r>
              <a:rPr lang="en-US" sz="2600" dirty="0" smtClean="0"/>
              <a:t>A parse tree for the example binary number</a:t>
            </a:r>
            <a:endParaRPr lang="en-US" sz="26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172200"/>
          </a:xfrm>
        </p:spPr>
        <p:txBody>
          <a:bodyPr>
            <a:normAutofit/>
          </a:bodyPr>
          <a:lstStyle/>
          <a:p>
            <a:r>
              <a:rPr lang="en-US" sz="2400" dirty="0" smtClean="0"/>
              <a:t>Notice that we put apostrophes around the syntactic digits to show they are not mathematical digits. This is similar to the relationship between ASCII coded digits and mathematical digits. When a program reads a number as a string, it must be converted to a mathematical number before it can be used as a value in the program.</a:t>
            </a:r>
          </a:p>
          <a:p>
            <a:r>
              <a:rPr lang="en-US" sz="2400" dirty="0" smtClean="0"/>
              <a:t/>
            </a:r>
            <a:br>
              <a:rPr lang="en-US" sz="2400" dirty="0" smtClean="0"/>
            </a:br>
            <a:endParaRPr lang="en-US" sz="2400" dirty="0" smtClean="0"/>
          </a:p>
          <a:p>
            <a:endParaRPr lang="en-US" sz="2400" dirty="0"/>
          </a:p>
        </p:txBody>
      </p:sp>
      <p:pic>
        <p:nvPicPr>
          <p:cNvPr id="4" name="Image 237"/>
          <p:cNvPicPr/>
          <p:nvPr/>
        </p:nvPicPr>
        <p:blipFill>
          <a:blip r:embed="rId2" cstate="print"/>
          <a:stretch>
            <a:fillRect/>
          </a:stretch>
        </p:blipFill>
        <p:spPr>
          <a:xfrm>
            <a:off x="2209800" y="2895600"/>
            <a:ext cx="4284133" cy="3572934"/>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248400"/>
          </a:xfrm>
        </p:spPr>
        <p:txBody>
          <a:bodyPr>
            <a:normAutofit/>
          </a:bodyPr>
          <a:lstStyle/>
          <a:p>
            <a:r>
              <a:rPr lang="en-US" sz="2400" dirty="0" smtClean="0"/>
              <a:t>The semantic function, named </a:t>
            </a:r>
            <a:r>
              <a:rPr lang="en-US" sz="2400" dirty="0" err="1" smtClean="0"/>
              <a:t>Mbin</a:t>
            </a:r>
            <a:r>
              <a:rPr lang="en-US" sz="2400" dirty="0" smtClean="0"/>
              <a:t>, maps the syntactic objects, as described in the previous grammar rules, to the objects in N, the set of non-negative decimal numbers. The function </a:t>
            </a:r>
            <a:r>
              <a:rPr lang="en-US" sz="2400" dirty="0" err="1" smtClean="0"/>
              <a:t>Mbin</a:t>
            </a:r>
            <a:r>
              <a:rPr lang="en-US" sz="2400" dirty="0" smtClean="0"/>
              <a:t> is defined as follows</a:t>
            </a:r>
            <a:r>
              <a:rPr lang="en-US" sz="2400" dirty="0" smtClean="0"/>
              <a:t>:</a:t>
            </a:r>
          </a:p>
          <a:p>
            <a:r>
              <a:rPr lang="en-US" sz="2400" dirty="0" err="1" smtClean="0"/>
              <a:t>Mbin</a:t>
            </a:r>
            <a:r>
              <a:rPr lang="en-US" sz="2400" dirty="0" smtClean="0"/>
              <a:t> </a:t>
            </a:r>
            <a:r>
              <a:rPr lang="en-US" sz="2400" dirty="0" smtClean="0"/>
              <a:t>('0') = </a:t>
            </a:r>
            <a:r>
              <a:rPr lang="en-US" sz="2400" dirty="0" smtClean="0"/>
              <a:t>0</a:t>
            </a:r>
            <a:endParaRPr lang="en-US" sz="2400" dirty="0" smtClean="0"/>
          </a:p>
          <a:p>
            <a:r>
              <a:rPr lang="en-US" sz="2400" dirty="0" smtClean="0"/>
              <a:t>  </a:t>
            </a:r>
            <a:r>
              <a:rPr lang="en-US" sz="2400" dirty="0" err="1" smtClean="0"/>
              <a:t>Mbin</a:t>
            </a:r>
            <a:r>
              <a:rPr lang="en-US" sz="2400" dirty="0" smtClean="0"/>
              <a:t> ('1') = </a:t>
            </a:r>
            <a:r>
              <a:rPr lang="en-US" sz="2400" dirty="0" smtClean="0"/>
              <a:t>1</a:t>
            </a:r>
            <a:endParaRPr lang="en-US" sz="2400" dirty="0" smtClean="0"/>
          </a:p>
          <a:p>
            <a:r>
              <a:rPr lang="en-US" sz="2400" dirty="0" smtClean="0"/>
              <a:t>  </a:t>
            </a:r>
            <a:r>
              <a:rPr lang="en-US" sz="2400" dirty="0" err="1" smtClean="0"/>
              <a:t>Mbin</a:t>
            </a:r>
            <a:r>
              <a:rPr lang="en-US" sz="2400" dirty="0" smtClean="0"/>
              <a:t> (&lt;</a:t>
            </a:r>
            <a:r>
              <a:rPr lang="en-US" sz="2400" dirty="0" err="1" smtClean="0"/>
              <a:t>bin_num</a:t>
            </a:r>
            <a:r>
              <a:rPr lang="en-US" sz="2400" dirty="0" smtClean="0"/>
              <a:t>&gt; '0') = 2 * </a:t>
            </a:r>
            <a:r>
              <a:rPr lang="en-US" sz="2400" dirty="0" err="1" smtClean="0"/>
              <a:t>Mbin</a:t>
            </a:r>
            <a:r>
              <a:rPr lang="en-US" sz="2400" dirty="0" smtClean="0"/>
              <a:t> (&lt;</a:t>
            </a:r>
            <a:r>
              <a:rPr lang="en-US" sz="2400" dirty="0" err="1" smtClean="0"/>
              <a:t>bin_num</a:t>
            </a:r>
            <a:r>
              <a:rPr lang="en-US" sz="2400" dirty="0" smtClean="0"/>
              <a:t>&gt;)</a:t>
            </a:r>
          </a:p>
          <a:p>
            <a:r>
              <a:rPr lang="en-US" sz="2400" dirty="0" smtClean="0"/>
              <a:t>  </a:t>
            </a:r>
            <a:r>
              <a:rPr lang="en-US" sz="2400" dirty="0" err="1" smtClean="0"/>
              <a:t>Mbin</a:t>
            </a:r>
            <a:r>
              <a:rPr lang="en-US" sz="2400" dirty="0" smtClean="0"/>
              <a:t> (&lt;</a:t>
            </a:r>
            <a:r>
              <a:rPr lang="en-US" sz="2400" dirty="0" err="1" smtClean="0"/>
              <a:t>bin_num</a:t>
            </a:r>
            <a:r>
              <a:rPr lang="en-US" sz="2400" dirty="0" smtClean="0"/>
              <a:t>&gt;'1') = 2 * </a:t>
            </a:r>
            <a:r>
              <a:rPr lang="en-US" sz="2400" dirty="0" err="1" smtClean="0"/>
              <a:t>Mbin</a:t>
            </a:r>
            <a:r>
              <a:rPr lang="en-US" sz="2400" dirty="0" smtClean="0"/>
              <a:t> (&lt;</a:t>
            </a:r>
            <a:r>
              <a:rPr lang="en-US" sz="2400" dirty="0" err="1" smtClean="0"/>
              <a:t>bin_num</a:t>
            </a:r>
            <a:r>
              <a:rPr lang="en-US" sz="2400" dirty="0" smtClean="0"/>
              <a:t>&gt;) + 1</a:t>
            </a:r>
          </a:p>
          <a:p>
            <a:endParaRPr lang="en-US" sz="2400" dirty="0"/>
          </a:p>
        </p:txBody>
      </p:sp>
      <p:pic>
        <p:nvPicPr>
          <p:cNvPr id="4" name="Image 242"/>
          <p:cNvPicPr/>
          <p:nvPr/>
        </p:nvPicPr>
        <p:blipFill>
          <a:blip r:embed="rId2" cstate="print"/>
          <a:stretch>
            <a:fillRect/>
          </a:stretch>
        </p:blipFill>
        <p:spPr>
          <a:xfrm>
            <a:off x="2362200" y="3733800"/>
            <a:ext cx="4286250" cy="25908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324600"/>
          </a:xfrm>
        </p:spPr>
        <p:txBody>
          <a:bodyPr>
            <a:normAutofit/>
          </a:bodyPr>
          <a:lstStyle/>
          <a:p>
            <a:pPr>
              <a:buNone/>
            </a:pPr>
            <a:r>
              <a:rPr lang="en-US" sz="2400" b="1" dirty="0" smtClean="0"/>
              <a:t>Axiomatic </a:t>
            </a:r>
            <a:r>
              <a:rPr lang="en-US" sz="2400" b="1" dirty="0" smtClean="0"/>
              <a:t>Semantics:</a:t>
            </a:r>
          </a:p>
          <a:p>
            <a:r>
              <a:rPr lang="en-US" sz="2400" b="1" dirty="0" smtClean="0"/>
              <a:t>Axiomatic semantics</a:t>
            </a:r>
            <a:r>
              <a:rPr lang="en-US" sz="2400" dirty="0" smtClean="0"/>
              <a:t>, thus named because it is based on mathematical logic, is the most abstract approach to semantics specification </a:t>
            </a:r>
            <a:r>
              <a:rPr lang="en-US" sz="2400" dirty="0" smtClean="0"/>
              <a:t>.</a:t>
            </a:r>
          </a:p>
          <a:p>
            <a:r>
              <a:rPr lang="en-US" sz="2400" dirty="0" smtClean="0"/>
              <a:t>Rather </a:t>
            </a:r>
            <a:r>
              <a:rPr lang="en-US" sz="2400" dirty="0" smtClean="0"/>
              <a:t>than directly specifying the meaning of a program, axiomatic semantics specifies what can be proven about the program. Recall that one of the possible uses of semantic specifications is to prove the correctness of programs</a:t>
            </a:r>
            <a:r>
              <a:rPr lang="en-US" sz="2400" dirty="0" smtClean="0"/>
              <a:t>.</a:t>
            </a:r>
          </a:p>
          <a:p>
            <a:r>
              <a:rPr lang="en-US" sz="2400" dirty="0" smtClean="0"/>
              <a:t>In axiomatic semantics, there is no model of the state of a machine or program or model of state changes that take place when the program is executed. </a:t>
            </a:r>
            <a:endParaRPr lang="en-US" sz="2400" dirty="0" smtClean="0"/>
          </a:p>
          <a:p>
            <a:r>
              <a:rPr lang="en-US" sz="2400" dirty="0" smtClean="0"/>
              <a:t>The </a:t>
            </a:r>
            <a:r>
              <a:rPr lang="en-US" sz="2400" dirty="0" smtClean="0"/>
              <a:t>meaning of a program is based on relationships among program variables and constants, which are the same for every execution of the program.</a:t>
            </a:r>
          </a:p>
          <a:p>
            <a:endParaRPr lang="en-US" sz="2400" dirty="0" smtClean="0"/>
          </a:p>
          <a:p>
            <a:pPr>
              <a:buNone/>
            </a:pPr>
            <a:endParaRPr lang="en-US" sz="2400" b="1"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228600"/>
            <a:ext cx="8229600" cy="6172200"/>
          </a:xfrm>
        </p:spPr>
        <p:txBody>
          <a:bodyPr>
            <a:normAutofit fontScale="92500" lnSpcReduction="10000"/>
          </a:bodyPr>
          <a:lstStyle/>
          <a:p>
            <a:r>
              <a:rPr lang="en-US" sz="2400" dirty="0" smtClean="0"/>
              <a:t>Axiomatic semantics has two distinct applications: program verification and program semantics </a:t>
            </a:r>
            <a:r>
              <a:rPr lang="en-US" sz="2400" dirty="0" smtClean="0"/>
              <a:t>specification</a:t>
            </a:r>
          </a:p>
          <a:p>
            <a:r>
              <a:rPr lang="en-US" sz="2400" dirty="0" smtClean="0"/>
              <a:t>Axiomatic semantics was defined in conjunction with the development of an approach to proving the correctness of </a:t>
            </a:r>
            <a:r>
              <a:rPr lang="en-US" sz="2400" dirty="0" smtClean="0"/>
              <a:t>programs</a:t>
            </a:r>
          </a:p>
          <a:p>
            <a:r>
              <a:rPr lang="en-US" sz="2400" dirty="0" smtClean="0"/>
              <a:t>Such correctness proofs, when they can be constructed, show that a program performs the computation described by its specification. In a proof, each statement of a program is both preceded and followed by a logical expression that specifies constraints </a:t>
            </a:r>
            <a:r>
              <a:rPr lang="en-US" sz="2400" dirty="0" smtClean="0"/>
              <a:t>on</a:t>
            </a:r>
            <a:r>
              <a:rPr lang="en-US" sz="2400" dirty="0" smtClean="0"/>
              <a:t/>
            </a:r>
            <a:br>
              <a:rPr lang="en-US" sz="2400" dirty="0" smtClean="0"/>
            </a:br>
            <a:r>
              <a:rPr lang="en-US" sz="2400" dirty="0" smtClean="0"/>
              <a:t>program variables. </a:t>
            </a:r>
            <a:endParaRPr lang="en-US" sz="2400" dirty="0" smtClean="0"/>
          </a:p>
          <a:p>
            <a:r>
              <a:rPr lang="en-US" sz="2400" dirty="0" smtClean="0"/>
              <a:t>These</a:t>
            </a:r>
            <a:r>
              <a:rPr lang="en-US" sz="2400" dirty="0" smtClean="0"/>
              <a:t>, rather than the entire state of an abstract machine (as with operational semantics), are used to specify the meaning of the statement. The notation used to describe constraints—indeed, the language of axiomatic semantics—is predicate calculus. Although simple Boolean expressions are often adequate to express constraints, in some cases they are not.</a:t>
            </a:r>
          </a:p>
          <a:p>
            <a:r>
              <a:rPr lang="en-US" sz="2400" dirty="0" smtClean="0"/>
              <a:t>When axiomatic semantics is used to specify formally the meaning of a statement, the meaning is defined by the statement’s effect on assertions about the data affected by the statement.</a:t>
            </a:r>
          </a:p>
          <a:p>
            <a:endParaRPr lang="en-US" sz="2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lnSpcReduction="10000"/>
          </a:bodyPr>
          <a:lstStyle/>
          <a:p>
            <a:pPr marL="342900" lvl="3" indent="-342900">
              <a:buNone/>
            </a:pPr>
            <a:r>
              <a:rPr lang="en-US" sz="2400" b="1" dirty="0" smtClean="0"/>
              <a:t>Assertions:</a:t>
            </a:r>
          </a:p>
          <a:p>
            <a:pPr marL="342900" lvl="3" indent="-342900">
              <a:buFont typeface="Arial" pitchFamily="34" charset="0"/>
              <a:buChar char="•"/>
            </a:pPr>
            <a:r>
              <a:rPr lang="en-US" sz="2400" dirty="0" smtClean="0"/>
              <a:t>The logical expressions used in axiomatic semantics are called predicates, or </a:t>
            </a:r>
            <a:r>
              <a:rPr lang="en-US" sz="2400" b="1" dirty="0" smtClean="0"/>
              <a:t>assertions</a:t>
            </a:r>
            <a:r>
              <a:rPr lang="en-US" sz="2400" dirty="0" smtClean="0"/>
              <a:t>. </a:t>
            </a:r>
            <a:endParaRPr lang="en-US" sz="2400" dirty="0" smtClean="0"/>
          </a:p>
          <a:p>
            <a:pPr marL="342900" lvl="3" indent="-342900">
              <a:buFont typeface="Arial" pitchFamily="34" charset="0"/>
              <a:buChar char="•"/>
            </a:pPr>
            <a:r>
              <a:rPr lang="en-US" sz="2400" dirty="0" smtClean="0"/>
              <a:t>An </a:t>
            </a:r>
            <a:r>
              <a:rPr lang="en-US" sz="2400" dirty="0" smtClean="0"/>
              <a:t>assertion immediately preceding a program statement describes the constraints on the program variables at that point in the program. </a:t>
            </a:r>
            <a:endParaRPr lang="en-US" sz="2400" dirty="0" smtClean="0"/>
          </a:p>
          <a:p>
            <a:pPr marL="342900" lvl="3" indent="-342900">
              <a:buFont typeface="Arial" pitchFamily="34" charset="0"/>
              <a:buChar char="•"/>
            </a:pPr>
            <a:r>
              <a:rPr lang="en-US" sz="2400" dirty="0" smtClean="0"/>
              <a:t>An </a:t>
            </a:r>
            <a:r>
              <a:rPr lang="en-US" sz="2400" dirty="0" smtClean="0"/>
              <a:t>assertion immediately following a statement describes the new constraints on those variables (and possibly others) after execution of the statement. </a:t>
            </a:r>
            <a:endParaRPr lang="en-US" sz="2400" dirty="0" smtClean="0"/>
          </a:p>
          <a:p>
            <a:pPr marL="342900" lvl="3" indent="-342900">
              <a:buFont typeface="Arial" pitchFamily="34" charset="0"/>
              <a:buChar char="•"/>
            </a:pPr>
            <a:r>
              <a:rPr lang="en-US" sz="2400" dirty="0" smtClean="0"/>
              <a:t>These </a:t>
            </a:r>
            <a:r>
              <a:rPr lang="en-US" sz="2400" dirty="0" smtClean="0"/>
              <a:t>assertions are called the </a:t>
            </a:r>
            <a:r>
              <a:rPr lang="en-US" sz="2400" b="1" dirty="0" smtClean="0"/>
              <a:t>precondition </a:t>
            </a:r>
            <a:r>
              <a:rPr lang="en-US" sz="2400" dirty="0" smtClean="0"/>
              <a:t>and </a:t>
            </a:r>
            <a:r>
              <a:rPr lang="en-US" sz="2400" b="1" dirty="0" err="1" smtClean="0"/>
              <a:t>postcondition</a:t>
            </a:r>
            <a:r>
              <a:rPr lang="en-US" sz="2400" dirty="0" smtClean="0"/>
              <a:t>, respectively, of the statement. For two adjacent statements, the </a:t>
            </a:r>
            <a:r>
              <a:rPr lang="en-US" sz="2400" dirty="0" err="1" smtClean="0"/>
              <a:t>postcondition</a:t>
            </a:r>
            <a:r>
              <a:rPr lang="en-US" sz="2400" dirty="0" smtClean="0"/>
              <a:t> of the first serves as the precondition of the second. </a:t>
            </a:r>
            <a:endParaRPr lang="en-US" sz="2400" dirty="0" smtClean="0"/>
          </a:p>
          <a:p>
            <a:pPr marL="342900" lvl="3" indent="-342900">
              <a:buFont typeface="Arial" pitchFamily="34" charset="0"/>
              <a:buChar char="•"/>
            </a:pPr>
            <a:r>
              <a:rPr lang="en-US" sz="2400" dirty="0" smtClean="0"/>
              <a:t>Developing </a:t>
            </a:r>
            <a:r>
              <a:rPr lang="en-US" sz="2400" dirty="0" smtClean="0"/>
              <a:t>an axiomatic description or proof of a given program requires that every statement in the program has both a precondition and a </a:t>
            </a:r>
            <a:r>
              <a:rPr lang="en-US" sz="2400" dirty="0" err="1" smtClean="0"/>
              <a:t>postcondition</a:t>
            </a:r>
            <a:r>
              <a:rPr lang="en-US" sz="2400" dirty="0" smtClean="0"/>
              <a:t>.</a:t>
            </a:r>
          </a:p>
          <a:p>
            <a:pPr marL="342900" lvl="3" indent="-342900">
              <a:buFont typeface="Arial" pitchFamily="34" charset="0"/>
              <a:buChar char="•"/>
            </a:pPr>
            <a:endParaRPr lang="en-US" sz="2400" dirty="0" smtClean="0"/>
          </a:p>
          <a:p>
            <a:endParaRPr lang="en-US" sz="24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248400"/>
          </a:xfrm>
        </p:spPr>
        <p:txBody>
          <a:bodyPr>
            <a:normAutofit/>
          </a:bodyPr>
          <a:lstStyle/>
          <a:p>
            <a:r>
              <a:rPr lang="en-US" sz="2400" dirty="0" smtClean="0"/>
              <a:t>As a simple example, consider the following assignment statement and </a:t>
            </a:r>
            <a:r>
              <a:rPr lang="en-US" sz="2400" dirty="0" err="1" smtClean="0"/>
              <a:t>postcondition</a:t>
            </a:r>
            <a:r>
              <a:rPr lang="en-US" sz="2400" dirty="0" smtClean="0"/>
              <a:t>:</a:t>
            </a:r>
          </a:p>
          <a:p>
            <a:r>
              <a:rPr lang="en-US" sz="2400" dirty="0" smtClean="0"/>
              <a:t>sum = 2 * x + 1 {sum &gt; 1</a:t>
            </a:r>
            <a:r>
              <a:rPr lang="en-US" sz="2400" dirty="0" smtClean="0"/>
              <a:t>}</a:t>
            </a:r>
            <a:endParaRPr lang="en-US" sz="2400" dirty="0" smtClean="0"/>
          </a:p>
          <a:p>
            <a:r>
              <a:rPr lang="en-US" sz="2400" dirty="0" smtClean="0"/>
              <a:t>Precondition and </a:t>
            </a:r>
            <a:r>
              <a:rPr lang="en-US" sz="2400" dirty="0" err="1" smtClean="0"/>
              <a:t>postcondition</a:t>
            </a:r>
            <a:r>
              <a:rPr lang="en-US" sz="2400" dirty="0" smtClean="0"/>
              <a:t> assertions are presented in braces to distinguish them from parts of program statements. One possible precondition for this statement is {x &gt; 10}.</a:t>
            </a:r>
          </a:p>
          <a:p>
            <a:r>
              <a:rPr lang="en-US" sz="2400" dirty="0" smtClean="0"/>
              <a:t>In axiomatic semantics, the meaning of a specific statement is defined by </a:t>
            </a:r>
            <a:r>
              <a:rPr lang="en-US" sz="2400" dirty="0" err="1" smtClean="0"/>
              <a:t>itsprecondition</a:t>
            </a:r>
            <a:r>
              <a:rPr lang="en-US" sz="2400" dirty="0" smtClean="0"/>
              <a:t> </a:t>
            </a:r>
            <a:r>
              <a:rPr lang="en-US" sz="2400" dirty="0" smtClean="0"/>
              <a:t>and its </a:t>
            </a:r>
            <a:r>
              <a:rPr lang="en-US" sz="2400" dirty="0" err="1" smtClean="0"/>
              <a:t>postcondition</a:t>
            </a:r>
            <a:r>
              <a:rPr lang="en-US" sz="2400" dirty="0" smtClean="0"/>
              <a:t>. In effect, the two assertions specify precisely the effect of executing the statement</a:t>
            </a:r>
            <a:r>
              <a:rPr lang="en-US" sz="2400" dirty="0" smtClean="0"/>
              <a:t>.</a:t>
            </a:r>
          </a:p>
          <a:p>
            <a:r>
              <a:rPr lang="en-US" sz="2400" dirty="0" smtClean="0"/>
              <a:t>The more general concept of axiomatic semantics is to state precisely the meaning of statements and programs in terms of logic expressions. Program verification is one application of axiomatic descriptions of languages.</a:t>
            </a:r>
          </a:p>
          <a:p>
            <a:endParaRPr lang="en-US" sz="2400" dirty="0" smtClean="0"/>
          </a:p>
          <a:p>
            <a:endParaRPr lang="en-US" sz="2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lnSpcReduction="10000"/>
          </a:bodyPr>
          <a:lstStyle/>
          <a:p>
            <a:pPr marL="342900" lvl="3" indent="-342900">
              <a:buNone/>
            </a:pPr>
            <a:r>
              <a:rPr lang="en-US" sz="2400" b="1" dirty="0" smtClean="0"/>
              <a:t>Weakest </a:t>
            </a:r>
            <a:r>
              <a:rPr lang="en-US" sz="2400" b="1" dirty="0" smtClean="0"/>
              <a:t>Preconditions</a:t>
            </a:r>
          </a:p>
          <a:p>
            <a:pPr marL="342900" lvl="3" indent="-342900">
              <a:buFont typeface="Arial" pitchFamily="34" charset="0"/>
              <a:buChar char="•"/>
            </a:pPr>
            <a:r>
              <a:rPr lang="en-US" sz="2400" dirty="0" smtClean="0"/>
              <a:t>The </a:t>
            </a:r>
            <a:r>
              <a:rPr lang="en-US" sz="2400" b="1" dirty="0" smtClean="0"/>
              <a:t>weakest precondition </a:t>
            </a:r>
            <a:r>
              <a:rPr lang="en-US" sz="2400" dirty="0" smtClean="0"/>
              <a:t>is the least restrictive precondition that will guarantee the validity of the associated </a:t>
            </a:r>
            <a:r>
              <a:rPr lang="en-US" sz="2400" dirty="0" err="1" smtClean="0"/>
              <a:t>postcondition</a:t>
            </a:r>
            <a:r>
              <a:rPr lang="en-US" sz="2400" dirty="0" smtClean="0"/>
              <a:t>. </a:t>
            </a:r>
            <a:endParaRPr lang="en-US" sz="2400" dirty="0" smtClean="0"/>
          </a:p>
          <a:p>
            <a:pPr marL="342900" lvl="3" indent="-342900">
              <a:buFont typeface="Arial" pitchFamily="34" charset="0"/>
              <a:buChar char="•"/>
            </a:pPr>
            <a:r>
              <a:rPr lang="en-US" sz="2400" dirty="0" smtClean="0"/>
              <a:t>If the weakest precondition can be computed from the most general </a:t>
            </a:r>
            <a:r>
              <a:rPr lang="en-US" sz="2400" dirty="0" err="1" smtClean="0"/>
              <a:t>postcondition</a:t>
            </a:r>
            <a:r>
              <a:rPr lang="en-US" sz="2400" dirty="0" smtClean="0"/>
              <a:t> for each of the statement types of a language, then the processes used to compute these preconditions provide a concise description of the semantics of that language. </a:t>
            </a:r>
            <a:endParaRPr lang="en-US" sz="2400" dirty="0" smtClean="0"/>
          </a:p>
          <a:p>
            <a:pPr marL="342900" lvl="3" indent="-342900">
              <a:buFont typeface="Arial" pitchFamily="34" charset="0"/>
              <a:buChar char="•"/>
            </a:pPr>
            <a:r>
              <a:rPr lang="en-US" sz="2400" dirty="0" smtClean="0"/>
              <a:t>An </a:t>
            </a:r>
            <a:r>
              <a:rPr lang="en-US" sz="2400" b="1" dirty="0" smtClean="0"/>
              <a:t>inference rule </a:t>
            </a:r>
            <a:r>
              <a:rPr lang="en-US" sz="2400" dirty="0" smtClean="0"/>
              <a:t>is a method of inferring the truth of one assertion on the basis of the values of other assertions. </a:t>
            </a:r>
            <a:endParaRPr lang="en-US" sz="2400" dirty="0" smtClean="0"/>
          </a:p>
          <a:p>
            <a:pPr marL="342900" lvl="3" indent="-342900">
              <a:buFont typeface="Arial" pitchFamily="34" charset="0"/>
              <a:buChar char="•"/>
            </a:pPr>
            <a:r>
              <a:rPr lang="en-US" sz="2400" dirty="0" smtClean="0"/>
              <a:t>The general form of an inference rule is as follows:</a:t>
            </a:r>
          </a:p>
          <a:p>
            <a:r>
              <a:rPr lang="en-US" sz="2400" dirty="0" smtClean="0"/>
              <a:t>S1, S2, …, </a:t>
            </a:r>
            <a:r>
              <a:rPr lang="en-US" sz="2400" dirty="0" err="1" smtClean="0"/>
              <a:t>SnS</a:t>
            </a:r>
            <a:endParaRPr lang="en-US" sz="2400" dirty="0" smtClean="0"/>
          </a:p>
          <a:p>
            <a:r>
              <a:rPr lang="en-US" sz="2400" dirty="0" smtClean="0"/>
              <a:t>This rule states that if S1, S2, . . . , and </a:t>
            </a:r>
            <a:r>
              <a:rPr lang="en-US" sz="2400" dirty="0" err="1" smtClean="0"/>
              <a:t>S</a:t>
            </a:r>
            <a:r>
              <a:rPr lang="en-US" sz="2400" i="1" dirty="0" err="1" smtClean="0"/>
              <a:t>n</a:t>
            </a:r>
            <a:r>
              <a:rPr lang="en-US" sz="2400" i="1" dirty="0" smtClean="0"/>
              <a:t> </a:t>
            </a:r>
            <a:r>
              <a:rPr lang="en-US" sz="2400" dirty="0" smtClean="0"/>
              <a:t>are true, then the truth of S can be inferred. The top part of an inference rule is called its </a:t>
            </a:r>
            <a:r>
              <a:rPr lang="en-US" sz="2400" b="1" dirty="0" smtClean="0"/>
              <a:t>antecedent</a:t>
            </a:r>
            <a:r>
              <a:rPr lang="en-US" sz="2400" dirty="0" smtClean="0"/>
              <a:t>; the bottom part is called its </a:t>
            </a:r>
            <a:r>
              <a:rPr lang="en-US" sz="2400" b="1" dirty="0" smtClean="0"/>
              <a:t>consequent</a:t>
            </a:r>
            <a:r>
              <a:rPr lang="en-US" sz="2600" dirty="0" smtClean="0"/>
              <a:t>.</a:t>
            </a:r>
          </a:p>
          <a:p>
            <a:pPr marL="342900" lvl="3" indent="-342900">
              <a:buFont typeface="Arial" pitchFamily="34" charset="0"/>
              <a:buChar char="•"/>
            </a:pPr>
            <a:endParaRPr lang="en-US" sz="2400" dirty="0" smtClean="0"/>
          </a:p>
          <a:p>
            <a:endParaRPr lang="en-US" sz="24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smtClean="0"/>
              <a:t>.</a:t>
            </a:r>
            <a:endParaRPr lang="en-US" sz="800" dirty="0"/>
          </a:p>
        </p:txBody>
      </p:sp>
      <p:sp>
        <p:nvSpPr>
          <p:cNvPr id="3" name="Content Placeholder 2"/>
          <p:cNvSpPr>
            <a:spLocks noGrp="1"/>
          </p:cNvSpPr>
          <p:nvPr>
            <p:ph idx="1"/>
          </p:nvPr>
        </p:nvSpPr>
        <p:spPr>
          <a:xfrm>
            <a:off x="457200" y="304800"/>
            <a:ext cx="8229600" cy="6324600"/>
          </a:xfrm>
        </p:spPr>
        <p:txBody>
          <a:bodyPr>
            <a:normAutofit lnSpcReduction="10000"/>
          </a:bodyPr>
          <a:lstStyle/>
          <a:p>
            <a:r>
              <a:rPr lang="en-US" sz="2400" dirty="0" smtClean="0"/>
              <a:t>An </a:t>
            </a:r>
            <a:r>
              <a:rPr lang="en-US" sz="2400" b="1" dirty="0" smtClean="0"/>
              <a:t>axiom </a:t>
            </a:r>
            <a:r>
              <a:rPr lang="en-US" sz="2400" dirty="0" smtClean="0"/>
              <a:t>is a logical statement that is assumed to be true. Therefore, an axiom is an inference rule without an </a:t>
            </a:r>
            <a:r>
              <a:rPr lang="en-US" sz="2400" dirty="0" smtClean="0"/>
              <a:t>antecedent.</a:t>
            </a:r>
          </a:p>
          <a:p>
            <a:r>
              <a:rPr lang="en-US" sz="2400" dirty="0" smtClean="0"/>
              <a:t>For some program statements, the computation of a weakest precondition from the statement and a </a:t>
            </a:r>
            <a:r>
              <a:rPr lang="en-US" sz="2400" dirty="0" err="1" smtClean="0"/>
              <a:t>postcondition</a:t>
            </a:r>
            <a:r>
              <a:rPr lang="en-US" sz="2400" dirty="0" smtClean="0"/>
              <a:t> is simple and can be specified by an axiom. In most cases, however, the weakest precondition can be specified only by an inference rule.</a:t>
            </a:r>
          </a:p>
          <a:p>
            <a:r>
              <a:rPr lang="en-US" sz="2400" dirty="0" smtClean="0"/>
              <a:t>To use axiomatic semantics with a given programming language, whether for correctness proofs or for formal semantics specifications, either an axiom or an inference rule must exist for each kind of statement in the language. In the following subsections, we present an axiom for assignment statements and inference rules for statement sequences, selection statements, and logical pretest loop statements. Note that we assume that neither arithmetic nor - Boolean expressions have side effects.</a:t>
            </a:r>
            <a:endParaRPr lang="en-US" sz="2400" smtClean="0"/>
          </a:p>
          <a:p>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622</TotalTime>
  <Words>10206</Words>
  <Application>Microsoft Office PowerPoint</Application>
  <PresentationFormat>On-screen Show (4:3)</PresentationFormat>
  <Paragraphs>626</Paragraphs>
  <Slides>107</Slides>
  <Notes>0</Notes>
  <HiddenSlides>0</HiddenSlides>
  <MMClips>0</MMClips>
  <ScaleCrop>false</ScaleCrop>
  <HeadingPairs>
    <vt:vector size="4" baseType="variant">
      <vt:variant>
        <vt:lpstr>Theme</vt:lpstr>
      </vt:variant>
      <vt:variant>
        <vt:i4>1</vt:i4>
      </vt:variant>
      <vt:variant>
        <vt:lpstr>Slide Titles</vt:lpstr>
      </vt:variant>
      <vt:variant>
        <vt:i4>107</vt:i4>
      </vt:variant>
    </vt:vector>
  </HeadingPairs>
  <TitlesOfParts>
    <vt:vector size="108" baseType="lpstr">
      <vt:lpstr>Office Theme</vt:lpstr>
      <vt:lpstr>  Principles of Programming Languages        </vt:lpstr>
      <vt:lpstr>Reasons for Studying Concepts of Programming Languages </vt:lpstr>
      <vt:lpstr>. </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lpstr>.</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Principles of Programming Languages        </dc:title>
  <dc:creator>pc</dc:creator>
  <cp:lastModifiedBy>pc</cp:lastModifiedBy>
  <cp:revision>116</cp:revision>
  <dcterms:created xsi:type="dcterms:W3CDTF">2006-08-16T00:00:00Z</dcterms:created>
  <dcterms:modified xsi:type="dcterms:W3CDTF">2024-11-24T14:23:22Z</dcterms:modified>
</cp:coreProperties>
</file>