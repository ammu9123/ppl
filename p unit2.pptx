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257" r:id="rId3"/>
    <p:sldId id="260" r:id="rId4"/>
    <p:sldId id="261" r:id="rId5"/>
    <p:sldId id="262" r:id="rId6"/>
    <p:sldId id="258" r:id="rId7"/>
    <p:sldId id="259"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4" r:id="rId36"/>
    <p:sldId id="295" r:id="rId37"/>
    <p:sldId id="296" r:id="rId38"/>
    <p:sldId id="297" r:id="rId39"/>
    <p:sldId id="298" r:id="rId40"/>
    <p:sldId id="290" r:id="rId41"/>
    <p:sldId id="291" r:id="rId42"/>
    <p:sldId id="292" r:id="rId43"/>
    <p:sldId id="293"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1291" y="-8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87327E-569F-4A91-BBCD-DA1E343644D5}" type="datetimeFigureOut">
              <a:rPr lang="en-US" smtClean="0"/>
              <a:t>26-Sep-24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6AFA56-046A-43CC-A42A-A287730CCE8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F6AFA56-046A-43CC-A42A-A287730CCE8B}" type="slidenum">
              <a:rPr lang="en-US" smtClean="0"/>
              <a:t>108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26-Sep-24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26-Sep-24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26-Sep-24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26-Sep-24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26-Sep-24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UNIT-II</a:t>
            </a:r>
            <a:endParaRPr lang="en-US" b="1" dirty="0"/>
          </a:p>
        </p:txBody>
      </p:sp>
      <p:sp>
        <p:nvSpPr>
          <p:cNvPr id="3" name="Subtitle 2"/>
          <p:cNvSpPr>
            <a:spLocks noGrp="1"/>
          </p:cNvSpPr>
          <p:nvPr>
            <p:ph type="subTitle" idx="1"/>
          </p:nvPr>
        </p:nvSpPr>
        <p:spPr/>
        <p:txBody>
          <a:bodyPr/>
          <a:lstStyle/>
          <a:p>
            <a:r>
              <a:rPr lang="en-US" b="1" dirty="0" smtClean="0">
                <a:solidFill>
                  <a:srgbClr val="FF0000"/>
                </a:solidFill>
              </a:rPr>
              <a:t>NAMES ,BINDINGS AND SCOPES</a:t>
            </a:r>
          </a:p>
          <a:p>
            <a:r>
              <a:rPr lang="en-US" b="1" dirty="0" smtClean="0">
                <a:solidFill>
                  <a:srgbClr val="FF0000"/>
                </a:solidFill>
              </a:rPr>
              <a:t>DATA TYPES</a:t>
            </a:r>
            <a:endParaRPr lang="en-US"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pPr>
              <a:buNone/>
            </a:pPr>
            <a:r>
              <a:rPr lang="en-US" sz="2400" b="1" dirty="0" smtClean="0"/>
              <a:t>What you will Learn:-</a:t>
            </a:r>
          </a:p>
          <a:p>
            <a:r>
              <a:rPr lang="en-US" sz="2400" dirty="0" smtClean="0"/>
              <a:t>Fundamental semantic issues of variables</a:t>
            </a:r>
          </a:p>
          <a:p>
            <a:r>
              <a:rPr lang="en-US" sz="2400" dirty="0" smtClean="0"/>
              <a:t> Describing the nature of names and special words in programming languages </a:t>
            </a:r>
          </a:p>
          <a:p>
            <a:r>
              <a:rPr lang="en-US" sz="2400" dirty="0" smtClean="0"/>
              <a:t> The attributes of variables, including type, address, and value </a:t>
            </a:r>
          </a:p>
          <a:p>
            <a:r>
              <a:rPr lang="en-US" sz="2400" dirty="0" smtClean="0"/>
              <a:t> The issue of aliases</a:t>
            </a:r>
          </a:p>
          <a:p>
            <a:r>
              <a:rPr lang="en-US" sz="2400" dirty="0" smtClean="0"/>
              <a:t> Important concepts of binding and binding times </a:t>
            </a:r>
          </a:p>
          <a:p>
            <a:r>
              <a:rPr lang="en-US" sz="2400" dirty="0" smtClean="0"/>
              <a:t>The different possible binding times for variable attributes and how they define four different categories of variables </a:t>
            </a:r>
          </a:p>
          <a:p>
            <a:r>
              <a:rPr lang="en-US" sz="2400" dirty="0" smtClean="0"/>
              <a:t> Two very different scoping rules for names, static and dynamic</a:t>
            </a:r>
          </a:p>
          <a:p>
            <a:r>
              <a:rPr lang="en-US" sz="2400" dirty="0" smtClean="0"/>
              <a:t>  The concept of a referencing environment of a statement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Example for imperative language</a:t>
            </a:r>
            <a:endParaRPr lang="en-US" sz="2400" b="1" dirty="0"/>
          </a:p>
        </p:txBody>
      </p:sp>
      <p:sp>
        <p:nvSpPr>
          <p:cNvPr id="16385" name="Rectangle 1"/>
          <p:cNvSpPr>
            <a:spLocks noGrp="1" noChangeArrowheads="1"/>
          </p:cNvSpPr>
          <p:nvPr>
            <p:ph idx="1"/>
          </p:nvPr>
        </p:nvSpPr>
        <p:spPr bwMode="auto">
          <a:xfrm>
            <a:off x="457200" y="1214189"/>
            <a:ext cx="8292655" cy="415498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457200" marR="0" lvl="1" indent="0" algn="l" defTabSz="914400" rtl="0" eaLnBrk="1" fontAlgn="base" latinLnBrk="0" hangingPunct="1">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Start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Turn on your shoes size 9 1/2.</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Make room in your pocket to keep an array[7] of keys.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Put the keys in the room for the keys in the pocket.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Enter garage.</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Open garage.</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Enter Car.</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095375" algn="l"/>
              </a:tabLst>
            </a:pPr>
            <a:r>
              <a:rPr kumimoji="0" lang="en-US" sz="2400" b="0" i="1" u="none" strike="noStrike" cap="none" normalizeH="0" baseline="0" dirty="0" smtClean="0">
                <a:ln>
                  <a:noFill/>
                </a:ln>
                <a:solidFill>
                  <a:srgbClr val="232629"/>
                </a:solidFill>
                <a:effectLst/>
                <a:latin typeface="Arial" pitchFamily="34" charset="0"/>
                <a:ea typeface="Arial MT"/>
                <a:cs typeface="Arial MT"/>
              </a:rPr>
              <a:t>... and so on and 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Put the milk in the refrigerator.</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1095375" algn="l"/>
              </a:tabLst>
            </a:pPr>
            <a:r>
              <a:rPr kumimoji="0" lang="en-US" sz="2400" b="0" i="0" u="none" strike="noStrike" cap="none" normalizeH="0" baseline="0" dirty="0" smtClean="0">
                <a:ln>
                  <a:noFill/>
                </a:ln>
                <a:solidFill>
                  <a:srgbClr val="232629"/>
                </a:solidFill>
                <a:effectLst/>
                <a:latin typeface="Arial" pitchFamily="34" charset="0"/>
                <a:ea typeface="Arial MT"/>
                <a:cs typeface="Arial MT"/>
              </a:rPr>
              <a:t>Stop.</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095375" algn="l"/>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Example for Functional language</a:t>
            </a:r>
            <a:endParaRPr lang="en-US" sz="2400" b="1" dirty="0"/>
          </a:p>
        </p:txBody>
      </p:sp>
      <p:sp>
        <p:nvSpPr>
          <p:cNvPr id="3" name="Content Placeholder 2"/>
          <p:cNvSpPr>
            <a:spLocks noGrp="1"/>
          </p:cNvSpPr>
          <p:nvPr>
            <p:ph idx="1"/>
          </p:nvPr>
        </p:nvSpPr>
        <p:spPr/>
        <p:txBody>
          <a:bodyPr>
            <a:normAutofit fontScale="77500" lnSpcReduction="20000"/>
          </a:bodyPr>
          <a:lstStyle/>
          <a:p>
            <a:pPr lvl="0"/>
            <a:r>
              <a:rPr lang="en-US" dirty="0" smtClean="0"/>
              <a:t>Milk is a healthy drink, unless you have problems digesting lactose.</a:t>
            </a:r>
          </a:p>
          <a:p>
            <a:pPr lvl="0"/>
            <a:r>
              <a:rPr lang="en-US" dirty="0" smtClean="0"/>
              <a:t>Usually, one stores milk in a refrigerator.</a:t>
            </a:r>
          </a:p>
          <a:p>
            <a:pPr lvl="0"/>
            <a:r>
              <a:rPr lang="en-US" dirty="0" smtClean="0"/>
              <a:t>A refrigerator is a box that keeps the things in it cool.</a:t>
            </a:r>
          </a:p>
          <a:p>
            <a:pPr lvl="0"/>
            <a:r>
              <a:rPr lang="en-US" dirty="0" smtClean="0"/>
              <a:t>A store is a place where items are sold.</a:t>
            </a:r>
          </a:p>
          <a:p>
            <a:pPr lvl="0"/>
            <a:r>
              <a:rPr lang="en-US" dirty="0" smtClean="0"/>
              <a:t>By "selling" we mean the exchange of things for money.</a:t>
            </a:r>
          </a:p>
          <a:p>
            <a:pPr lvl="0"/>
            <a:r>
              <a:rPr lang="en-US" dirty="0" smtClean="0"/>
              <a:t>Also, the exchange of money for things is called "buying".</a:t>
            </a:r>
          </a:p>
          <a:p>
            <a:r>
              <a:rPr lang="en-US" dirty="0" smtClean="0"/>
              <a:t>... and so on and on ...</a:t>
            </a:r>
          </a:p>
          <a:p>
            <a:pPr lvl="0"/>
            <a:r>
              <a:rPr lang="en-US" dirty="0" smtClean="0"/>
              <a:t>Make sure we have milk in the refrigerator</a:t>
            </a:r>
          </a:p>
          <a:p>
            <a:r>
              <a:rPr lang="en-US" dirty="0" smtClean="0"/>
              <a:t>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r>
              <a:rPr lang="en-US" sz="800" dirty="0" smtClean="0"/>
              <a:t>.</a:t>
            </a:r>
            <a:endParaRPr lang="en-US" sz="800" dirty="0"/>
          </a:p>
        </p:txBody>
      </p:sp>
      <p:pic>
        <p:nvPicPr>
          <p:cNvPr id="4" name="image1.jpeg"/>
          <p:cNvPicPr>
            <a:picLocks noGrp="1"/>
          </p:cNvPicPr>
          <p:nvPr>
            <p:ph idx="1"/>
          </p:nvPr>
        </p:nvPicPr>
        <p:blipFill>
          <a:blip r:embed="rId2" cstate="print"/>
          <a:stretch>
            <a:fillRect/>
          </a:stretch>
        </p:blipFill>
        <p:spPr>
          <a:xfrm>
            <a:off x="457200" y="609600"/>
            <a:ext cx="8229600" cy="5181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a:bodyPr>
          <a:lstStyle/>
          <a:p>
            <a:r>
              <a:rPr lang="en-US" sz="2400" dirty="0" smtClean="0"/>
              <a:t>The architecture’s two primary components are its </a:t>
            </a:r>
            <a:r>
              <a:rPr lang="en-US" sz="2400" b="1" dirty="0" smtClean="0"/>
              <a:t>memory</a:t>
            </a:r>
            <a:r>
              <a:rPr lang="en-US" sz="2400" dirty="0" smtClean="0"/>
              <a:t>, which stores both instructions and data, and its </a:t>
            </a:r>
            <a:r>
              <a:rPr lang="en-US" sz="2400" b="1" dirty="0" smtClean="0"/>
              <a:t>processor</a:t>
            </a:r>
            <a:r>
              <a:rPr lang="en-US" sz="2400" dirty="0" smtClean="0"/>
              <a:t>, which provides operations for modifying the contents of the memory.</a:t>
            </a:r>
          </a:p>
          <a:p>
            <a:r>
              <a:rPr lang="en-US" sz="2400" dirty="0" smtClean="0"/>
              <a:t>The abstractions in a language for the memory cells of the machine are variables.</a:t>
            </a:r>
          </a:p>
          <a:p>
            <a:r>
              <a:rPr lang="en-US" sz="2400" dirty="0" smtClean="0"/>
              <a:t>A variable can be characterized by a collection of properties, or attributes, the most important of which is type, a fundamental concept in programming languages.</a:t>
            </a:r>
          </a:p>
          <a:p>
            <a:r>
              <a:rPr lang="en-US" sz="2400" dirty="0" smtClean="0"/>
              <a:t>Designing the data types of a language requires that </a:t>
            </a:r>
            <a:r>
              <a:rPr lang="en-US" sz="2400" b="1" dirty="0" smtClean="0"/>
              <a:t>a variety of issues be considered.</a:t>
            </a:r>
          </a:p>
          <a:p>
            <a:r>
              <a:rPr lang="en-US" sz="2400" dirty="0" smtClean="0"/>
              <a:t>Among the most important of these issues are </a:t>
            </a:r>
            <a:r>
              <a:rPr lang="en-US" sz="2400" b="1" dirty="0" smtClean="0"/>
              <a:t>the scope and lifetime of variables</a:t>
            </a:r>
            <a:endParaRPr lang="en-US" sz="2400" dirty="0" smtClean="0"/>
          </a:p>
          <a:p>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Autofit/>
          </a:bodyPr>
          <a:lstStyle/>
          <a:p>
            <a:pPr>
              <a:buNone/>
            </a:pPr>
            <a:r>
              <a:rPr lang="en-US" sz="2800" b="1" dirty="0" smtClean="0"/>
              <a:t>Names</a:t>
            </a:r>
          </a:p>
          <a:p>
            <a:pPr fontAlgn="ctr"/>
            <a:r>
              <a:rPr lang="en-US" sz="2800" dirty="0" smtClean="0"/>
              <a:t>Names are identifiers that represent variables, functions, constants, types, and operations. They can also represent abstractions of a program fragment, such as a class or method. </a:t>
            </a:r>
          </a:p>
          <a:p>
            <a:pPr>
              <a:buNone/>
            </a:pPr>
            <a:r>
              <a:rPr lang="en-US" sz="2800" b="1" dirty="0" smtClean="0"/>
              <a:t>Bindings</a:t>
            </a:r>
          </a:p>
          <a:p>
            <a:pPr fontAlgn="ctr"/>
            <a:r>
              <a:rPr lang="en-US" sz="2800" dirty="0" smtClean="0"/>
              <a:t>A binding is the association between a name and the thing it names. Bindings can occur at different times, such as during language design, implementation, or runtime. </a:t>
            </a:r>
          </a:p>
          <a:p>
            <a:pPr>
              <a:buNone/>
            </a:pPr>
            <a:r>
              <a:rPr lang="en-US" sz="2800" b="1" dirty="0" smtClean="0"/>
              <a:t>Scopes</a:t>
            </a:r>
          </a:p>
          <a:p>
            <a:r>
              <a:rPr lang="en-US" sz="2800" dirty="0" smtClean="0"/>
              <a:t>A scope is a section of a program where no bindings change, or at least no re-declarations are allowed. </a:t>
            </a:r>
          </a:p>
          <a:p>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304800" y="228600"/>
            <a:ext cx="8229600" cy="6400800"/>
          </a:xfrm>
        </p:spPr>
        <p:txBody>
          <a:bodyPr>
            <a:noAutofit/>
          </a:bodyPr>
          <a:lstStyle/>
          <a:p>
            <a:r>
              <a:rPr lang="en-US" sz="2800" dirty="0" smtClean="0"/>
              <a:t>Functional programming languages allow expressions to be named.</a:t>
            </a:r>
          </a:p>
          <a:p>
            <a:r>
              <a:rPr lang="en-US" sz="2800" dirty="0" smtClean="0"/>
              <a:t>These named expressions appear like assignments to variable names in imperative languages, but are fundamentally different in that they cannot be changed.</a:t>
            </a:r>
          </a:p>
          <a:p>
            <a:r>
              <a:rPr lang="en-US" sz="2800" dirty="0" smtClean="0"/>
              <a:t>They are like the named constants of the imperative languages.</a:t>
            </a:r>
          </a:p>
          <a:p>
            <a:r>
              <a:rPr lang="en-US" sz="2800" dirty="0" smtClean="0"/>
              <a:t>Pure functional languages do not have variables that are like those of the imperative languages. However, many functional languages do include such variables.</a:t>
            </a:r>
          </a:p>
          <a:p>
            <a:pPr>
              <a:buNone/>
            </a:pPr>
            <a:r>
              <a:rPr lang="en-US" sz="2800" dirty="0" smtClean="0"/>
              <a:t/>
            </a:r>
            <a:br>
              <a:rPr lang="en-US" sz="2800" dirty="0" smtClean="0"/>
            </a:b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943600"/>
          </a:xfrm>
        </p:spPr>
        <p:txBody>
          <a:bodyPr/>
          <a:lstStyle/>
          <a:p>
            <a:pPr>
              <a:buNone/>
            </a:pPr>
            <a:r>
              <a:rPr lang="en-US" b="1" dirty="0" smtClean="0"/>
              <a:t>Names</a:t>
            </a:r>
          </a:p>
          <a:p>
            <a:r>
              <a:rPr lang="en-US" sz="2400" dirty="0" smtClean="0"/>
              <a:t>A name is a string of characters used to identify some entity in a program .</a:t>
            </a:r>
          </a:p>
          <a:p>
            <a:r>
              <a:rPr lang="en-US" sz="2400" dirty="0" smtClean="0"/>
              <a:t>The earliest programming languages </a:t>
            </a:r>
            <a:r>
              <a:rPr lang="en-US" sz="2400" b="1" dirty="0" smtClean="0"/>
              <a:t>used single-character names.</a:t>
            </a:r>
            <a:endParaRPr lang="en-US" sz="2400" dirty="0" smtClean="0"/>
          </a:p>
          <a:p>
            <a:r>
              <a:rPr lang="en-US" sz="2400" dirty="0" smtClean="0"/>
              <a:t>This notation was natural because </a:t>
            </a:r>
            <a:r>
              <a:rPr lang="en-US" sz="2400" b="1" dirty="0" smtClean="0"/>
              <a:t>early programming was primarily mathematical</a:t>
            </a:r>
            <a:r>
              <a:rPr lang="en-US" sz="2400" dirty="0" smtClean="0"/>
              <a:t>, and mathematicians have long used single-character names for unknowns in their formal notations.</a:t>
            </a:r>
          </a:p>
          <a:p>
            <a:r>
              <a:rPr lang="en-US" sz="2400" b="1" dirty="0" smtClean="0"/>
              <a:t>Fortran I </a:t>
            </a:r>
            <a:r>
              <a:rPr lang="en-US" sz="2400" dirty="0" smtClean="0"/>
              <a:t>broke with the tradition of the </a:t>
            </a:r>
            <a:r>
              <a:rPr lang="en-US" sz="2400" b="1" dirty="0" smtClean="0"/>
              <a:t>single-character name, allowing up to six characters in its names.</a:t>
            </a:r>
            <a:endParaRPr lang="en-US" sz="2400" dirty="0" smtClean="0"/>
          </a:p>
          <a:p>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172200"/>
          </a:xfrm>
        </p:spPr>
        <p:txBody>
          <a:bodyPr>
            <a:normAutofit fontScale="92500"/>
          </a:bodyPr>
          <a:lstStyle/>
          <a:p>
            <a:r>
              <a:rPr lang="en-US" sz="2400" dirty="0" smtClean="0"/>
              <a:t>Fortran 95+ allows up to 31 characters in its names.</a:t>
            </a:r>
          </a:p>
          <a:p>
            <a:r>
              <a:rPr lang="en-US" sz="2400" dirty="0" smtClean="0"/>
              <a:t>C99 has no length limitation on its internal names</a:t>
            </a:r>
          </a:p>
          <a:p>
            <a:r>
              <a:rPr lang="en-US" sz="2400" dirty="0" smtClean="0"/>
              <a:t>Names in Java, C#, and </a:t>
            </a:r>
            <a:r>
              <a:rPr lang="en-US" sz="2400" dirty="0" err="1" smtClean="0"/>
              <a:t>Ada</a:t>
            </a:r>
            <a:r>
              <a:rPr lang="en-US" sz="2400" dirty="0" smtClean="0"/>
              <a:t> have no length limit, and all characters in them are significant.</a:t>
            </a:r>
          </a:p>
          <a:p>
            <a:r>
              <a:rPr lang="en-US" sz="2400" dirty="0" smtClean="0"/>
              <a:t>C++ does not specify a length limit on names, although implementers sometimes do.</a:t>
            </a:r>
          </a:p>
          <a:p>
            <a:r>
              <a:rPr lang="en-US" sz="2400" dirty="0" smtClean="0"/>
              <a:t>Names in most programming languages have the same form: a letter followed by a string consisting of letters, digits, and underscore characters ( _ ).</a:t>
            </a:r>
          </a:p>
          <a:p>
            <a:r>
              <a:rPr lang="en-US" sz="2400" dirty="0" smtClean="0"/>
              <a:t>Although the use of underscore characters to form names was widely used in the 1970s and 1980s, that practice is now far less popular.</a:t>
            </a:r>
          </a:p>
          <a:p>
            <a:r>
              <a:rPr lang="en-US" sz="2400" dirty="0" smtClean="0"/>
              <a:t>In the C-based languages, it has to a large extent been replaced by the so-called camel notation, in which all of the words of a multiple-word name except the first are capitalized, as in </a:t>
            </a:r>
            <a:r>
              <a:rPr lang="en-US" sz="2400" dirty="0" err="1" smtClean="0"/>
              <a:t>myStack</a:t>
            </a:r>
            <a:endParaRPr lang="en-US" sz="2400" dirty="0" smtClean="0"/>
          </a:p>
          <a:p>
            <a:r>
              <a:rPr lang="en-US" sz="2400" dirty="0" smtClean="0"/>
              <a:t>All variable names in PHP must begin with a dollar sign.</a:t>
            </a:r>
          </a:p>
          <a:p>
            <a:endParaRPr lang="en-US" sz="2400" dirty="0" smtClean="0"/>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a:bodyPr>
          <a:lstStyle/>
          <a:p>
            <a:r>
              <a:rPr lang="en-US" sz="2400" b="1" dirty="0" smtClean="0"/>
              <a:t>Perl, </a:t>
            </a:r>
            <a:r>
              <a:rPr lang="en-US" sz="2400" dirty="0" smtClean="0"/>
              <a:t>the special character at the beginning of a variable’s name, </a:t>
            </a:r>
            <a:r>
              <a:rPr lang="en-US" sz="2400" b="1" dirty="0" smtClean="0"/>
              <a:t>$, @, or %,</a:t>
            </a:r>
            <a:endParaRPr lang="en-US" sz="2400" dirty="0" smtClean="0"/>
          </a:p>
          <a:p>
            <a:r>
              <a:rPr lang="en-US" sz="2400" dirty="0" smtClean="0"/>
              <a:t>specifies its type</a:t>
            </a:r>
          </a:p>
          <a:p>
            <a:r>
              <a:rPr lang="en-US" sz="2400" dirty="0" smtClean="0"/>
              <a:t>In </a:t>
            </a:r>
            <a:r>
              <a:rPr lang="en-US" sz="2400" b="1" dirty="0" smtClean="0"/>
              <a:t>Ruby, </a:t>
            </a:r>
            <a:r>
              <a:rPr lang="en-US" sz="2400" dirty="0" smtClean="0"/>
              <a:t>special characters at the beginning of a variable’s name, </a:t>
            </a:r>
            <a:r>
              <a:rPr lang="en-US" sz="2400" b="1" dirty="0" smtClean="0"/>
              <a:t>@ or @@</a:t>
            </a:r>
            <a:r>
              <a:rPr lang="en-US" sz="2400" dirty="0" smtClean="0"/>
              <a:t>, indicate that the variable is an instance or a class variable, respectively</a:t>
            </a:r>
          </a:p>
          <a:p>
            <a:r>
              <a:rPr lang="en-US" sz="2400" b="1" dirty="0" smtClean="0"/>
              <a:t>C-based languages</a:t>
            </a:r>
            <a:r>
              <a:rPr lang="en-US" sz="2400" dirty="0" smtClean="0"/>
              <a:t>, uppercase and lowercase letters in names are distinct; that is, names in these languages are case sensitive.</a:t>
            </a:r>
          </a:p>
          <a:p>
            <a:r>
              <a:rPr lang="en-US" sz="2400" dirty="0" smtClean="0"/>
              <a:t>For example, the following three names are distinct in </a:t>
            </a:r>
            <a:r>
              <a:rPr lang="en-US" sz="2400" b="1" dirty="0" smtClean="0"/>
              <a:t>C++: rose, ROSE, and Rose.</a:t>
            </a:r>
            <a:endParaRPr lang="en-US" sz="2400" dirty="0" smtClean="0"/>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800" dirty="0" smtClean="0"/>
              <a:t>In Java and C#, the problem cannot be escaped because many of the predefined names include both uppercase and lowercase letters.</a:t>
            </a:r>
          </a:p>
          <a:p>
            <a:r>
              <a:rPr lang="en-US" sz="2800" dirty="0" smtClean="0"/>
              <a:t>For example, the Java method for converting a string to an integer value is </a:t>
            </a:r>
            <a:r>
              <a:rPr lang="en-US" sz="2800" dirty="0" err="1" smtClean="0"/>
              <a:t>parseInt</a:t>
            </a:r>
            <a:r>
              <a:rPr lang="en-US" sz="2800" dirty="0" smtClean="0"/>
              <a:t>, and spellings such as </a:t>
            </a:r>
            <a:r>
              <a:rPr lang="en-US" sz="2800" dirty="0" err="1" smtClean="0"/>
              <a:t>ParseInt</a:t>
            </a:r>
            <a:r>
              <a:rPr lang="en-US" sz="2800" b="1" dirty="0" smtClean="0"/>
              <a:t> </a:t>
            </a:r>
            <a:r>
              <a:rPr lang="en-US" sz="2800" dirty="0" smtClean="0"/>
              <a:t>and </a:t>
            </a:r>
            <a:r>
              <a:rPr lang="en-US" sz="2800" dirty="0" err="1" smtClean="0"/>
              <a:t>parseint</a:t>
            </a:r>
            <a:r>
              <a:rPr lang="en-US" sz="2800" dirty="0" smtClean="0"/>
              <a:t> are not recognized.</a:t>
            </a:r>
          </a:p>
          <a:p>
            <a:r>
              <a:rPr lang="en-US" sz="2800" dirty="0" smtClean="0"/>
              <a:t>This is a problem of </a:t>
            </a:r>
            <a:r>
              <a:rPr lang="en-US" sz="2800" dirty="0" err="1" smtClean="0"/>
              <a:t>writability</a:t>
            </a:r>
            <a:r>
              <a:rPr lang="en-US" sz="2800" dirty="0" smtClean="0"/>
              <a:t> rather than readability, because the need to remember specific case usage makes it more difficult to write correct programs.</a:t>
            </a:r>
          </a:p>
          <a:p>
            <a:r>
              <a:rPr lang="en-US" sz="2800" dirty="0" smtClean="0"/>
              <a:t>It is a kind of intolerance on the part of the language designer, which is enforced by the compiler</a:t>
            </a:r>
          </a:p>
          <a:p>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lstStyle/>
          <a:p>
            <a:pPr marL="342900" lvl="2" indent="-342900">
              <a:buNone/>
            </a:pPr>
            <a:r>
              <a:rPr lang="en-US" sz="3200" b="1" dirty="0" smtClean="0"/>
              <a:t>Special Words</a:t>
            </a:r>
          </a:p>
          <a:p>
            <a:pPr marL="342900" lvl="2" indent="-342900"/>
            <a:r>
              <a:rPr lang="en-US" b="1" dirty="0" smtClean="0"/>
              <a:t>Special words </a:t>
            </a:r>
            <a:r>
              <a:rPr lang="en-US" dirty="0" smtClean="0"/>
              <a:t>in programming languages are used to make programs more readable by naming actions to be performed.</a:t>
            </a:r>
          </a:p>
          <a:p>
            <a:pPr marL="342900" lvl="2" indent="-342900"/>
            <a:r>
              <a:rPr lang="en-US" dirty="0" smtClean="0"/>
              <a:t>They also are used to </a:t>
            </a:r>
            <a:r>
              <a:rPr lang="en-US" b="1" dirty="0" smtClean="0"/>
              <a:t>separate the syntactic parts of statements and programs</a:t>
            </a:r>
            <a:r>
              <a:rPr lang="en-US" dirty="0" smtClean="0"/>
              <a:t>.</a:t>
            </a:r>
          </a:p>
          <a:p>
            <a:pPr marL="342900" lvl="2" indent="-342900"/>
            <a:r>
              <a:rPr lang="en-US" dirty="0" smtClean="0"/>
              <a:t>In most languages, </a:t>
            </a:r>
            <a:r>
              <a:rPr lang="en-US" b="1" dirty="0" smtClean="0"/>
              <a:t>special words are classified as reserved words</a:t>
            </a:r>
            <a:r>
              <a:rPr lang="en-US" dirty="0" smtClean="0"/>
              <a:t>, which means they cannot be redefined by programmers, but in some they are only keywords, which means they can be redefined.</a:t>
            </a:r>
          </a:p>
          <a:p>
            <a:pPr marL="342900" lvl="2" indent="-342900"/>
            <a:r>
              <a:rPr lang="en-US" dirty="0" smtClean="0"/>
              <a:t>A </a:t>
            </a:r>
            <a:r>
              <a:rPr lang="en-US" b="1" dirty="0" smtClean="0"/>
              <a:t>keyword is a word of a programming language </a:t>
            </a:r>
            <a:r>
              <a:rPr lang="en-US" dirty="0" smtClean="0"/>
              <a:t>that is special only in certain contexts.</a:t>
            </a:r>
          </a:p>
          <a:p>
            <a:pPr marL="342900" lvl="2" indent="-342900"/>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Autofit/>
          </a:bodyPr>
          <a:lstStyle/>
          <a:p>
            <a:r>
              <a:rPr lang="en-US" sz="2400" dirty="0" smtClean="0"/>
              <a:t>Fortran is the only remaining widely used language whose </a:t>
            </a:r>
            <a:r>
              <a:rPr lang="en-US" sz="2400" b="1" dirty="0" smtClean="0"/>
              <a:t>special words are keywords.</a:t>
            </a:r>
            <a:endParaRPr lang="en-US" sz="2400" dirty="0" smtClean="0"/>
          </a:p>
          <a:p>
            <a:r>
              <a:rPr lang="en-US" sz="2400" b="1" dirty="0" smtClean="0"/>
              <a:t>In Fortran, the word Integer</a:t>
            </a:r>
            <a:r>
              <a:rPr lang="en-US" sz="2400" dirty="0" smtClean="0"/>
              <a:t>, when found at the beginning of a statement and followed by a name, </a:t>
            </a:r>
            <a:r>
              <a:rPr lang="en-US" sz="2400" b="1" dirty="0" smtClean="0"/>
              <a:t>is considered a keyword </a:t>
            </a:r>
            <a:r>
              <a:rPr lang="en-US" sz="2400" dirty="0" smtClean="0"/>
              <a:t>that indicates the statement is a declarative statement. However, if the word Integer is followed by the assignment operator, it </a:t>
            </a:r>
            <a:r>
              <a:rPr lang="en-US" sz="2400" b="1" dirty="0" smtClean="0"/>
              <a:t>is considered a variable name</a:t>
            </a:r>
            <a:r>
              <a:rPr lang="en-US" sz="2400" dirty="0" smtClean="0"/>
              <a:t>.</a:t>
            </a:r>
          </a:p>
          <a:p>
            <a:r>
              <a:rPr lang="en-US" sz="2400" dirty="0" smtClean="0"/>
              <a:t>These two uses are illustrated in the following:</a:t>
            </a:r>
          </a:p>
          <a:p>
            <a:r>
              <a:rPr lang="en-US" sz="2400" b="1" dirty="0" smtClean="0"/>
              <a:t>Integer Apple Integer = 4</a:t>
            </a:r>
            <a:r>
              <a:rPr lang="en-US" sz="2400" dirty="0" smtClean="0"/>
              <a:t/>
            </a:r>
            <a:br>
              <a:rPr lang="en-US" sz="2400" dirty="0" smtClean="0"/>
            </a:br>
            <a:r>
              <a:rPr lang="en-US" sz="2400" dirty="0" smtClean="0"/>
              <a:t>A </a:t>
            </a:r>
            <a:r>
              <a:rPr lang="en-US" sz="2400" b="1" dirty="0" smtClean="0"/>
              <a:t>reserved word </a:t>
            </a:r>
            <a:r>
              <a:rPr lang="en-US" sz="2400" dirty="0" smtClean="0"/>
              <a:t>is a special word of a programming language that cannot be used as a name.</a:t>
            </a:r>
          </a:p>
          <a:p>
            <a:r>
              <a:rPr lang="en-US" sz="2400" dirty="0" smtClean="0"/>
              <a:t>As a language design choice, </a:t>
            </a:r>
            <a:r>
              <a:rPr lang="en-US" sz="2400" b="1" dirty="0" smtClean="0"/>
              <a:t>reserved words are better than keywords</a:t>
            </a:r>
            <a:endParaRPr lang="en-US" sz="2400" dirty="0" smtClean="0"/>
          </a:p>
          <a:p>
            <a:r>
              <a:rPr lang="en-US" sz="2400" dirty="0" smtClean="0"/>
              <a:t>because the ability to redefine keywords can be confusing.</a:t>
            </a:r>
          </a:p>
          <a:p>
            <a:pPr>
              <a:buNone/>
            </a:pPr>
            <a:r>
              <a:rPr lang="en-US" sz="2400" dirty="0" smtClean="0"/>
              <a:t/>
            </a:r>
            <a:br>
              <a:rPr lang="en-US" sz="2400" dirty="0" smtClean="0"/>
            </a:b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Autofit/>
          </a:bodyPr>
          <a:lstStyle/>
          <a:p>
            <a:r>
              <a:rPr lang="en-US" sz="2400" dirty="0" smtClean="0"/>
              <a:t>For example, in Fortran, one could have the following statements:</a:t>
            </a:r>
          </a:p>
          <a:p>
            <a:r>
              <a:rPr lang="en-US" sz="2400" b="1" dirty="0" smtClean="0"/>
              <a:t>Integer Real </a:t>
            </a:r>
          </a:p>
          <a:p>
            <a:pPr>
              <a:buNone/>
            </a:pPr>
            <a:r>
              <a:rPr lang="en-US" sz="2400" b="1" dirty="0" smtClean="0"/>
              <a:t>     Real Integer</a:t>
            </a:r>
            <a:endParaRPr lang="en-US" sz="2400" dirty="0" smtClean="0"/>
          </a:p>
          <a:p>
            <a:r>
              <a:rPr lang="en-US" sz="2400" dirty="0" smtClean="0"/>
              <a:t>There is </a:t>
            </a:r>
            <a:r>
              <a:rPr lang="en-US" sz="2400" b="1" dirty="0" smtClean="0"/>
              <a:t>one potential problem with reserved words</a:t>
            </a:r>
            <a:r>
              <a:rPr lang="en-US" sz="2400" dirty="0" smtClean="0"/>
              <a:t>: If the language includes a large number of reserved words, </a:t>
            </a:r>
            <a:r>
              <a:rPr lang="en-US" sz="2400" b="1" dirty="0" smtClean="0"/>
              <a:t>the user may have difficulty making up names that are not reserved.</a:t>
            </a:r>
            <a:endParaRPr lang="en-US" sz="2400" dirty="0" smtClean="0"/>
          </a:p>
          <a:p>
            <a:r>
              <a:rPr lang="en-US" sz="2400" dirty="0" smtClean="0"/>
              <a:t>The best example of this is </a:t>
            </a:r>
            <a:r>
              <a:rPr lang="en-US" sz="2400" b="1" dirty="0" smtClean="0"/>
              <a:t>COBOL, which has 300 reserved words</a:t>
            </a:r>
            <a:r>
              <a:rPr lang="en-US" sz="2400" dirty="0" smtClean="0"/>
              <a:t>.</a:t>
            </a:r>
          </a:p>
          <a:p>
            <a:r>
              <a:rPr lang="en-US" sz="2400" dirty="0" smtClean="0"/>
              <a:t>Unfortunately, some of the most commonly chosen names by programmers are in the list of reserved words—for example, </a:t>
            </a:r>
            <a:r>
              <a:rPr lang="en-US" sz="2400" b="1" dirty="0" smtClean="0"/>
              <a:t>LENGTH, BOTTOM, DESTINATION, and COUNT.</a:t>
            </a:r>
            <a:endParaRPr lang="en-US" sz="2400" dirty="0" smtClean="0"/>
          </a:p>
          <a:p>
            <a:r>
              <a:rPr lang="en-US" sz="2400" dirty="0" smtClean="0"/>
              <a:t>In program code examples in this book, </a:t>
            </a:r>
            <a:r>
              <a:rPr lang="en-US" sz="2400" b="1" dirty="0" smtClean="0"/>
              <a:t>reserved words are presented in boldface</a:t>
            </a:r>
            <a:endParaRPr lang="en-US" sz="2400" dirty="0" smtClean="0"/>
          </a:p>
          <a:p>
            <a:r>
              <a:rPr lang="en-US" sz="2400" dirty="0" smtClean="0"/>
              <a:t/>
            </a:r>
            <a:br>
              <a:rPr lang="en-US" sz="2400" dirty="0" smtClean="0"/>
            </a:b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fontScale="92500"/>
          </a:bodyPr>
          <a:lstStyle/>
          <a:p>
            <a:pPr marL="342900" lvl="1" indent="-342900">
              <a:buNone/>
            </a:pPr>
            <a:r>
              <a:rPr lang="en-US" b="1" dirty="0" smtClean="0"/>
              <a:t>Variables</a:t>
            </a:r>
          </a:p>
          <a:p>
            <a:pPr marL="342900" lvl="1" indent="-342900">
              <a:buFont typeface="Arial" pitchFamily="34" charset="0"/>
              <a:buChar char="•"/>
            </a:pPr>
            <a:r>
              <a:rPr lang="en-US" sz="2600" dirty="0" smtClean="0"/>
              <a:t>A </a:t>
            </a:r>
            <a:r>
              <a:rPr lang="en-US" sz="2600" b="1" dirty="0" smtClean="0"/>
              <a:t>variable is an abstraction </a:t>
            </a:r>
            <a:r>
              <a:rPr lang="en-US" sz="2600" dirty="0" smtClean="0"/>
              <a:t>of a memory cell.</a:t>
            </a:r>
          </a:p>
          <a:p>
            <a:pPr marL="342900" lvl="1" indent="-342900">
              <a:buFont typeface="Arial" pitchFamily="34" charset="0"/>
              <a:buChar char="•"/>
            </a:pPr>
            <a:r>
              <a:rPr lang="en-US" sz="2600" dirty="0" smtClean="0"/>
              <a:t>Variables can be characterized as a </a:t>
            </a:r>
            <a:r>
              <a:rPr lang="en-US" sz="2600" b="1" dirty="0" smtClean="0"/>
              <a:t>sextuple of attributes: (name, address, value, type, lifetime, and scope)</a:t>
            </a:r>
            <a:endParaRPr lang="en-US" sz="2600" dirty="0" smtClean="0"/>
          </a:p>
          <a:p>
            <a:r>
              <a:rPr lang="en-US" sz="2600" b="1" dirty="0" smtClean="0"/>
              <a:t>Name </a:t>
            </a:r>
            <a:r>
              <a:rPr lang="en-US" sz="2600" dirty="0" smtClean="0"/>
              <a:t>- Variable names are the most common names in programs</a:t>
            </a:r>
          </a:p>
          <a:p>
            <a:r>
              <a:rPr lang="en-US" sz="2600" b="1" dirty="0" smtClean="0"/>
              <a:t>Address </a:t>
            </a:r>
            <a:r>
              <a:rPr lang="en-US" sz="2600" dirty="0" smtClean="0"/>
              <a:t>- the memory address with which it is associated (also called l-value)</a:t>
            </a:r>
          </a:p>
          <a:p>
            <a:r>
              <a:rPr lang="en-US" sz="2600" dirty="0" smtClean="0"/>
              <a:t>– A variable may have different addresses at different times during execution</a:t>
            </a:r>
          </a:p>
          <a:p>
            <a:pPr lvl="0"/>
            <a:r>
              <a:rPr lang="en-US" sz="2600" dirty="0" smtClean="0"/>
              <a:t>A variable may have different addresses at different places in a program</a:t>
            </a:r>
          </a:p>
          <a:p>
            <a:pPr lvl="0"/>
            <a:r>
              <a:rPr lang="en-US" sz="2600" dirty="0" smtClean="0"/>
              <a:t>If two variable names can be used to access the same memory location, they are called </a:t>
            </a:r>
            <a:r>
              <a:rPr lang="en-US" sz="2600" b="1" dirty="0" smtClean="0"/>
              <a:t>aliases</a:t>
            </a:r>
            <a:endParaRPr lang="en-US" sz="2600" dirty="0" smtClean="0"/>
          </a:p>
          <a:p>
            <a:pPr marL="342900" lvl="1" indent="-342900">
              <a:buFont typeface="Arial" pitchFamily="34" charset="0"/>
              <a:buChar char="•"/>
            </a:pPr>
            <a:endParaRPr lang="en-US" sz="2400" dirty="0" smtClean="0"/>
          </a:p>
          <a:p>
            <a:pPr marL="342900" lvl="1" indent="-342900">
              <a:buFont typeface="Arial" pitchFamily="34" charset="0"/>
              <a:buChar char="•"/>
            </a:pPr>
            <a:endParaRPr lang="en-US" b="1" dirty="0" smtClean="0"/>
          </a:p>
          <a:p>
            <a:pPr marL="342900" lvl="1" indent="-342900">
              <a:buFont typeface="Arial" pitchFamily="34" charset="0"/>
              <a:buChar char="•"/>
            </a:pPr>
            <a:endParaRPr lang="en-US" sz="2400" b="1" dirty="0" smtClean="0"/>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lnSpcReduction="10000"/>
          </a:bodyPr>
          <a:lstStyle/>
          <a:p>
            <a:pPr lvl="0"/>
            <a:r>
              <a:rPr lang="en-US" sz="2400" dirty="0" smtClean="0"/>
              <a:t>Aliases are harmful to readability (program readers must remember all of them)</a:t>
            </a:r>
          </a:p>
          <a:p>
            <a:r>
              <a:rPr lang="en-US" sz="2400" b="1" dirty="0" smtClean="0"/>
              <a:t>Type </a:t>
            </a:r>
            <a:r>
              <a:rPr lang="en-US" sz="2400" dirty="0" smtClean="0"/>
              <a:t>- determines the </a:t>
            </a:r>
            <a:r>
              <a:rPr lang="en-US" sz="2400" b="1" dirty="0" smtClean="0"/>
              <a:t>range of values of variables and the set of operations </a:t>
            </a:r>
            <a:r>
              <a:rPr lang="en-US" sz="2400" dirty="0" smtClean="0"/>
              <a:t>that are defined for values of that type; in the case of floating point, type also determines the Precision</a:t>
            </a:r>
          </a:p>
          <a:p>
            <a:r>
              <a:rPr lang="en-US" sz="2400" b="1" dirty="0" smtClean="0"/>
              <a:t>Value </a:t>
            </a:r>
            <a:r>
              <a:rPr lang="en-US" sz="2400" dirty="0" smtClean="0"/>
              <a:t>- the contents of the location with which the variable is associated.</a:t>
            </a:r>
          </a:p>
          <a:p>
            <a:r>
              <a:rPr lang="en-US" sz="2400" b="1" dirty="0" smtClean="0"/>
              <a:t>Abstract memory cell </a:t>
            </a:r>
            <a:r>
              <a:rPr lang="en-US" sz="2400" dirty="0" smtClean="0"/>
              <a:t>- the physical cell or collection of cells associated with a variable</a:t>
            </a:r>
          </a:p>
          <a:p>
            <a:r>
              <a:rPr lang="en-US" sz="2400" dirty="0" smtClean="0"/>
              <a:t>The address of a variable is sometimes called its l-value, A variable’s value is sometimes called its r-value</a:t>
            </a:r>
          </a:p>
          <a:p>
            <a:r>
              <a:rPr lang="en-US" sz="2400" b="1" dirty="0" smtClean="0"/>
              <a:t>Aliases </a:t>
            </a:r>
            <a:r>
              <a:rPr lang="en-US" sz="2400" dirty="0" smtClean="0"/>
              <a:t>- Example if variables named </a:t>
            </a:r>
            <a:r>
              <a:rPr lang="en-US" sz="2400" b="1" dirty="0" smtClean="0"/>
              <a:t>total and sum are aliases</a:t>
            </a:r>
            <a:r>
              <a:rPr lang="en-US" sz="2400" dirty="0" smtClean="0"/>
              <a:t>, any change to the value of total also changes the value of sum and vice versa. A reader of the program must always remember that total and sum are different names for the same memory cell.</a:t>
            </a:r>
          </a:p>
          <a:p>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lnSpcReduction="10000"/>
          </a:bodyPr>
          <a:lstStyle/>
          <a:p>
            <a:pPr marL="342900" lvl="1" indent="-342900">
              <a:buNone/>
            </a:pPr>
            <a:r>
              <a:rPr lang="en-US" sz="3200" b="1" dirty="0" smtClean="0"/>
              <a:t>Binding</a:t>
            </a:r>
          </a:p>
          <a:p>
            <a:r>
              <a:rPr lang="en-US" sz="2400" dirty="0" smtClean="0"/>
              <a:t>A binding is an association between an attribute and an entity, such as between a variable and its type or value, or between an operation and a symbol.</a:t>
            </a:r>
          </a:p>
          <a:p>
            <a:r>
              <a:rPr lang="en-US" sz="2400" dirty="0" smtClean="0"/>
              <a:t>The time at which a binding takes place is called binding time</a:t>
            </a:r>
          </a:p>
          <a:p>
            <a:r>
              <a:rPr lang="en-US" sz="2400" dirty="0" smtClean="0"/>
              <a:t>Binding and binding times are prominent concepts in the semantics of programming languages.</a:t>
            </a:r>
          </a:p>
          <a:p>
            <a:r>
              <a:rPr lang="en-US" sz="2400" dirty="0" smtClean="0"/>
              <a:t>Bindings can take place at language design time, language implementation time, compile time, load time, link time, or run time.</a:t>
            </a:r>
          </a:p>
          <a:p>
            <a:r>
              <a:rPr lang="en-US" sz="2400" dirty="0" smtClean="0"/>
              <a:t>For example, the asterisk symbol (*) is usually bound to the multiplication operation at language design time.</a:t>
            </a:r>
          </a:p>
          <a:p>
            <a:r>
              <a:rPr lang="en-US" sz="2400" dirty="0" smtClean="0"/>
              <a:t>A data type, such as </a:t>
            </a:r>
            <a:r>
              <a:rPr lang="en-US" sz="2400" dirty="0" err="1" smtClean="0"/>
              <a:t>int</a:t>
            </a:r>
            <a:r>
              <a:rPr lang="en-US" sz="2400" dirty="0" smtClean="0"/>
              <a:t> in C, is bound to a range of possible values at language implementation time.</a:t>
            </a:r>
          </a:p>
          <a:p>
            <a:r>
              <a:rPr lang="en-US" sz="2400" dirty="0" smtClean="0"/>
              <a:t>At compile time, a variable in a Java program is bound to a particular data type.</a:t>
            </a:r>
          </a:p>
          <a:p>
            <a:endParaRPr lang="en-US" sz="2400" dirty="0" smtClean="0"/>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400" dirty="0" smtClean="0"/>
              <a:t>A variable may be </a:t>
            </a:r>
            <a:r>
              <a:rPr lang="en-US" sz="2400" b="1" dirty="0" smtClean="0"/>
              <a:t>bound to a storage cell </a:t>
            </a:r>
            <a:r>
              <a:rPr lang="en-US" sz="2400" dirty="0" smtClean="0"/>
              <a:t>when the program is loaded into memory.</a:t>
            </a:r>
          </a:p>
          <a:p>
            <a:r>
              <a:rPr lang="en-US" sz="2400" dirty="0" smtClean="0"/>
              <a:t>That same binding does not happen until </a:t>
            </a:r>
            <a:r>
              <a:rPr lang="en-US" sz="2400" b="1" dirty="0" smtClean="0"/>
              <a:t>run time in some cases</a:t>
            </a:r>
            <a:r>
              <a:rPr lang="en-US" sz="2400" dirty="0" smtClean="0"/>
              <a:t>, as with variables declared in Java methods.</a:t>
            </a:r>
          </a:p>
          <a:p>
            <a:r>
              <a:rPr lang="en-US" sz="2400" dirty="0" smtClean="0"/>
              <a:t>A call to a library subprogram is bound to the subprogram code at </a:t>
            </a:r>
            <a:r>
              <a:rPr lang="en-US" sz="2400" b="1" dirty="0" smtClean="0"/>
              <a:t>link time.</a:t>
            </a:r>
          </a:p>
          <a:p>
            <a:r>
              <a:rPr lang="en-US" sz="2400" b="1" dirty="0" smtClean="0"/>
              <a:t>Consider the following Java assignment statement:</a:t>
            </a:r>
          </a:p>
          <a:p>
            <a:r>
              <a:rPr lang="en-US" sz="2400" b="1" dirty="0" smtClean="0"/>
              <a:t>count = count + 5;</a:t>
            </a:r>
            <a:endParaRPr lang="en-US" sz="2400" dirty="0" smtClean="0"/>
          </a:p>
          <a:p>
            <a:r>
              <a:rPr lang="en-US" sz="2400" b="1" dirty="0" smtClean="0"/>
              <a:t>Some of the bindings and their binding times for the parts of this assignment statement are as follows:</a:t>
            </a:r>
            <a:r>
              <a:rPr lang="en-US" sz="2400" dirty="0" smtClean="0"/>
              <a:t> </a:t>
            </a:r>
          </a:p>
          <a:p>
            <a:r>
              <a:rPr lang="en-US" sz="2400" dirty="0" smtClean="0"/>
              <a:t>The </a:t>
            </a:r>
            <a:r>
              <a:rPr lang="en-US" sz="2400" b="1" dirty="0" smtClean="0"/>
              <a:t>type of count </a:t>
            </a:r>
            <a:r>
              <a:rPr lang="en-US" sz="2400" dirty="0" smtClean="0"/>
              <a:t>is bound at compile time.</a:t>
            </a:r>
          </a:p>
          <a:p>
            <a:r>
              <a:rPr lang="en-US" sz="2400" dirty="0" smtClean="0"/>
              <a:t>The </a:t>
            </a:r>
            <a:r>
              <a:rPr lang="en-US" sz="2400" b="1" dirty="0" smtClean="0"/>
              <a:t>set of possible values of count </a:t>
            </a:r>
            <a:r>
              <a:rPr lang="en-US" sz="2400" dirty="0" smtClean="0"/>
              <a:t>is bound at compiler design time.</a:t>
            </a:r>
          </a:p>
          <a:p>
            <a:endParaRPr lang="en-US" sz="2400" dirty="0" smtClean="0"/>
          </a:p>
          <a:p>
            <a:endParaRPr lang="en-US" sz="2400" dirty="0" smtClean="0"/>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400" dirty="0" smtClean="0"/>
              <a:t>The </a:t>
            </a:r>
            <a:r>
              <a:rPr lang="en-US" sz="2400" b="1" dirty="0" smtClean="0"/>
              <a:t>meaning of the operator symbol + </a:t>
            </a:r>
            <a:r>
              <a:rPr lang="en-US" sz="2400" dirty="0" smtClean="0"/>
              <a:t>is bound at compile time, when the types of its operands have been determined.</a:t>
            </a:r>
          </a:p>
          <a:p>
            <a:r>
              <a:rPr lang="en-US" sz="2400" dirty="0" smtClean="0"/>
              <a:t>The </a:t>
            </a:r>
            <a:r>
              <a:rPr lang="en-US" sz="2400" b="1" dirty="0" smtClean="0"/>
              <a:t>internal representation of the literal 5 </a:t>
            </a:r>
            <a:r>
              <a:rPr lang="en-US" sz="2400" dirty="0" smtClean="0"/>
              <a:t>is bound at compiler design time.</a:t>
            </a:r>
          </a:p>
          <a:p>
            <a:r>
              <a:rPr lang="en-US" sz="2400" dirty="0" smtClean="0"/>
              <a:t>The </a:t>
            </a:r>
            <a:r>
              <a:rPr lang="en-US" sz="2400" b="1" dirty="0" smtClean="0"/>
              <a:t>value of count </a:t>
            </a:r>
            <a:r>
              <a:rPr lang="en-US" sz="2400" dirty="0" smtClean="0"/>
              <a:t>is bound at execution time with this statement.</a:t>
            </a:r>
          </a:p>
          <a:p>
            <a:r>
              <a:rPr lang="en-US" sz="2400" dirty="0" smtClean="0"/>
              <a:t>A </a:t>
            </a:r>
            <a:r>
              <a:rPr lang="en-US" sz="2400" b="1" dirty="0" smtClean="0"/>
              <a:t>complete understanding of the binding times </a:t>
            </a:r>
            <a:r>
              <a:rPr lang="en-US" sz="2400" dirty="0" smtClean="0"/>
              <a:t>for the attributes of program entities is a </a:t>
            </a:r>
            <a:r>
              <a:rPr lang="en-US" sz="2400" b="1" dirty="0" smtClean="0"/>
              <a:t>prerequisite for understanding the semantics </a:t>
            </a:r>
            <a:r>
              <a:rPr lang="en-US" sz="2400" dirty="0" smtClean="0"/>
              <a:t>of a programming language.</a:t>
            </a:r>
          </a:p>
          <a:p>
            <a:r>
              <a:rPr lang="en-US" sz="2400" dirty="0" smtClean="0"/>
              <a:t>For example, to understand what a subprogram does, </a:t>
            </a:r>
            <a:r>
              <a:rPr lang="en-US" sz="2400" b="1" dirty="0" smtClean="0"/>
              <a:t>one must understand how the actual parameters in a call are bound </a:t>
            </a:r>
            <a:r>
              <a:rPr lang="en-US" sz="2400" dirty="0" smtClean="0"/>
              <a:t>to the formal parameters in its definition.</a:t>
            </a:r>
          </a:p>
          <a:p>
            <a:r>
              <a:rPr lang="en-US" sz="2400" dirty="0" smtClean="0"/>
              <a:t>To determine the </a:t>
            </a:r>
            <a:r>
              <a:rPr lang="en-US" sz="2400" b="1" dirty="0" smtClean="0"/>
              <a:t>current value of a variable</a:t>
            </a:r>
            <a:r>
              <a:rPr lang="en-US" sz="2400" dirty="0" smtClean="0"/>
              <a:t>, it may be necessary to know </a:t>
            </a:r>
            <a:r>
              <a:rPr lang="en-US" sz="2400" b="1" dirty="0" smtClean="0"/>
              <a:t>when the variable was bound to storage and with which statement or statements</a:t>
            </a:r>
            <a:endParaRPr lang="en-US" sz="2400" dirty="0" smtClean="0"/>
          </a:p>
          <a:p>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lnSpcReduction="10000"/>
          </a:bodyPr>
          <a:lstStyle/>
          <a:p>
            <a:pPr>
              <a:buNone/>
            </a:pPr>
            <a:r>
              <a:rPr lang="en-US" b="1" dirty="0" smtClean="0"/>
              <a:t>Types of Binding</a:t>
            </a:r>
          </a:p>
          <a:p>
            <a:pPr>
              <a:buNone/>
            </a:pPr>
            <a:r>
              <a:rPr lang="en-US" sz="2400" dirty="0" smtClean="0"/>
              <a:t>There are two types of bindings</a:t>
            </a:r>
          </a:p>
          <a:p>
            <a:pPr marL="514350" indent="-514350">
              <a:buAutoNum type="romanLcParenR"/>
            </a:pPr>
            <a:r>
              <a:rPr lang="en-US" sz="2400" dirty="0" smtClean="0"/>
              <a:t>Static binding</a:t>
            </a:r>
          </a:p>
          <a:p>
            <a:pPr marL="514350" indent="-514350">
              <a:buAutoNum type="romanLcParenR"/>
            </a:pPr>
            <a:r>
              <a:rPr lang="en-US" sz="2400" dirty="0" smtClean="0"/>
              <a:t>Dynamic binding</a:t>
            </a:r>
          </a:p>
          <a:p>
            <a:pPr marL="514350" indent="-514350"/>
            <a:r>
              <a:rPr lang="en-US" sz="2400" dirty="0" smtClean="0"/>
              <a:t>A </a:t>
            </a:r>
            <a:r>
              <a:rPr lang="en-US" sz="2400" b="1" dirty="0" smtClean="0"/>
              <a:t>binding is static </a:t>
            </a:r>
            <a:r>
              <a:rPr lang="en-US" sz="2400" dirty="0" smtClean="0"/>
              <a:t>if it first occurs </a:t>
            </a:r>
            <a:r>
              <a:rPr lang="en-US" sz="2400" b="1" dirty="0" smtClean="0"/>
              <a:t>before run time </a:t>
            </a:r>
            <a:r>
              <a:rPr lang="en-US" sz="2400" dirty="0" smtClean="0"/>
              <a:t>begins and remains unchanged throughout program execution.</a:t>
            </a:r>
          </a:p>
          <a:p>
            <a:pPr marL="514350" indent="-514350"/>
            <a:r>
              <a:rPr lang="en-US" sz="2400" dirty="0" smtClean="0"/>
              <a:t>If the binding first occurs </a:t>
            </a:r>
            <a:r>
              <a:rPr lang="en-US" sz="2400" b="1" dirty="0" smtClean="0"/>
              <a:t>during run time </a:t>
            </a:r>
            <a:r>
              <a:rPr lang="en-US" sz="2400" dirty="0" smtClean="0"/>
              <a:t>or can change in the course of program execution, it is called </a:t>
            </a:r>
            <a:r>
              <a:rPr lang="en-US" sz="2400" b="1" dirty="0" smtClean="0"/>
              <a:t>dynamic</a:t>
            </a:r>
            <a:r>
              <a:rPr lang="en-US" sz="2400" dirty="0" smtClean="0"/>
              <a:t>.</a:t>
            </a:r>
          </a:p>
          <a:p>
            <a:pPr marL="514350" lvl="2" indent="-514350">
              <a:buNone/>
            </a:pPr>
            <a:r>
              <a:rPr lang="en-US" sz="2800" b="1" dirty="0" smtClean="0"/>
              <a:t>Type Bindings</a:t>
            </a:r>
          </a:p>
          <a:p>
            <a:r>
              <a:rPr lang="en-US" sz="2600" dirty="0" smtClean="0"/>
              <a:t>Before a variable can be referenced in a program, it must be bound to a data type.</a:t>
            </a:r>
          </a:p>
          <a:p>
            <a:r>
              <a:rPr lang="en-US" sz="2600" dirty="0" smtClean="0"/>
              <a:t>The two important aspects of this binding are </a:t>
            </a:r>
            <a:r>
              <a:rPr lang="en-US" sz="2600" b="1" dirty="0" smtClean="0"/>
              <a:t>how the type is specified </a:t>
            </a:r>
            <a:r>
              <a:rPr lang="en-US" sz="2600" dirty="0" smtClean="0"/>
              <a:t>and </a:t>
            </a:r>
            <a:r>
              <a:rPr lang="en-US" sz="2600" b="1" dirty="0" smtClean="0"/>
              <a:t>when the binding takes place</a:t>
            </a:r>
            <a:r>
              <a:rPr lang="en-US" sz="2600" dirty="0" smtClean="0"/>
              <a:t>.</a:t>
            </a:r>
          </a:p>
          <a:p>
            <a:r>
              <a:rPr lang="en-US" sz="2600" dirty="0" smtClean="0"/>
              <a:t>Types can be specified statically through some form of explicit or implicit declaration.</a:t>
            </a:r>
          </a:p>
          <a:p>
            <a:pPr marL="514350" lvl="2" indent="-514350"/>
            <a:endParaRPr lang="en-US" b="1" dirty="0" smtClean="0"/>
          </a:p>
          <a:p>
            <a:pPr marL="514350" indent="-514350"/>
            <a:endParaRPr lang="en-US" sz="24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lnSpcReduction="10000"/>
          </a:bodyPr>
          <a:lstStyle/>
          <a:p>
            <a:r>
              <a:rPr lang="en-US" sz="2400" dirty="0" smtClean="0"/>
              <a:t>An </a:t>
            </a:r>
            <a:r>
              <a:rPr lang="en-US" sz="2400" b="1" dirty="0" smtClean="0"/>
              <a:t>explicit declaration </a:t>
            </a:r>
            <a:r>
              <a:rPr lang="en-US" sz="2400" dirty="0" smtClean="0"/>
              <a:t>is a statement in a program that lists variable names and specifies that they are a particular type.</a:t>
            </a:r>
          </a:p>
          <a:p>
            <a:r>
              <a:rPr lang="en-US" sz="2400" dirty="0" smtClean="0"/>
              <a:t>An </a:t>
            </a:r>
            <a:r>
              <a:rPr lang="en-US" sz="2400" b="1" dirty="0" smtClean="0"/>
              <a:t>implicit declaration </a:t>
            </a:r>
            <a:r>
              <a:rPr lang="en-US" sz="2400" dirty="0" smtClean="0"/>
              <a:t>is a means of associating variables with types through default conventions, rather than declaration statements.</a:t>
            </a:r>
          </a:p>
          <a:p>
            <a:pPr marL="342900" lvl="3" indent="-342900">
              <a:buNone/>
            </a:pPr>
            <a:r>
              <a:rPr lang="en-US" sz="2800" b="1" dirty="0" smtClean="0"/>
              <a:t>Static Type Binding</a:t>
            </a:r>
          </a:p>
          <a:p>
            <a:r>
              <a:rPr lang="en-US" sz="2400" dirty="0" smtClean="0"/>
              <a:t>Consider the following declarations:</a:t>
            </a:r>
          </a:p>
          <a:p>
            <a:r>
              <a:rPr lang="en-US" sz="2400" b="1" dirty="0" err="1" smtClean="0"/>
              <a:t>var</a:t>
            </a:r>
            <a:r>
              <a:rPr lang="en-US" sz="2400" b="1" dirty="0" smtClean="0"/>
              <a:t> sum = 0; </a:t>
            </a:r>
            <a:r>
              <a:rPr lang="en-US" sz="2400" b="1" dirty="0" err="1" smtClean="0"/>
              <a:t>var</a:t>
            </a:r>
            <a:r>
              <a:rPr lang="en-US" sz="2400" b="1" dirty="0" smtClean="0"/>
              <a:t> total = 0.0;</a:t>
            </a:r>
            <a:endParaRPr lang="en-US" sz="2400" dirty="0" smtClean="0"/>
          </a:p>
          <a:p>
            <a:r>
              <a:rPr lang="en-US" sz="2400" b="1" dirty="0" err="1" smtClean="0"/>
              <a:t>var</a:t>
            </a:r>
            <a:r>
              <a:rPr lang="en-US" sz="2400" b="1" dirty="0" smtClean="0"/>
              <a:t> name = "Fred";</a:t>
            </a:r>
            <a:endParaRPr lang="en-US" sz="2400" dirty="0" smtClean="0"/>
          </a:p>
          <a:p>
            <a:r>
              <a:rPr lang="en-US" sz="2400" dirty="0" smtClean="0"/>
              <a:t>The types of sum, total, and name are </a:t>
            </a:r>
            <a:r>
              <a:rPr lang="en-US" sz="2400" dirty="0" err="1" smtClean="0"/>
              <a:t>int</a:t>
            </a:r>
            <a:r>
              <a:rPr lang="en-US" sz="2400" dirty="0" smtClean="0"/>
              <a:t>, float, and string, respectively.</a:t>
            </a:r>
          </a:p>
          <a:p>
            <a:r>
              <a:rPr lang="en-US" sz="2400" dirty="0" smtClean="0"/>
              <a:t>Keep in mind that these are </a:t>
            </a:r>
            <a:r>
              <a:rPr lang="en-US" sz="2400" b="1" dirty="0" smtClean="0"/>
              <a:t>statically typed variables </a:t>
            </a:r>
            <a:r>
              <a:rPr lang="en-US" sz="2400" dirty="0" smtClean="0"/>
              <a:t>- their types are fixed for the lifetime of the unit in which they are declared.</a:t>
            </a:r>
          </a:p>
          <a:p>
            <a:r>
              <a:rPr lang="en-US" sz="2400" dirty="0" smtClean="0"/>
              <a:t/>
            </a:r>
            <a:br>
              <a:rPr lang="en-US" sz="2400" dirty="0" smtClean="0"/>
            </a:br>
            <a:endParaRPr lang="en-US" sz="2400" dirty="0" smtClean="0"/>
          </a:p>
          <a:p>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lnSpcReduction="10000"/>
          </a:bodyPr>
          <a:lstStyle/>
          <a:p>
            <a:pPr marL="342900" lvl="3" indent="-342900">
              <a:buNone/>
            </a:pPr>
            <a:r>
              <a:rPr lang="en-US" sz="2800" b="1" dirty="0" smtClean="0"/>
              <a:t>Dynamic Type Binding</a:t>
            </a:r>
          </a:p>
          <a:p>
            <a:r>
              <a:rPr lang="en-US" sz="2400" dirty="0" smtClean="0"/>
              <a:t>In Python, Ruby, JavaScript, and PHP, type binding is dynamic.</a:t>
            </a:r>
          </a:p>
          <a:p>
            <a:r>
              <a:rPr lang="en-US" sz="2400" dirty="0" smtClean="0"/>
              <a:t>For example, a JavaScript script may contain the following statement:</a:t>
            </a:r>
          </a:p>
          <a:p>
            <a:r>
              <a:rPr lang="en-US" sz="2400" dirty="0" smtClean="0"/>
              <a:t>list = [10.2, 3.5];</a:t>
            </a:r>
          </a:p>
          <a:p>
            <a:r>
              <a:rPr lang="en-US" sz="2400" dirty="0" smtClean="0"/>
              <a:t>If the statement</a:t>
            </a:r>
          </a:p>
          <a:p>
            <a:r>
              <a:rPr lang="en-US" sz="2400" dirty="0" smtClean="0"/>
              <a:t>list = 47;</a:t>
            </a:r>
          </a:p>
          <a:p>
            <a:pPr marL="342900" lvl="2" indent="-342900">
              <a:buNone/>
            </a:pPr>
            <a:r>
              <a:rPr lang="en-US" sz="2800" b="1" dirty="0" smtClean="0"/>
              <a:t>Storage Bindings and Lifetime</a:t>
            </a:r>
          </a:p>
          <a:p>
            <a:r>
              <a:rPr lang="en-US" sz="2400" dirty="0" smtClean="0"/>
              <a:t>The memory cell to which a variable is bound somehow must be taken from a pool of available memory. This process is called </a:t>
            </a:r>
            <a:r>
              <a:rPr lang="en-US" sz="2400" b="1" dirty="0" smtClean="0"/>
              <a:t>allocation</a:t>
            </a:r>
            <a:r>
              <a:rPr lang="en-US" sz="2400" dirty="0" smtClean="0"/>
              <a:t>.</a:t>
            </a:r>
          </a:p>
          <a:p>
            <a:r>
              <a:rPr lang="en-US" sz="2400" b="1" dirty="0" err="1" smtClean="0"/>
              <a:t>Deallocation</a:t>
            </a:r>
            <a:r>
              <a:rPr lang="en-US" sz="2400" b="1" dirty="0" smtClean="0"/>
              <a:t> </a:t>
            </a:r>
            <a:r>
              <a:rPr lang="en-US" sz="2400" dirty="0" smtClean="0"/>
              <a:t>is the process of placing a memory cell that has been unbound from a variable back into the pool of available memory</a:t>
            </a:r>
          </a:p>
          <a:p>
            <a:r>
              <a:rPr lang="en-US" sz="2400" dirty="0" smtClean="0"/>
              <a:t>The </a:t>
            </a:r>
            <a:r>
              <a:rPr lang="en-US" sz="2400" b="1" dirty="0" smtClean="0"/>
              <a:t>lifetime of a variable </a:t>
            </a:r>
            <a:r>
              <a:rPr lang="en-US" sz="2400" dirty="0" smtClean="0"/>
              <a:t>is the time during which the variable is bound to a specific memory location.</a:t>
            </a:r>
          </a:p>
          <a:p>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a:bodyPr>
          <a:lstStyle/>
          <a:p>
            <a:pPr>
              <a:buNone/>
            </a:pPr>
            <a:r>
              <a:rPr lang="en-US" sz="2400" b="1" dirty="0" smtClean="0"/>
              <a:t>Categories of  variables</a:t>
            </a:r>
          </a:p>
          <a:p>
            <a:r>
              <a:rPr lang="en-US" sz="2400" dirty="0" smtClean="0"/>
              <a:t>These categories are named, according to their lifetimes</a:t>
            </a:r>
          </a:p>
          <a:p>
            <a:pPr marL="514350" indent="-514350">
              <a:buFont typeface="+mj-lt"/>
              <a:buAutoNum type="romanLcPeriod"/>
            </a:pPr>
            <a:r>
              <a:rPr lang="en-US" sz="2400" dirty="0" smtClean="0"/>
              <a:t>static,</a:t>
            </a:r>
          </a:p>
          <a:p>
            <a:pPr marL="514350" indent="-514350">
              <a:buFont typeface="+mj-lt"/>
              <a:buAutoNum type="romanLcPeriod"/>
            </a:pPr>
            <a:r>
              <a:rPr lang="en-US" sz="2400" dirty="0" smtClean="0"/>
              <a:t>stack-dynamic,</a:t>
            </a:r>
          </a:p>
          <a:p>
            <a:pPr marL="514350" indent="-514350">
              <a:buFont typeface="+mj-lt"/>
              <a:buAutoNum type="romanLcPeriod"/>
            </a:pPr>
            <a:r>
              <a:rPr lang="en-US" sz="2400" dirty="0" smtClean="0"/>
              <a:t>explicit heap-dynamic, and </a:t>
            </a:r>
          </a:p>
          <a:p>
            <a:pPr marL="514350" indent="-514350">
              <a:buFont typeface="+mj-lt"/>
              <a:buAutoNum type="romanLcPeriod"/>
            </a:pPr>
            <a:r>
              <a:rPr lang="en-US" sz="2400" dirty="0" smtClean="0"/>
              <a:t>implicit heap-dynamic.</a:t>
            </a:r>
          </a:p>
          <a:p>
            <a:pPr marL="514350" lvl="3" indent="-514350">
              <a:buNone/>
            </a:pPr>
            <a:r>
              <a:rPr lang="en-US" sz="2800" b="1" dirty="0" smtClean="0"/>
              <a:t>Static Variables</a:t>
            </a:r>
          </a:p>
          <a:p>
            <a:pPr marL="514350" indent="-514350"/>
            <a:r>
              <a:rPr lang="en-US" sz="2400" dirty="0" smtClean="0"/>
              <a:t>A </a:t>
            </a:r>
            <a:r>
              <a:rPr lang="en-US" sz="2400" b="1" dirty="0" smtClean="0"/>
              <a:t>static variable </a:t>
            </a:r>
            <a:r>
              <a:rPr lang="en-US" sz="2400" dirty="0" smtClean="0"/>
              <a:t>is one that is bound to a memory cell before program execution begins and remains bound to that same memory cell until program execution terminates. </a:t>
            </a:r>
          </a:p>
          <a:p>
            <a:pPr marL="514350" indent="-514350"/>
            <a:r>
              <a:rPr lang="en-US" sz="2400" dirty="0" smtClean="0"/>
              <a:t>One advantage of static variables is efficiency.</a:t>
            </a:r>
          </a:p>
          <a:p>
            <a:pPr marL="514350" indent="-514350"/>
            <a:r>
              <a:rPr lang="en-US" sz="2400" dirty="0" smtClean="0"/>
              <a:t>One disadvantage of static binding to storage is reduced flexibility</a:t>
            </a:r>
            <a:br>
              <a:rPr lang="en-US" sz="2400" dirty="0" smtClean="0"/>
            </a:b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pPr marL="342900" lvl="3" indent="-342900">
              <a:buNone/>
            </a:pPr>
            <a:r>
              <a:rPr lang="en-US" sz="2800" b="1" dirty="0" smtClean="0"/>
              <a:t>Stack-Dynamic Variables</a:t>
            </a:r>
          </a:p>
          <a:p>
            <a:pPr marL="342900" lvl="3" indent="-342900">
              <a:buFont typeface="Arial" pitchFamily="34" charset="0"/>
              <a:buChar char="•"/>
            </a:pPr>
            <a:r>
              <a:rPr lang="en-US" sz="2400" b="1" dirty="0" smtClean="0"/>
              <a:t>Stack-dynamic variables </a:t>
            </a:r>
            <a:r>
              <a:rPr lang="en-US" sz="2400" dirty="0" smtClean="0"/>
              <a:t>are those whose storage bindings are created when their declaration statements are elaborated, but whose types are statically bound.</a:t>
            </a:r>
          </a:p>
          <a:p>
            <a:pPr marL="342900" lvl="3" indent="-342900">
              <a:buFont typeface="Arial" pitchFamily="34" charset="0"/>
              <a:buChar char="•"/>
            </a:pPr>
            <a:r>
              <a:rPr lang="en-US" sz="2400" b="1" dirty="0" smtClean="0"/>
              <a:t>Elaboration </a:t>
            </a:r>
            <a:r>
              <a:rPr lang="en-US" sz="2400" dirty="0" smtClean="0"/>
              <a:t>of such a declaration refers to the storage allocation and binding process indicated by the declaration, which takes place when execution reaches the code to which the declaration is attached. Therefore, elaboration occurs during run time. </a:t>
            </a:r>
          </a:p>
          <a:p>
            <a:pPr marL="342900" lvl="3" indent="-342900">
              <a:buNone/>
            </a:pPr>
            <a:r>
              <a:rPr lang="en-US" sz="2800" b="1" dirty="0" smtClean="0"/>
              <a:t>Explicit Heap-Dynamic Variables</a:t>
            </a:r>
          </a:p>
          <a:p>
            <a:pPr marL="342900" lvl="3" indent="-342900">
              <a:buFont typeface="Arial" pitchFamily="34" charset="0"/>
              <a:buChar char="•"/>
            </a:pPr>
            <a:r>
              <a:rPr lang="en-US" sz="2400" b="1" dirty="0" smtClean="0"/>
              <a:t>Explicit heap-dynamic variables </a:t>
            </a:r>
            <a:r>
              <a:rPr lang="en-US" sz="2400" dirty="0" smtClean="0"/>
              <a:t>are nameless (abstract) memory cells that are allocated and </a:t>
            </a:r>
            <a:r>
              <a:rPr lang="en-US" sz="2400" dirty="0" err="1" smtClean="0"/>
              <a:t>deallocated</a:t>
            </a:r>
            <a:r>
              <a:rPr lang="en-US" sz="2400" dirty="0" smtClean="0"/>
              <a:t> by explicit run-time instructions written by the programmer.</a:t>
            </a:r>
          </a:p>
          <a:p>
            <a:pPr>
              <a:buNone/>
            </a:pP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r>
              <a:rPr lang="en-US" sz="2400" dirty="0" smtClean="0"/>
              <a:t>These variables, which are allocated from and </a:t>
            </a:r>
            <a:r>
              <a:rPr lang="en-US" sz="2400" dirty="0" err="1" smtClean="0"/>
              <a:t>deallocated</a:t>
            </a:r>
            <a:r>
              <a:rPr lang="en-US" sz="2400" dirty="0" smtClean="0"/>
              <a:t> to the heap, can only be referenced through pointer or reference variables. </a:t>
            </a:r>
          </a:p>
          <a:p>
            <a:r>
              <a:rPr lang="en-US" sz="2400" dirty="0" smtClean="0"/>
              <a:t>. An explicit heap-dynamic variable is created by either an operator (for example, in C++) or a call to a system subprogram provided for that purpose (for example, in C).</a:t>
            </a:r>
          </a:p>
          <a:p>
            <a:r>
              <a:rPr lang="en-US" sz="2400" dirty="0" smtClean="0"/>
              <a:t>Explicit heap-dynamic variables are often used to construct dynamic structures, such as linked lists and trees, that need to grow and/or shrink during execution. Such structures can be built conveniently using pointers or references and explicit heap-dynamic variables.</a:t>
            </a:r>
          </a:p>
          <a:p>
            <a:r>
              <a:rPr lang="en-US" sz="2400" dirty="0" smtClean="0"/>
              <a:t>The disadvantages of explicit heap-dynamic variables are the difficulty of using pointer and reference variables correctly, the cost of references to the variables, and the complexity of the required storage management implementation. </a:t>
            </a:r>
          </a:p>
          <a:p>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lnSpcReduction="10000"/>
          </a:bodyPr>
          <a:lstStyle/>
          <a:p>
            <a:pPr marL="342900" lvl="3" indent="-342900">
              <a:buNone/>
            </a:pPr>
            <a:r>
              <a:rPr lang="en-US" sz="2800" b="1" dirty="0" smtClean="0"/>
              <a:t>Implicit Heap-Dynamic Variables</a:t>
            </a:r>
          </a:p>
          <a:p>
            <a:r>
              <a:rPr lang="en-US" sz="2400" b="1" dirty="0" smtClean="0"/>
              <a:t>Implicit heap-dynamic variables </a:t>
            </a:r>
            <a:r>
              <a:rPr lang="en-US" sz="2400" dirty="0" smtClean="0"/>
              <a:t>are bound to heap storage only when they are assigned values. In fact, all their attributes are bound every time they are assigned. </a:t>
            </a:r>
          </a:p>
          <a:p>
            <a:r>
              <a:rPr lang="en-US" sz="2400" dirty="0" smtClean="0"/>
              <a:t>For example, consider the following JavaScript assignment statement:</a:t>
            </a:r>
          </a:p>
          <a:p>
            <a:r>
              <a:rPr lang="en-US" sz="2400" dirty="0" smtClean="0"/>
              <a:t>highs = [74, 84, 86, 90, 71];</a:t>
            </a:r>
          </a:p>
          <a:p>
            <a:r>
              <a:rPr lang="en-US" sz="2400" dirty="0" smtClean="0"/>
              <a:t>Regardless of whether the variable named highs was previously used in the program or what it was used for, it is now an array of five numeric values.</a:t>
            </a:r>
          </a:p>
          <a:p>
            <a:r>
              <a:rPr lang="en-US" sz="2400" dirty="0" smtClean="0"/>
              <a:t>The advantage of such variables is that they have the highest degree of flexibility, allowing highly generic code to be written</a:t>
            </a:r>
            <a:r>
              <a:rPr lang="en-US" sz="2800" dirty="0" smtClean="0"/>
              <a:t>. </a:t>
            </a:r>
          </a:p>
          <a:p>
            <a:r>
              <a:rPr lang="en-US" sz="2400" dirty="0" smtClean="0"/>
              <a:t>One disadvantage of implicit heap-dynamic variables is the run-time overhead of maintaining all the dynamic attributes, which could include array subscript types and ranges, among others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lstStyle/>
          <a:p>
            <a:pPr>
              <a:buNone/>
            </a:pPr>
            <a:r>
              <a:rPr lang="en-US" b="1" dirty="0" smtClean="0"/>
              <a:t>Scope</a:t>
            </a:r>
          </a:p>
          <a:p>
            <a:pPr>
              <a:buNone/>
            </a:pPr>
            <a:r>
              <a:rPr lang="en-US" sz="2400" dirty="0" smtClean="0"/>
              <a:t>A scope is a section of a program where no bindings change, or</a:t>
            </a:r>
          </a:p>
          <a:p>
            <a:pPr>
              <a:buNone/>
            </a:pPr>
            <a:r>
              <a:rPr lang="en-US" sz="2400" dirty="0" smtClean="0"/>
              <a:t>at least no re-declarations are allowed. </a:t>
            </a:r>
          </a:p>
          <a:p>
            <a:pPr>
              <a:buNone/>
            </a:pPr>
            <a:r>
              <a:rPr lang="en-US" sz="2800" b="1" dirty="0" smtClean="0"/>
              <a:t>scope of a variable </a:t>
            </a:r>
          </a:p>
          <a:p>
            <a:r>
              <a:rPr lang="en-US" sz="2400" dirty="0" smtClean="0"/>
              <a:t>One of the important factors in understanding variables is scope. </a:t>
            </a:r>
          </a:p>
          <a:p>
            <a:r>
              <a:rPr lang="en-US" sz="2400" dirty="0" smtClean="0"/>
              <a:t>The scope</a:t>
            </a:r>
            <a:r>
              <a:rPr lang="en-US" sz="2400" b="1" dirty="0" smtClean="0"/>
              <a:t> </a:t>
            </a:r>
            <a:r>
              <a:rPr lang="en-US" sz="2400" dirty="0" smtClean="0"/>
              <a:t>of a variable is the range of statements in which the variable is visible. </a:t>
            </a:r>
          </a:p>
          <a:p>
            <a:r>
              <a:rPr lang="en-US" sz="2400" dirty="0" smtClean="0"/>
              <a:t> A variable is visible</a:t>
            </a:r>
            <a:r>
              <a:rPr lang="en-US" sz="2400" b="1" dirty="0" smtClean="0"/>
              <a:t> </a:t>
            </a:r>
            <a:r>
              <a:rPr lang="en-US" sz="2400" dirty="0" smtClean="0"/>
              <a:t>in a statement if it can be referenced or assigned in that statement.</a:t>
            </a:r>
          </a:p>
          <a:p>
            <a:r>
              <a:rPr lang="en-US" sz="2400" dirty="0" smtClean="0"/>
              <a:t>The scope rules of a language determine how a particular occurrence of a name is associated with a variable, or in the case of a functional language, how a name is associated with an expression. </a:t>
            </a:r>
          </a:p>
          <a:p>
            <a:endParaRPr lang="en-US" sz="2400" dirty="0" smtClean="0"/>
          </a:p>
          <a:p>
            <a:pPr>
              <a:buNone/>
            </a:pPr>
            <a:endParaRPr lang="en-US" b="1" dirty="0" smtClean="0"/>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a:bodyPr>
          <a:lstStyle/>
          <a:p>
            <a:r>
              <a:rPr lang="en-US" sz="2400" dirty="0" smtClean="0"/>
              <a:t>A clear understanding of these rules for a language is therefore essential to the ability to write or read programs in that language.</a:t>
            </a:r>
          </a:p>
          <a:p>
            <a:r>
              <a:rPr lang="en-US" sz="2400" dirty="0" smtClean="0"/>
              <a:t>A variable</a:t>
            </a:r>
            <a:r>
              <a:rPr lang="en-US" sz="2400" b="1" dirty="0" smtClean="0"/>
              <a:t> </a:t>
            </a:r>
            <a:r>
              <a:rPr lang="en-US" sz="2400" dirty="0" smtClean="0"/>
              <a:t>is local</a:t>
            </a:r>
            <a:r>
              <a:rPr lang="en-US" sz="2400" b="1" dirty="0" smtClean="0"/>
              <a:t> </a:t>
            </a:r>
            <a:r>
              <a:rPr lang="en-US" sz="2400" dirty="0" smtClean="0"/>
              <a:t>in a program unit or block if it is declared there.</a:t>
            </a:r>
          </a:p>
          <a:p>
            <a:r>
              <a:rPr lang="en-US" sz="2400" dirty="0" smtClean="0"/>
              <a:t>The nonlocal variables</a:t>
            </a:r>
            <a:r>
              <a:rPr lang="en-US" sz="2400" b="1" dirty="0" smtClean="0"/>
              <a:t> </a:t>
            </a:r>
            <a:r>
              <a:rPr lang="en-US" sz="2400" dirty="0" smtClean="0"/>
              <a:t>of a program unit or block are those that are visible within the program</a:t>
            </a:r>
            <a:r>
              <a:rPr lang="en-US" sz="2400" b="1" dirty="0" smtClean="0"/>
              <a:t> </a:t>
            </a:r>
            <a:r>
              <a:rPr lang="en-US" sz="2400" dirty="0" smtClean="0"/>
              <a:t>unit or block but are not declared there.</a:t>
            </a:r>
          </a:p>
          <a:p>
            <a:r>
              <a:rPr lang="en-US" sz="2400" dirty="0" smtClean="0"/>
              <a:t>Global variables</a:t>
            </a:r>
            <a:r>
              <a:rPr lang="en-US" sz="2400" b="1" dirty="0" smtClean="0"/>
              <a:t> </a:t>
            </a:r>
            <a:r>
              <a:rPr lang="en-US" sz="2400" dirty="0" smtClean="0"/>
              <a:t>are a special category of nonlocal variables.</a:t>
            </a:r>
          </a:p>
          <a:p>
            <a:r>
              <a:rPr lang="en-US" sz="2400" dirty="0" smtClean="0"/>
              <a:t>The lifetime of that variable is the period of time beginning when the method is entered and ending when execution of the method terminates.</a:t>
            </a:r>
          </a:p>
          <a:p>
            <a:r>
              <a:rPr lang="en-US" sz="2400" dirty="0" smtClean="0"/>
              <a:t>The referencing environment</a:t>
            </a:r>
            <a:r>
              <a:rPr lang="en-US" sz="2400" b="1" dirty="0" smtClean="0"/>
              <a:t> </a:t>
            </a:r>
            <a:r>
              <a:rPr lang="en-US" sz="2400" dirty="0" smtClean="0"/>
              <a:t>of a statement is the collection of all variables that are visible in the statement.</a:t>
            </a:r>
          </a:p>
          <a:p>
            <a:endParaRPr lang="en-US" sz="2400" dirty="0" smtClean="0"/>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A named constant</a:t>
            </a:r>
            <a:r>
              <a:rPr lang="en-US" sz="2400" b="1" dirty="0" smtClean="0"/>
              <a:t> </a:t>
            </a:r>
            <a:r>
              <a:rPr lang="en-US" sz="2400" dirty="0" smtClean="0"/>
              <a:t>is a variable that is bound to a value only once.</a:t>
            </a:r>
          </a:p>
          <a:p>
            <a:r>
              <a:rPr lang="en-US" sz="2400" dirty="0" smtClean="0"/>
              <a:t>Named constants are useful as aids to readability and program reliability.</a:t>
            </a:r>
          </a:p>
          <a:p>
            <a:r>
              <a:rPr lang="en-US" sz="2400" dirty="0" smtClean="0"/>
              <a:t>Readability can be improved</a:t>
            </a:r>
          </a:p>
          <a:p>
            <a:r>
              <a:rPr lang="en-US" sz="2400" dirty="0" smtClean="0"/>
              <a:t>for example, by using the name pi</a:t>
            </a:r>
            <a:r>
              <a:rPr lang="en-US" sz="2400" b="1" dirty="0" smtClean="0"/>
              <a:t> </a:t>
            </a:r>
            <a:r>
              <a:rPr lang="en-US" sz="2400" dirty="0" smtClean="0"/>
              <a:t>instead of the constant 3.14159265. Another important use of named constants is to parameterize a program</a:t>
            </a:r>
          </a:p>
          <a:p>
            <a:pPr>
              <a:buNone/>
            </a:pPr>
            <a:r>
              <a:rPr lang="en-US" sz="2800" b="1" dirty="0" smtClean="0"/>
              <a:t>Static Scope</a:t>
            </a:r>
          </a:p>
          <a:p>
            <a:r>
              <a:rPr lang="en-US" sz="2400" dirty="0" smtClean="0"/>
              <a:t> Static scoping is so named because the scope of a variable can be statically determined—that is, prior to execution. This permits a human program reader (and a compiler) to determine the type of every variable in the program simply by examining its source code.</a:t>
            </a:r>
          </a:p>
          <a:p>
            <a:endParaRPr lang="en-US" sz="28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fontScale="92500" lnSpcReduction="20000"/>
          </a:bodyPr>
          <a:lstStyle/>
          <a:p>
            <a:pPr lvl="0"/>
            <a:r>
              <a:rPr lang="en-US" sz="2400" dirty="0" smtClean="0"/>
              <a:t>Static scoping is sometimes called </a:t>
            </a:r>
            <a:r>
              <a:rPr lang="en-US" sz="2400" b="1" i="1" dirty="0" smtClean="0"/>
              <a:t>lexical scoping</a:t>
            </a:r>
            <a:r>
              <a:rPr lang="en-US" sz="2400" dirty="0" smtClean="0"/>
              <a:t>.</a:t>
            </a:r>
          </a:p>
          <a:p>
            <a:r>
              <a:rPr lang="en-US" sz="2400" dirty="0" smtClean="0"/>
              <a:t>Consider the following JavaScript function, big, in which the two functions</a:t>
            </a:r>
          </a:p>
          <a:p>
            <a:r>
              <a:rPr lang="en-US" sz="2400" dirty="0" smtClean="0"/>
              <a:t>sub1 and sub2 are nested:</a:t>
            </a:r>
          </a:p>
          <a:p>
            <a:r>
              <a:rPr lang="en-US" sz="2400" b="1" dirty="0" smtClean="0"/>
              <a:t>function </a:t>
            </a:r>
            <a:r>
              <a:rPr lang="en-US" sz="2400" dirty="0" smtClean="0"/>
              <a:t>big() {</a:t>
            </a:r>
          </a:p>
          <a:p>
            <a:r>
              <a:rPr lang="en-US" sz="2400" b="1" dirty="0" smtClean="0"/>
              <a:t>function </a:t>
            </a:r>
            <a:r>
              <a:rPr lang="en-US" sz="2400" dirty="0" smtClean="0"/>
              <a:t>sub1() { </a:t>
            </a:r>
            <a:r>
              <a:rPr lang="en-US" sz="2400" b="1" dirty="0" err="1" smtClean="0"/>
              <a:t>var</a:t>
            </a:r>
            <a:r>
              <a:rPr lang="en-US" sz="2400" b="1" dirty="0" smtClean="0"/>
              <a:t> </a:t>
            </a:r>
            <a:r>
              <a:rPr lang="en-US" sz="2400" dirty="0" smtClean="0"/>
              <a:t>x = 7; sub2();</a:t>
            </a:r>
          </a:p>
          <a:p>
            <a:r>
              <a:rPr lang="en-US" sz="2400" dirty="0" smtClean="0"/>
              <a:t>}</a:t>
            </a:r>
          </a:p>
          <a:p>
            <a:r>
              <a:rPr lang="en-US" sz="2400" b="1" dirty="0" smtClean="0"/>
              <a:t>function </a:t>
            </a:r>
            <a:r>
              <a:rPr lang="en-US" sz="2400" dirty="0" smtClean="0"/>
              <a:t>sub2() {</a:t>
            </a:r>
          </a:p>
          <a:p>
            <a:r>
              <a:rPr lang="en-US" sz="2400" b="1" dirty="0" err="1" smtClean="0"/>
              <a:t>var</a:t>
            </a:r>
            <a:r>
              <a:rPr lang="en-US" sz="2400" b="1" dirty="0" smtClean="0"/>
              <a:t> </a:t>
            </a:r>
            <a:r>
              <a:rPr lang="en-US" sz="2400" dirty="0" smtClean="0"/>
              <a:t>y = x;</a:t>
            </a:r>
          </a:p>
          <a:p>
            <a:r>
              <a:rPr lang="en-US" sz="2400" dirty="0" smtClean="0"/>
              <a:t>}</a:t>
            </a:r>
          </a:p>
          <a:p>
            <a:r>
              <a:rPr lang="en-US" sz="2400" b="1" dirty="0" err="1" smtClean="0"/>
              <a:t>var</a:t>
            </a:r>
            <a:r>
              <a:rPr lang="en-US" sz="2400" b="1" dirty="0" smtClean="0"/>
              <a:t> </a:t>
            </a:r>
            <a:r>
              <a:rPr lang="en-US" sz="2400" dirty="0" smtClean="0"/>
              <a:t>x = 3; sub1();</a:t>
            </a:r>
          </a:p>
          <a:p>
            <a:r>
              <a:rPr lang="en-US" sz="2400" dirty="0" smtClean="0"/>
              <a:t>}</a:t>
            </a:r>
          </a:p>
          <a:p>
            <a:r>
              <a:rPr lang="en-US" sz="2400" dirty="0" smtClean="0"/>
              <a:t>Under static scoping, the reference to the variable x in sub2 is to the x declared in the procedure big. This is true because the search for x begins in the procedure in which the reference occurs, sub2, but no declaration for x is found there. The search continues in the static parent of sub2, big, where the declaration of x is found</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lstStyle/>
          <a:p>
            <a:pPr marL="342900" lvl="2" indent="-342900"/>
            <a:r>
              <a:rPr lang="en-US" sz="2800" b="1" dirty="0" smtClean="0"/>
              <a:t>Global Scope</a:t>
            </a:r>
          </a:p>
          <a:p>
            <a:r>
              <a:rPr lang="en-US" sz="2800" dirty="0" smtClean="0"/>
              <a:t>Some languages, including C, C++, PHP, JavaScript, and Python, allow a program structure that is a sequence of function definitions, in which variable definitions can appear outside the functions. Definitions outside functions in a file create global variables, which potentially can be visible to those functions.</a:t>
            </a:r>
          </a:p>
          <a:p>
            <a:r>
              <a:rPr lang="en-US" sz="2800" dirty="0" smtClean="0"/>
              <a:t>A global variable that is defined after a function can be made visible in the function by declaring it to be external, as in the following:</a:t>
            </a:r>
          </a:p>
          <a:p>
            <a:r>
              <a:rPr lang="en-US" sz="2800" dirty="0" smtClean="0"/>
              <a:t>Extern  </a:t>
            </a:r>
            <a:r>
              <a:rPr lang="en-US" sz="2800" dirty="0" err="1" smtClean="0"/>
              <a:t>int</a:t>
            </a:r>
            <a:r>
              <a:rPr lang="en-US" sz="2800" dirty="0" smtClean="0"/>
              <a:t> sum;</a:t>
            </a:r>
          </a:p>
          <a:p>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Autofit/>
          </a:bodyPr>
          <a:lstStyle/>
          <a:p>
            <a:r>
              <a:rPr lang="en-US" sz="2000" dirty="0" smtClean="0"/>
              <a:t>Consider the following example:</a:t>
            </a:r>
          </a:p>
          <a:p>
            <a:r>
              <a:rPr lang="en-US" sz="2000" dirty="0" smtClean="0"/>
              <a:t>$day = "Monday";</a:t>
            </a:r>
          </a:p>
          <a:p>
            <a:r>
              <a:rPr lang="en-US" sz="2000" dirty="0" smtClean="0"/>
              <a:t>$month = "January";</a:t>
            </a:r>
          </a:p>
          <a:p>
            <a:r>
              <a:rPr lang="en-US" sz="2000" b="1" dirty="0" smtClean="0"/>
              <a:t>function </a:t>
            </a:r>
            <a:r>
              <a:rPr lang="en-US" sz="2000" dirty="0" smtClean="0"/>
              <a:t>calendar() {</a:t>
            </a:r>
          </a:p>
          <a:p>
            <a:r>
              <a:rPr lang="en-US" sz="2000" dirty="0" smtClean="0"/>
              <a:t>$day = "Tuesday";</a:t>
            </a:r>
          </a:p>
          <a:p>
            <a:r>
              <a:rPr lang="en-US" sz="2000" b="1" dirty="0" smtClean="0"/>
              <a:t>global </a:t>
            </a:r>
            <a:r>
              <a:rPr lang="en-US" sz="2000" dirty="0" smtClean="0"/>
              <a:t>$month;</a:t>
            </a:r>
          </a:p>
          <a:p>
            <a:r>
              <a:rPr lang="en-US" sz="2000" b="1" dirty="0" smtClean="0"/>
              <a:t>print </a:t>
            </a:r>
            <a:r>
              <a:rPr lang="en-US" sz="2000" dirty="0" smtClean="0"/>
              <a:t>"local day is $day ";</a:t>
            </a:r>
          </a:p>
          <a:p>
            <a:r>
              <a:rPr lang="en-US" sz="2000" dirty="0" smtClean="0"/>
              <a:t>$</a:t>
            </a:r>
            <a:r>
              <a:rPr lang="en-US" sz="2000" dirty="0" err="1" smtClean="0"/>
              <a:t>gday</a:t>
            </a:r>
            <a:r>
              <a:rPr lang="en-US" sz="2000" dirty="0" smtClean="0"/>
              <a:t> = $GLOBALS['day'];</a:t>
            </a:r>
          </a:p>
          <a:p>
            <a:r>
              <a:rPr lang="en-US" sz="2000" b="1" dirty="0" smtClean="0"/>
              <a:t>print </a:t>
            </a:r>
            <a:r>
              <a:rPr lang="en-US" sz="2000" dirty="0" smtClean="0"/>
              <a:t>"global day is $</a:t>
            </a:r>
            <a:r>
              <a:rPr lang="en-US" sz="2000" dirty="0" err="1" smtClean="0"/>
              <a:t>gday</a:t>
            </a:r>
            <a:r>
              <a:rPr lang="en-US" sz="2000" dirty="0" smtClean="0"/>
              <a:t> &lt;</a:t>
            </a:r>
            <a:r>
              <a:rPr lang="en-US" sz="2000" dirty="0" err="1" smtClean="0"/>
              <a:t>br</a:t>
            </a:r>
            <a:r>
              <a:rPr lang="en-US" sz="2000" dirty="0" smtClean="0"/>
              <a:t> \&gt;";</a:t>
            </a:r>
          </a:p>
          <a:p>
            <a:r>
              <a:rPr lang="en-US" sz="2000" b="1" dirty="0" smtClean="0"/>
              <a:t>print </a:t>
            </a:r>
            <a:r>
              <a:rPr lang="en-US" sz="2000" dirty="0" smtClean="0"/>
              <a:t>"global month is $month ";</a:t>
            </a:r>
          </a:p>
          <a:p>
            <a:r>
              <a:rPr lang="en-US" sz="2000" dirty="0" smtClean="0"/>
              <a:t>}</a:t>
            </a:r>
          </a:p>
          <a:p>
            <a:r>
              <a:rPr lang="en-US" sz="2000" dirty="0" smtClean="0"/>
              <a:t>calendar();</a:t>
            </a:r>
          </a:p>
          <a:p>
            <a:r>
              <a:rPr lang="en-US" sz="2000" dirty="0" smtClean="0"/>
              <a:t>Interpretation of this code produces the following:</a:t>
            </a:r>
          </a:p>
          <a:p>
            <a:r>
              <a:rPr lang="en-US" sz="2000" dirty="0" smtClean="0"/>
              <a:t>local day is Tuesday</a:t>
            </a:r>
          </a:p>
          <a:p>
            <a:r>
              <a:rPr lang="en-US" sz="2000" dirty="0" smtClean="0"/>
              <a:t> global day is Monday</a:t>
            </a:r>
          </a:p>
          <a:p>
            <a:r>
              <a:rPr lang="en-US" sz="2000" dirty="0" smtClean="0"/>
              <a:t> global month is January</a:t>
            </a:r>
          </a:p>
          <a:p>
            <a:r>
              <a:rPr lang="en-US" sz="2000" dirty="0" smtClean="0"/>
              <a:t> </a:t>
            </a:r>
          </a:p>
          <a:p>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fontScale="92500" lnSpcReduction="10000"/>
          </a:bodyPr>
          <a:lstStyle/>
          <a:p>
            <a:pPr marL="342900" lvl="2" indent="-342900">
              <a:buNone/>
            </a:pPr>
            <a:r>
              <a:rPr lang="en-US" sz="2800" b="1" dirty="0" smtClean="0"/>
              <a:t>Dynamic Scope</a:t>
            </a:r>
          </a:p>
          <a:p>
            <a:r>
              <a:rPr lang="en-US" sz="2800" dirty="0" smtClean="0"/>
              <a:t> Dynamic scoping</a:t>
            </a:r>
            <a:r>
              <a:rPr lang="en-US" sz="2800" b="1" dirty="0" smtClean="0"/>
              <a:t> </a:t>
            </a:r>
            <a:r>
              <a:rPr lang="en-US" sz="2800" dirty="0" smtClean="0"/>
              <a:t>is based on the calling sequence of subprograms, not on their spatial relationship to each other. Thus, the scope can be determined only at run time.</a:t>
            </a:r>
          </a:p>
          <a:p>
            <a:r>
              <a:rPr lang="en-US" sz="2800" b="1" dirty="0" smtClean="0"/>
              <a:t>function </a:t>
            </a:r>
            <a:r>
              <a:rPr lang="en-US" sz="2800" dirty="0" smtClean="0"/>
              <a:t>big() {</a:t>
            </a:r>
          </a:p>
          <a:p>
            <a:r>
              <a:rPr lang="en-US" sz="2800" b="1" dirty="0" smtClean="0"/>
              <a:t>function </a:t>
            </a:r>
            <a:r>
              <a:rPr lang="en-US" sz="2800" dirty="0" smtClean="0"/>
              <a:t>sub1() {</a:t>
            </a:r>
          </a:p>
          <a:p>
            <a:r>
              <a:rPr lang="en-US" sz="2800" b="1" dirty="0" err="1" smtClean="0"/>
              <a:t>var</a:t>
            </a:r>
            <a:r>
              <a:rPr lang="en-US" sz="2800" b="1" dirty="0" smtClean="0"/>
              <a:t> </a:t>
            </a:r>
            <a:r>
              <a:rPr lang="en-US" sz="2800" dirty="0" smtClean="0"/>
              <a:t>x = 7;</a:t>
            </a:r>
          </a:p>
          <a:p>
            <a:r>
              <a:rPr lang="en-US" sz="2800" dirty="0" smtClean="0"/>
              <a:t>}</a:t>
            </a:r>
          </a:p>
          <a:p>
            <a:r>
              <a:rPr lang="en-US" sz="2800" b="1" dirty="0" smtClean="0"/>
              <a:t>function </a:t>
            </a:r>
            <a:r>
              <a:rPr lang="en-US" sz="2800" dirty="0" smtClean="0"/>
              <a:t>sub2() {</a:t>
            </a:r>
          </a:p>
          <a:p>
            <a:r>
              <a:rPr lang="en-US" sz="2800" b="1" dirty="0" err="1" smtClean="0"/>
              <a:t>var</a:t>
            </a:r>
            <a:r>
              <a:rPr lang="en-US" sz="2800" b="1" dirty="0" smtClean="0"/>
              <a:t> </a:t>
            </a:r>
            <a:r>
              <a:rPr lang="en-US" sz="2800" dirty="0" smtClean="0"/>
              <a:t>y = x;</a:t>
            </a:r>
          </a:p>
          <a:p>
            <a:r>
              <a:rPr lang="en-US" sz="2800" b="1" dirty="0" err="1" smtClean="0"/>
              <a:t>var</a:t>
            </a:r>
            <a:r>
              <a:rPr lang="en-US" sz="2800" b="1" dirty="0" smtClean="0"/>
              <a:t> </a:t>
            </a:r>
            <a:r>
              <a:rPr lang="en-US" sz="2800" dirty="0" smtClean="0"/>
              <a:t>z = 3;</a:t>
            </a:r>
          </a:p>
          <a:p>
            <a:r>
              <a:rPr lang="en-US" sz="2800" dirty="0" smtClean="0"/>
              <a:t>}</a:t>
            </a:r>
          </a:p>
          <a:p>
            <a:r>
              <a:rPr lang="en-US" sz="2800" b="1" dirty="0" err="1" smtClean="0"/>
              <a:t>var</a:t>
            </a:r>
            <a:r>
              <a:rPr lang="en-US" sz="2800" b="1" dirty="0" smtClean="0"/>
              <a:t> </a:t>
            </a:r>
            <a:r>
              <a:rPr lang="en-US" sz="2800" dirty="0" smtClean="0"/>
              <a:t>x = 3;</a:t>
            </a:r>
          </a:p>
          <a:p>
            <a:pPr>
              <a:buNone/>
            </a:pPr>
            <a:r>
              <a:rPr lang="en-US" sz="2800" dirty="0" smtClean="0"/>
              <a:t>     }</a:t>
            </a:r>
          </a:p>
          <a:p>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lstStyle/>
          <a:p>
            <a:pPr marL="342900" lvl="1" indent="-342900">
              <a:buNone/>
            </a:pPr>
            <a:r>
              <a:rPr lang="en-US" b="1" dirty="0" smtClean="0"/>
              <a:t>Referencing Environments</a:t>
            </a:r>
          </a:p>
          <a:p>
            <a:r>
              <a:rPr lang="en-US" sz="2400" dirty="0" smtClean="0"/>
              <a:t>The </a:t>
            </a:r>
            <a:r>
              <a:rPr lang="en-US" sz="2400" b="1" dirty="0" smtClean="0"/>
              <a:t>referencing environment </a:t>
            </a:r>
            <a:r>
              <a:rPr lang="en-US" sz="2400" dirty="0" smtClean="0"/>
              <a:t>of a statement is the collection of all variables that are visible in the statement</a:t>
            </a:r>
            <a:r>
              <a:rPr lang="en-US" dirty="0" smtClean="0"/>
              <a:t>. </a:t>
            </a:r>
          </a:p>
          <a:p>
            <a:r>
              <a:rPr lang="en-US" sz="2400" dirty="0" smtClean="0"/>
              <a:t>The referencing environment of a statement in a static-scoped language is the variables declared in its local scope plus the collection of all variables of its ancestor scopes that are visible. </a:t>
            </a:r>
          </a:p>
          <a:p>
            <a:r>
              <a:rPr lang="en-US" sz="2400" dirty="0" smtClean="0"/>
              <a:t> In such a language, the referencing environment of a statement is needed while that statement is being compiled, so code and data structures can be created to allow references to variables from other scopes during run time.</a:t>
            </a:r>
          </a:p>
          <a:p>
            <a:r>
              <a:rPr lang="en-US" sz="2400" dirty="0" smtClean="0"/>
              <a:t>Consider the following Python skeletal program:</a:t>
            </a:r>
          </a:p>
          <a:p>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Autofit/>
          </a:bodyPr>
          <a:lstStyle/>
          <a:p>
            <a:pPr>
              <a:buNone/>
            </a:pPr>
            <a:r>
              <a:rPr lang="en-US" sz="2400" dirty="0" smtClean="0"/>
              <a:t>  g = 3; # A global</a:t>
            </a:r>
          </a:p>
          <a:p>
            <a:pPr>
              <a:buNone/>
            </a:pPr>
            <a:r>
              <a:rPr lang="en-US" sz="2400" b="1" dirty="0" smtClean="0"/>
              <a:t>  def </a:t>
            </a:r>
            <a:r>
              <a:rPr lang="en-US" sz="2400" dirty="0" smtClean="0"/>
              <a:t>sub1():</a:t>
            </a:r>
          </a:p>
          <a:p>
            <a:pPr>
              <a:buNone/>
            </a:pPr>
            <a:r>
              <a:rPr lang="en-US" sz="2400" dirty="0" smtClean="0"/>
              <a:t>a = 5; # Creates a local</a:t>
            </a:r>
          </a:p>
          <a:p>
            <a:pPr>
              <a:buNone/>
            </a:pPr>
            <a:r>
              <a:rPr lang="en-US" sz="2400" dirty="0" smtClean="0"/>
              <a:t>b = 7; # Creates another local.</a:t>
            </a:r>
          </a:p>
          <a:p>
            <a:pPr>
              <a:buNone/>
            </a:pPr>
            <a:r>
              <a:rPr lang="en-US" sz="2400" dirty="0" smtClean="0"/>
              <a:t>. . .    . . . . .  . .    1</a:t>
            </a:r>
          </a:p>
          <a:p>
            <a:pPr>
              <a:buNone/>
            </a:pPr>
            <a:r>
              <a:rPr lang="en-US" sz="2400" b="1" dirty="0" smtClean="0"/>
              <a:t>def </a:t>
            </a:r>
            <a:r>
              <a:rPr lang="en-US" sz="2400" dirty="0" smtClean="0"/>
              <a:t>sub2</a:t>
            </a:r>
            <a:r>
              <a:rPr lang="en-US" sz="2400" b="1" dirty="0" smtClean="0"/>
              <a:t>():</a:t>
            </a:r>
            <a:endParaRPr lang="en-US" sz="2400" dirty="0" smtClean="0"/>
          </a:p>
          <a:p>
            <a:pPr>
              <a:buNone/>
            </a:pPr>
            <a:r>
              <a:rPr lang="en-US" sz="2400" b="1" dirty="0" smtClean="0"/>
              <a:t>global </a:t>
            </a:r>
            <a:r>
              <a:rPr lang="en-US" sz="2400" dirty="0" smtClean="0"/>
              <a:t>g; # Global g is now assignable here c = 9; # Creates a new local</a:t>
            </a:r>
          </a:p>
          <a:p>
            <a:pPr>
              <a:buNone/>
            </a:pPr>
            <a:r>
              <a:rPr lang="en-US" sz="2400" dirty="0" smtClean="0"/>
              <a:t>. . . . . . . .. . &lt;	2</a:t>
            </a:r>
          </a:p>
          <a:p>
            <a:pPr>
              <a:buNone/>
            </a:pPr>
            <a:r>
              <a:rPr lang="en-US" sz="2400" b="1" dirty="0" smtClean="0"/>
              <a:t>def </a:t>
            </a:r>
            <a:r>
              <a:rPr lang="en-US" sz="2400" dirty="0" smtClean="0"/>
              <a:t>sub3():</a:t>
            </a:r>
          </a:p>
          <a:p>
            <a:pPr>
              <a:buNone/>
            </a:pPr>
            <a:r>
              <a:rPr lang="en-US" sz="2400" b="1" dirty="0" smtClean="0"/>
              <a:t>nonlocal </a:t>
            </a:r>
            <a:r>
              <a:rPr lang="en-US" sz="2400" dirty="0" smtClean="0"/>
              <a:t>c: # Makes nonlocal c visible here g = 11; # Creates a new local</a:t>
            </a:r>
          </a:p>
          <a:p>
            <a:pPr>
              <a:buNone/>
            </a:pPr>
            <a:r>
              <a:rPr lang="en-US" sz="2400" dirty="0" smtClean="0"/>
              <a:t>. . . . . . . . . . . . &lt;	3</a:t>
            </a:r>
          </a:p>
          <a:p>
            <a:pPr>
              <a:buNone/>
            </a:pPr>
            <a:r>
              <a:rPr lang="en-US" sz="2400" dirty="0" smtClean="0"/>
              <a:t> </a:t>
            </a:r>
          </a:p>
          <a:p>
            <a:pPr>
              <a:buNone/>
            </a:pPr>
            <a:endParaRPr lang="en-US" sz="2400" dirty="0" smtClean="0"/>
          </a:p>
          <a:p>
            <a:pPr>
              <a:buNone/>
            </a:pPr>
            <a:endParaRPr lang="en-US" sz="2400" dirty="0" smtClean="0"/>
          </a:p>
          <a:p>
            <a:pPr>
              <a:buNone/>
            </a:pP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a:buNone/>
            </a:pPr>
            <a:r>
              <a:rPr lang="en-US" sz="2400" dirty="0" smtClean="0"/>
              <a:t>The referencing environments of the indicated program points are as follows</a:t>
            </a:r>
          </a:p>
          <a:p>
            <a:pPr>
              <a:buNone/>
            </a:pPr>
            <a:endParaRPr lang="en-US" sz="2400" dirty="0" smtClean="0"/>
          </a:p>
          <a:p>
            <a:pPr>
              <a:buNone/>
            </a:pPr>
            <a:endParaRPr lang="en-US" sz="2400" dirty="0"/>
          </a:p>
        </p:txBody>
      </p:sp>
      <p:pic>
        <p:nvPicPr>
          <p:cNvPr id="4" name="Image 378"/>
          <p:cNvPicPr/>
          <p:nvPr/>
        </p:nvPicPr>
        <p:blipFill>
          <a:blip r:embed="rId2" cstate="print"/>
          <a:stretch>
            <a:fillRect/>
          </a:stretch>
        </p:blipFill>
        <p:spPr>
          <a:xfrm>
            <a:off x="762000" y="1371600"/>
            <a:ext cx="6591300" cy="46482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lstStyle/>
          <a:p>
            <a:pPr marL="342900" lvl="1" indent="-342900">
              <a:buNone/>
            </a:pPr>
            <a:r>
              <a:rPr lang="en-US" b="1" dirty="0" smtClean="0"/>
              <a:t>Named Constants</a:t>
            </a:r>
          </a:p>
          <a:p>
            <a:r>
              <a:rPr lang="en-US" sz="2400" dirty="0" smtClean="0"/>
              <a:t>A named constant</a:t>
            </a:r>
            <a:r>
              <a:rPr lang="en-US" sz="2400" b="1" dirty="0" smtClean="0"/>
              <a:t> </a:t>
            </a:r>
            <a:r>
              <a:rPr lang="en-US" sz="2400" dirty="0" smtClean="0"/>
              <a:t>is a variable that is bound to a value only once.</a:t>
            </a:r>
          </a:p>
          <a:p>
            <a:r>
              <a:rPr lang="en-US" sz="2400" dirty="0" smtClean="0"/>
              <a:t>Named constants are useful as aids to readability and program reliability. Readability can be improved, for example, using the name pi instead of the constant 3.14159265.</a:t>
            </a:r>
          </a:p>
          <a:p>
            <a:r>
              <a:rPr lang="en-US" sz="2400" dirty="0" smtClean="0"/>
              <a:t>Another important use of named constants is to parameterize a program. For example, consider a program that processes a fixed number of data values, say 100. Such a program usually uses the constant 100 in a number of locations for declaring array subscript ranges and for loop control limits.</a:t>
            </a:r>
          </a:p>
          <a:p>
            <a:r>
              <a:rPr lang="en-US" sz="2400" dirty="0" smtClean="0"/>
              <a:t>Consider the following skeletal Java program segment:</a:t>
            </a:r>
          </a:p>
          <a:p>
            <a:endParaRPr lang="en-US" sz="2400" dirty="0" smtClean="0"/>
          </a:p>
          <a:p>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fontScale="85000" lnSpcReduction="20000"/>
          </a:bodyPr>
          <a:lstStyle/>
          <a:p>
            <a:r>
              <a:rPr lang="en-US" b="1" dirty="0" smtClean="0"/>
              <a:t>void </a:t>
            </a:r>
            <a:r>
              <a:rPr lang="en-US" dirty="0" smtClean="0"/>
              <a:t>example() {</a:t>
            </a:r>
          </a:p>
          <a:p>
            <a:r>
              <a:rPr lang="en-US" b="1" dirty="0" err="1" smtClean="0"/>
              <a:t>int</a:t>
            </a:r>
            <a:r>
              <a:rPr lang="en-US" dirty="0" smtClean="0"/>
              <a:t>[] </a:t>
            </a:r>
            <a:r>
              <a:rPr lang="en-US" b="1" dirty="0" err="1" smtClean="0"/>
              <a:t>intList</a:t>
            </a:r>
            <a:r>
              <a:rPr lang="en-US" b="1" dirty="0" smtClean="0"/>
              <a:t> = new </a:t>
            </a:r>
            <a:r>
              <a:rPr lang="en-US" b="1" dirty="0" err="1" smtClean="0"/>
              <a:t>int</a:t>
            </a:r>
            <a:r>
              <a:rPr lang="en-US" dirty="0" smtClean="0"/>
              <a:t>[100]; String[] </a:t>
            </a:r>
            <a:r>
              <a:rPr lang="en-US" dirty="0" err="1" smtClean="0"/>
              <a:t>strList</a:t>
            </a:r>
            <a:r>
              <a:rPr lang="en-US" dirty="0" smtClean="0"/>
              <a:t> = </a:t>
            </a:r>
            <a:r>
              <a:rPr lang="en-US" b="1" dirty="0" smtClean="0"/>
              <a:t>new </a:t>
            </a:r>
            <a:r>
              <a:rPr lang="en-US" dirty="0" smtClean="0"/>
              <a:t>String[100];</a:t>
            </a:r>
          </a:p>
          <a:p>
            <a:r>
              <a:rPr lang="en-US" dirty="0" smtClean="0"/>
              <a:t>. . .</a:t>
            </a:r>
          </a:p>
          <a:p>
            <a:r>
              <a:rPr lang="en-US" b="1" dirty="0" smtClean="0"/>
              <a:t>for </a:t>
            </a:r>
            <a:r>
              <a:rPr lang="en-US" dirty="0" smtClean="0"/>
              <a:t>(index = 0; index &lt; 100; index++) {</a:t>
            </a:r>
          </a:p>
          <a:p>
            <a:r>
              <a:rPr lang="en-US" dirty="0" smtClean="0"/>
              <a:t>. . .</a:t>
            </a:r>
          </a:p>
          <a:p>
            <a:r>
              <a:rPr lang="en-US" dirty="0" smtClean="0"/>
              <a:t>}</a:t>
            </a:r>
          </a:p>
          <a:p>
            <a:r>
              <a:rPr lang="en-US" dirty="0" smtClean="0"/>
              <a:t>. . .</a:t>
            </a:r>
          </a:p>
          <a:p>
            <a:r>
              <a:rPr lang="en-US" b="1" dirty="0" smtClean="0"/>
              <a:t>for </a:t>
            </a:r>
            <a:r>
              <a:rPr lang="en-US" dirty="0" smtClean="0"/>
              <a:t>(index = 0; index &lt; 100; index++) {</a:t>
            </a:r>
          </a:p>
          <a:p>
            <a:r>
              <a:rPr lang="en-US" dirty="0" smtClean="0"/>
              <a:t>. . .</a:t>
            </a:r>
          </a:p>
          <a:p>
            <a:r>
              <a:rPr lang="en-US" dirty="0" smtClean="0"/>
              <a:t>}</a:t>
            </a:r>
          </a:p>
          <a:p>
            <a:r>
              <a:rPr lang="en-US" dirty="0" smtClean="0"/>
              <a:t>. . .</a:t>
            </a:r>
          </a:p>
          <a:p>
            <a:r>
              <a:rPr lang="en-US" dirty="0" smtClean="0"/>
              <a:t>average = sum / 100;</a:t>
            </a:r>
          </a:p>
          <a:p>
            <a:r>
              <a:rPr lang="en-US" dirty="0" smtClean="0"/>
              <a:t>. . .</a:t>
            </a:r>
          </a:p>
          <a:p>
            <a:r>
              <a:rPr lang="en-US" dirty="0" smtClean="0"/>
              <a: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lstStyle/>
          <a:p>
            <a:pPr lvl="0">
              <a:buNone/>
            </a:pPr>
            <a:r>
              <a:rPr lang="en-US" b="1" dirty="0" smtClean="0"/>
              <a:t>                                 Data Types</a:t>
            </a:r>
          </a:p>
          <a:p>
            <a:r>
              <a:rPr lang="en-US" sz="2400" dirty="0" smtClean="0"/>
              <a:t>A data type</a:t>
            </a:r>
            <a:r>
              <a:rPr lang="en-US" sz="2400" b="1" dirty="0" smtClean="0"/>
              <a:t> </a:t>
            </a:r>
            <a:r>
              <a:rPr lang="en-US" sz="2400" dirty="0" smtClean="0"/>
              <a:t>defines a collection of data values and a set of predefined operations on those values.</a:t>
            </a:r>
          </a:p>
          <a:p>
            <a:r>
              <a:rPr lang="en-US" sz="2400" dirty="0" smtClean="0"/>
              <a:t>There are a number of uses of the type system of a programming language. The most practical of these is error detection. The process and value of type checking, which is directed by the type system of the language.</a:t>
            </a:r>
          </a:p>
          <a:p>
            <a:r>
              <a:rPr lang="en-US" sz="2400" dirty="0" smtClean="0"/>
              <a:t>A second use of a type system is the assistance it provides for program modularization. This results from the cross-module type checking that ensures the consistency of the interfaces among modules. </a:t>
            </a:r>
          </a:p>
          <a:p>
            <a:r>
              <a:rPr lang="en-US" sz="2400" dirty="0" smtClean="0"/>
              <a:t>Another use of a type system is documentation. The type declarations in a program document information about its data</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The two most common structured data types in the imperative languages are </a:t>
            </a:r>
            <a:r>
              <a:rPr lang="en-US" sz="2400" b="1" dirty="0" smtClean="0"/>
              <a:t>arrays and records</a:t>
            </a:r>
            <a:r>
              <a:rPr lang="en-US" sz="2400" dirty="0" smtClean="0"/>
              <a:t>, although the popularity of associative arrays has increased significantly in recent years.</a:t>
            </a:r>
          </a:p>
          <a:p>
            <a:r>
              <a:rPr lang="en-US" sz="2400" b="1" dirty="0" smtClean="0"/>
              <a:t>Lists </a:t>
            </a:r>
            <a:r>
              <a:rPr lang="en-US" sz="2400" dirty="0" smtClean="0"/>
              <a:t>have been a central part of </a:t>
            </a:r>
            <a:r>
              <a:rPr lang="en-US" sz="2400" b="1" dirty="0" smtClean="0"/>
              <a:t>functional programming languages</a:t>
            </a:r>
            <a:endParaRPr lang="en-US" sz="2400" dirty="0" smtClean="0"/>
          </a:p>
          <a:p>
            <a:r>
              <a:rPr lang="en-US" sz="2400" dirty="0" smtClean="0"/>
              <a:t>Over the last decade, the </a:t>
            </a:r>
            <a:r>
              <a:rPr lang="en-US" sz="2400" b="1" dirty="0" smtClean="0"/>
              <a:t>increasing popularity of functional programming </a:t>
            </a:r>
            <a:r>
              <a:rPr lang="en-US" sz="2400" dirty="0" smtClean="0"/>
              <a:t>has led to lists being added to primarily imperative languages, such as </a:t>
            </a:r>
            <a:r>
              <a:rPr lang="en-US" sz="2400" b="1" dirty="0" smtClean="0"/>
              <a:t>Python and C#</a:t>
            </a:r>
            <a:endParaRPr lang="en-US" sz="2400" dirty="0" smtClean="0"/>
          </a:p>
          <a:p>
            <a:r>
              <a:rPr lang="en-US" sz="2400" dirty="0" smtClean="0"/>
              <a:t>The structured data types are defined with type operators, or constructors, which are used to form type expressions. For example, C uses brackets and asterisks as type operators to specify arrays and pointers.</a:t>
            </a:r>
          </a:p>
          <a:p>
            <a:pPr>
              <a:buNone/>
            </a:pP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19800"/>
          </a:xfrm>
        </p:spPr>
        <p:txBody>
          <a:bodyPr>
            <a:normAutofit/>
          </a:bodyPr>
          <a:lstStyle/>
          <a:p>
            <a:r>
              <a:rPr lang="en-US" sz="2800" dirty="0" smtClean="0"/>
              <a:t>A </a:t>
            </a:r>
            <a:r>
              <a:rPr lang="en-US" sz="2800" b="1" dirty="0" smtClean="0"/>
              <a:t>descriptor </a:t>
            </a:r>
            <a:r>
              <a:rPr lang="en-US" sz="2800" dirty="0" smtClean="0"/>
              <a:t>is the </a:t>
            </a:r>
            <a:r>
              <a:rPr lang="en-US" sz="2800" b="1" dirty="0" smtClean="0"/>
              <a:t>collection of the attributes of a variable</a:t>
            </a:r>
          </a:p>
          <a:p>
            <a:r>
              <a:rPr lang="en-US" sz="2800" dirty="0" smtClean="0"/>
              <a:t>In an implementation, a descriptor is an area of memory that stores the attributes of a variable. </a:t>
            </a:r>
          </a:p>
          <a:p>
            <a:r>
              <a:rPr lang="en-US" sz="2800" dirty="0" smtClean="0"/>
              <a:t>If the attributes are all static, descriptors are required only at compile time.</a:t>
            </a:r>
          </a:p>
          <a:p>
            <a:r>
              <a:rPr lang="en-US" sz="2800" dirty="0" smtClean="0"/>
              <a:t>For dynamic attributes, however, part or all of the descriptor must be maintained during execution.</a:t>
            </a:r>
          </a:p>
          <a:p>
            <a:r>
              <a:rPr lang="en-US" sz="2800" dirty="0" smtClean="0"/>
              <a:t>In all cases, descriptors are used for type checking and building the code for the allocation and </a:t>
            </a:r>
            <a:r>
              <a:rPr lang="en-US" sz="2800" dirty="0" err="1" smtClean="0"/>
              <a:t>deallocation</a:t>
            </a:r>
            <a:r>
              <a:rPr lang="en-US" sz="2800" dirty="0" smtClean="0"/>
              <a:t> operations.</a:t>
            </a:r>
          </a:p>
          <a:p>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The word </a:t>
            </a:r>
            <a:r>
              <a:rPr lang="en-US" sz="2400" b="1" dirty="0" smtClean="0"/>
              <a:t>object </a:t>
            </a:r>
            <a:r>
              <a:rPr lang="en-US" sz="2400" dirty="0" smtClean="0"/>
              <a:t>is often associated with the </a:t>
            </a:r>
            <a:r>
              <a:rPr lang="en-US" sz="2400" b="1" dirty="0" smtClean="0"/>
              <a:t>value of a variable and the space </a:t>
            </a:r>
            <a:r>
              <a:rPr lang="en-US" sz="2400" dirty="0" smtClean="0"/>
              <a:t>it occupies</a:t>
            </a:r>
          </a:p>
          <a:p>
            <a:r>
              <a:rPr lang="en-US" sz="2400" i="1" dirty="0" smtClean="0"/>
              <a:t>object </a:t>
            </a:r>
            <a:r>
              <a:rPr lang="en-US" sz="2400" dirty="0" smtClean="0"/>
              <a:t>exclusively for instances of user-defined and language-defined abstract data types, rather than for the values of all program variables of predefined types.</a:t>
            </a:r>
          </a:p>
          <a:p>
            <a:r>
              <a:rPr lang="en-US" sz="2400" dirty="0" smtClean="0"/>
              <a:t>One design issue is fundamental to all data types: What operations are provided for variables of the type, and how are they specified?</a:t>
            </a:r>
          </a:p>
          <a:p>
            <a:pPr marL="342900" lvl="1" indent="-342900">
              <a:buNone/>
            </a:pPr>
            <a:r>
              <a:rPr lang="en-US" b="1" dirty="0" smtClean="0"/>
              <a:t>Primitive Data Types</a:t>
            </a:r>
          </a:p>
          <a:p>
            <a:r>
              <a:rPr lang="en-US" sz="2400" dirty="0" smtClean="0"/>
              <a:t>Data types that are not defined in terms of other types are called </a:t>
            </a:r>
            <a:r>
              <a:rPr lang="en-US" sz="2400" b="1" dirty="0" smtClean="0"/>
              <a:t>primitive data types</a:t>
            </a:r>
            <a:r>
              <a:rPr lang="en-US" sz="2400" dirty="0" smtClean="0"/>
              <a:t>. </a:t>
            </a:r>
          </a:p>
          <a:p>
            <a:r>
              <a:rPr lang="en-US" sz="2400" dirty="0" smtClean="0"/>
              <a:t> Nearly all programming languages provide a set of primitive data types. Some of the primitive types are merely reflections of the hardware</a:t>
            </a:r>
          </a:p>
          <a:p>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To specify the structured types, the primitive data types of a language are used, along with one or more type constructors.</a:t>
            </a:r>
          </a:p>
          <a:p>
            <a:pPr marL="342900" lvl="1" indent="-342900">
              <a:buNone/>
            </a:pPr>
            <a:r>
              <a:rPr lang="en-US" b="1" dirty="0" smtClean="0"/>
              <a:t>Primitive Data Types</a:t>
            </a:r>
          </a:p>
          <a:p>
            <a:pPr marL="342900" lvl="1" indent="-342900">
              <a:buFont typeface="Arial" pitchFamily="34" charset="0"/>
              <a:buChar char="•"/>
            </a:pPr>
            <a:r>
              <a:rPr lang="en-US" sz="2400" dirty="0" smtClean="0"/>
              <a:t>Data types that are not defined in terms of other type are called </a:t>
            </a:r>
            <a:r>
              <a:rPr lang="en-US" sz="2400" b="1" dirty="0" smtClean="0"/>
              <a:t>primitive data types</a:t>
            </a:r>
          </a:p>
          <a:p>
            <a:r>
              <a:rPr lang="en-US" sz="2400" dirty="0" smtClean="0"/>
              <a:t>Some primitive data types are </a:t>
            </a:r>
            <a:r>
              <a:rPr lang="en-US" sz="2400" b="1" dirty="0" smtClean="0"/>
              <a:t>merely reflections of the hardware</a:t>
            </a:r>
            <a:endParaRPr lang="en-US" sz="2400" dirty="0" smtClean="0"/>
          </a:p>
          <a:p>
            <a:r>
              <a:rPr lang="en-US" sz="2400" dirty="0" smtClean="0"/>
              <a:t>Others require </a:t>
            </a:r>
            <a:r>
              <a:rPr lang="en-US" sz="2400" b="1" dirty="0" smtClean="0"/>
              <a:t>only a little non-hardware support </a:t>
            </a:r>
            <a:r>
              <a:rPr lang="en-US" sz="2400" dirty="0" smtClean="0"/>
              <a:t>for their implementation</a:t>
            </a:r>
          </a:p>
          <a:p>
            <a:r>
              <a:rPr lang="en-US" sz="2400" dirty="0" smtClean="0"/>
              <a:t>Almost all programming languages provide a </a:t>
            </a:r>
            <a:r>
              <a:rPr lang="en-US" sz="2400" b="1" dirty="0" smtClean="0"/>
              <a:t>set of primitive data types</a:t>
            </a:r>
            <a:endParaRPr lang="en-US" sz="2400" dirty="0" smtClean="0"/>
          </a:p>
          <a:p>
            <a:endParaRPr lang="en-US" sz="2400" dirty="0" smtClean="0"/>
          </a:p>
          <a:p>
            <a:pPr marL="342900" lvl="1" indent="-342900">
              <a:buFont typeface="Arial" pitchFamily="34" charset="0"/>
              <a:buChar char="•"/>
            </a:pPr>
            <a:endParaRPr lang="en-US" sz="2400" b="1" dirty="0" smtClean="0"/>
          </a:p>
          <a:p>
            <a:pPr marL="342900" lvl="1" indent="-342900">
              <a:buNone/>
            </a:pPr>
            <a:endParaRPr lang="en-US" sz="2400" b="1" dirty="0" smtClean="0"/>
          </a:p>
          <a:p>
            <a:pPr marL="342900" lvl="1" indent="-342900">
              <a:buNone/>
            </a:pPr>
            <a:endParaRPr lang="en-US" sz="2400" b="1" dirty="0" smtClean="0"/>
          </a:p>
          <a:p>
            <a:endParaRPr lang="en-US" sz="2400" b="1"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943600"/>
          </a:xfrm>
        </p:spPr>
        <p:txBody>
          <a:bodyPr>
            <a:normAutofit/>
          </a:bodyPr>
          <a:lstStyle/>
          <a:p>
            <a:r>
              <a:rPr lang="en-US" sz="2400" b="1" dirty="0" smtClean="0"/>
              <a:t>Integer</a:t>
            </a:r>
          </a:p>
          <a:p>
            <a:r>
              <a:rPr lang="en-US" sz="2400" b="1" dirty="0" smtClean="0"/>
              <a:t> Floating Point </a:t>
            </a:r>
          </a:p>
          <a:p>
            <a:r>
              <a:rPr lang="en-US" sz="2400" b="1" dirty="0" smtClean="0"/>
              <a:t>Complex </a:t>
            </a:r>
          </a:p>
          <a:p>
            <a:r>
              <a:rPr lang="en-US" sz="2400" b="1" dirty="0" smtClean="0"/>
              <a:t>Decimal</a:t>
            </a:r>
          </a:p>
          <a:p>
            <a:r>
              <a:rPr lang="en-US" sz="2400" b="1" dirty="0" smtClean="0"/>
              <a:t> Boolean Types</a:t>
            </a:r>
          </a:p>
          <a:p>
            <a:r>
              <a:rPr lang="en-US" sz="2400" b="1" dirty="0" smtClean="0"/>
              <a:t>Character Types</a:t>
            </a:r>
          </a:p>
          <a:p>
            <a:pPr>
              <a:buNone/>
            </a:pPr>
            <a:r>
              <a:rPr lang="en-US" b="1" dirty="0" smtClean="0"/>
              <a:t>Integer</a:t>
            </a:r>
          </a:p>
          <a:p>
            <a:r>
              <a:rPr lang="en-US" sz="2400" dirty="0" smtClean="0"/>
              <a:t>The most common primitive numeric data type is </a:t>
            </a:r>
            <a:r>
              <a:rPr lang="en-US" sz="2400" b="1" dirty="0" smtClean="0"/>
              <a:t>integer</a:t>
            </a:r>
            <a:r>
              <a:rPr lang="en-US" sz="2400" dirty="0" smtClean="0"/>
              <a:t>. Many computers now support </a:t>
            </a:r>
            <a:r>
              <a:rPr lang="en-US" sz="2400" b="1" dirty="0" smtClean="0"/>
              <a:t>several sizes of integers</a:t>
            </a:r>
            <a:r>
              <a:rPr lang="en-US" sz="2400" dirty="0" smtClean="0"/>
              <a:t>. Example: Java includes four signed integer sizes:</a:t>
            </a:r>
          </a:p>
          <a:p>
            <a:r>
              <a:rPr lang="en-US" sz="2400" b="1" dirty="0" smtClean="0"/>
              <a:t>byte, short, </a:t>
            </a:r>
            <a:r>
              <a:rPr lang="en-US" sz="2400" b="1" dirty="0" err="1" smtClean="0"/>
              <a:t>int</a:t>
            </a:r>
            <a:r>
              <a:rPr lang="en-US" sz="2400" b="1" dirty="0" smtClean="0"/>
              <a:t>, and long</a:t>
            </a:r>
          </a:p>
          <a:p>
            <a:r>
              <a:rPr lang="en-US" sz="2400" dirty="0" smtClean="0"/>
              <a:t>Example, C++ and C#, include </a:t>
            </a:r>
            <a:r>
              <a:rPr lang="en-US" sz="2400" b="1" dirty="0" smtClean="0"/>
              <a:t>unsigned integer types</a:t>
            </a:r>
            <a:r>
              <a:rPr lang="en-US" sz="2400" dirty="0" smtClean="0"/>
              <a:t>, which are simply types for integer values without signs</a:t>
            </a:r>
          </a:p>
          <a:p>
            <a:endParaRPr lang="en-US" dirty="0" smtClean="0"/>
          </a:p>
          <a:p>
            <a:pPr>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2.jpeg"/>
          <p:cNvPicPr>
            <a:picLocks noGrp="1"/>
          </p:cNvPicPr>
          <p:nvPr>
            <p:ph idx="1"/>
          </p:nvPr>
        </p:nvPicPr>
        <p:blipFill>
          <a:blip r:embed="rId2" cstate="print"/>
          <a:stretch>
            <a:fillRect/>
          </a:stretch>
        </p:blipFill>
        <p:spPr>
          <a:xfrm>
            <a:off x="457200" y="685800"/>
            <a:ext cx="8229600" cy="5105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900" dirty="0" smtClean="0"/>
              <a:t>.</a:t>
            </a:r>
            <a:endParaRPr lang="en-US" sz="900" dirty="0"/>
          </a:p>
        </p:txBody>
      </p:sp>
      <p:sp>
        <p:nvSpPr>
          <p:cNvPr id="3" name="Content Placeholder 2"/>
          <p:cNvSpPr>
            <a:spLocks noGrp="1"/>
          </p:cNvSpPr>
          <p:nvPr>
            <p:ph idx="1"/>
          </p:nvPr>
        </p:nvSpPr>
        <p:spPr>
          <a:xfrm>
            <a:off x="457200" y="304800"/>
            <a:ext cx="8229600" cy="6096000"/>
          </a:xfrm>
        </p:spPr>
        <p:txBody>
          <a:bodyPr>
            <a:normAutofit lnSpcReduction="10000"/>
          </a:bodyPr>
          <a:lstStyle/>
          <a:p>
            <a:pPr>
              <a:buNone/>
            </a:pPr>
            <a:r>
              <a:rPr lang="en-US" dirty="0" smtClean="0"/>
              <a:t> </a:t>
            </a:r>
            <a:r>
              <a:rPr lang="en-US" b="1" dirty="0" smtClean="0"/>
              <a:t>Floating Point</a:t>
            </a:r>
          </a:p>
          <a:p>
            <a:r>
              <a:rPr lang="en-US" sz="2400" dirty="0" smtClean="0"/>
              <a:t>Languages for </a:t>
            </a:r>
            <a:r>
              <a:rPr lang="en-US" sz="2400" b="1" dirty="0" smtClean="0"/>
              <a:t>scientific use </a:t>
            </a:r>
            <a:r>
              <a:rPr lang="en-US" sz="2400" dirty="0" smtClean="0"/>
              <a:t>support at least two floating-point types (e.g., float and double)</a:t>
            </a:r>
          </a:p>
          <a:p>
            <a:r>
              <a:rPr lang="en-US" sz="2400" dirty="0" smtClean="0"/>
              <a:t>Newer Machine Uses </a:t>
            </a:r>
            <a:r>
              <a:rPr lang="en-US" sz="2400" b="1" dirty="0" smtClean="0"/>
              <a:t>IEEE Floating-Point Standard 754</a:t>
            </a:r>
            <a:endParaRPr lang="en-US" sz="2400" dirty="0" smtClean="0"/>
          </a:p>
          <a:p>
            <a:r>
              <a:rPr lang="en-US" sz="2400" dirty="0" smtClean="0"/>
              <a:t>The </a:t>
            </a:r>
            <a:r>
              <a:rPr lang="en-US" sz="2400" b="1" dirty="0" smtClean="0"/>
              <a:t>float type </a:t>
            </a:r>
            <a:r>
              <a:rPr lang="en-US" sz="2400" dirty="0" smtClean="0"/>
              <a:t>is the standard size, usually being stored in four bytes of memory.</a:t>
            </a:r>
          </a:p>
          <a:p>
            <a:r>
              <a:rPr lang="en-US" sz="2400" dirty="0" smtClean="0"/>
              <a:t>The </a:t>
            </a:r>
            <a:r>
              <a:rPr lang="en-US" sz="2400" b="1" dirty="0" smtClean="0"/>
              <a:t>double type </a:t>
            </a:r>
            <a:r>
              <a:rPr lang="en-US" sz="2400" dirty="0" smtClean="0"/>
              <a:t>is provided for situations where larger fractional parts and/or a larger range of exponents is needed </a:t>
            </a:r>
          </a:p>
          <a:p>
            <a:r>
              <a:rPr lang="en-US" sz="2400" dirty="0" smtClean="0"/>
              <a:t>The </a:t>
            </a:r>
            <a:r>
              <a:rPr lang="en-US" sz="2400" b="1" dirty="0" smtClean="0"/>
              <a:t>collection of values </a:t>
            </a:r>
            <a:r>
              <a:rPr lang="en-US" sz="2400" dirty="0" smtClean="0"/>
              <a:t>that can be represented by a floating-point type is defined in terms of precision and range.</a:t>
            </a:r>
          </a:p>
          <a:p>
            <a:r>
              <a:rPr lang="en-US" sz="2400" b="1" dirty="0" smtClean="0"/>
              <a:t>Precision </a:t>
            </a:r>
            <a:r>
              <a:rPr lang="en-US" sz="2400" dirty="0" smtClean="0"/>
              <a:t>is the accuracy of the </a:t>
            </a:r>
            <a:r>
              <a:rPr lang="en-US" sz="2400" b="1" dirty="0" smtClean="0"/>
              <a:t>fractional part of a value</a:t>
            </a:r>
            <a:r>
              <a:rPr lang="en-US" sz="2400" dirty="0" smtClean="0"/>
              <a:t>, measured as the number of bits.</a:t>
            </a:r>
          </a:p>
          <a:p>
            <a:r>
              <a:rPr lang="en-US" sz="2600" b="1" dirty="0" smtClean="0"/>
              <a:t>Range </a:t>
            </a:r>
            <a:r>
              <a:rPr lang="en-US" sz="2600" dirty="0" smtClean="0"/>
              <a:t>is a combination of the </a:t>
            </a:r>
            <a:r>
              <a:rPr lang="en-US" sz="2600" b="1" dirty="0" smtClean="0"/>
              <a:t>range of fractions </a:t>
            </a:r>
            <a:r>
              <a:rPr lang="en-US" sz="2600" dirty="0" smtClean="0"/>
              <a:t>and, more important, the range of exponents</a:t>
            </a:r>
          </a:p>
          <a:p>
            <a:r>
              <a:rPr lang="en-US" sz="2600" dirty="0" smtClean="0"/>
              <a:t>0.1 in decimal is 0.0001100110011 in binary</a:t>
            </a:r>
            <a:endParaRPr lang="en-US" sz="2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3.jpeg"/>
          <p:cNvPicPr>
            <a:picLocks noGrp="1"/>
          </p:cNvPicPr>
          <p:nvPr>
            <p:ph idx="1"/>
          </p:nvPr>
        </p:nvPicPr>
        <p:blipFill>
          <a:blip r:embed="rId2" cstate="print"/>
          <a:stretch>
            <a:fillRect/>
          </a:stretch>
        </p:blipFill>
        <p:spPr>
          <a:xfrm>
            <a:off x="381000" y="750794"/>
            <a:ext cx="8229600" cy="520401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lstStyle/>
          <a:p>
            <a:pPr>
              <a:buNone/>
            </a:pPr>
            <a:r>
              <a:rPr lang="en-US" b="1" dirty="0" smtClean="0"/>
              <a:t>complex type</a:t>
            </a:r>
          </a:p>
          <a:p>
            <a:r>
              <a:rPr lang="en-US" dirty="0" smtClean="0"/>
              <a:t>Some languages support a </a:t>
            </a:r>
            <a:r>
              <a:rPr lang="en-US" b="1" dirty="0" smtClean="0"/>
              <a:t>complex type</a:t>
            </a:r>
            <a:r>
              <a:rPr lang="en-US" dirty="0" smtClean="0"/>
              <a:t>, e.g., Fortran and Python</a:t>
            </a:r>
          </a:p>
          <a:p>
            <a:r>
              <a:rPr lang="en-US" dirty="0" smtClean="0"/>
              <a:t>Each value consists of </a:t>
            </a:r>
            <a:r>
              <a:rPr lang="en-US" b="1" dirty="0" smtClean="0"/>
              <a:t>two floats</a:t>
            </a:r>
            <a:r>
              <a:rPr lang="en-US" dirty="0" smtClean="0"/>
              <a:t>, the </a:t>
            </a:r>
            <a:r>
              <a:rPr lang="en-US" b="1" dirty="0" smtClean="0"/>
              <a:t>real part </a:t>
            </a:r>
            <a:r>
              <a:rPr lang="en-US" dirty="0" smtClean="0"/>
              <a:t>and the</a:t>
            </a:r>
          </a:p>
          <a:p>
            <a:r>
              <a:rPr lang="en-US" b="1" dirty="0" smtClean="0"/>
              <a:t>imaginary part</a:t>
            </a:r>
            <a:endParaRPr lang="en-US" dirty="0" smtClean="0"/>
          </a:p>
          <a:p>
            <a:r>
              <a:rPr lang="en-US" dirty="0" smtClean="0"/>
              <a:t>Literal form (in Python): (</a:t>
            </a:r>
            <a:r>
              <a:rPr lang="en-US" b="1" dirty="0" smtClean="0"/>
              <a:t>7 + 3j</a:t>
            </a:r>
            <a:r>
              <a:rPr lang="en-US" dirty="0" smtClean="0"/>
              <a:t>),</a:t>
            </a:r>
          </a:p>
          <a:p>
            <a:r>
              <a:rPr lang="en-US" dirty="0" smtClean="0"/>
              <a:t>where 7 is the real part and 3 is the imaginary part</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lstStyle/>
          <a:p>
            <a:pPr>
              <a:buNone/>
            </a:pPr>
            <a:r>
              <a:rPr lang="en-US" dirty="0" smtClean="0"/>
              <a:t>Decimal type</a:t>
            </a:r>
          </a:p>
          <a:p>
            <a:r>
              <a:rPr lang="en-US" sz="2800" dirty="0" smtClean="0"/>
              <a:t>For business applications (money) Essential to COBOL</a:t>
            </a:r>
          </a:p>
          <a:p>
            <a:r>
              <a:rPr lang="en-US" sz="2800" dirty="0" smtClean="0"/>
              <a:t>Decimal types are </a:t>
            </a:r>
            <a:r>
              <a:rPr lang="en-US" sz="2800" b="1" dirty="0" smtClean="0"/>
              <a:t>stored very much like character strings</a:t>
            </a:r>
            <a:r>
              <a:rPr lang="en-US" sz="2800" dirty="0" smtClean="0"/>
              <a:t>, using binary codes for the decimal digits.</a:t>
            </a:r>
          </a:p>
          <a:p>
            <a:r>
              <a:rPr lang="en-US" sz="2800" dirty="0" smtClean="0"/>
              <a:t>These representations are called </a:t>
            </a:r>
            <a:r>
              <a:rPr lang="en-US" sz="2800" b="1" dirty="0" smtClean="0"/>
              <a:t>Binary Coded Decimal </a:t>
            </a:r>
            <a:r>
              <a:rPr lang="en-US" sz="2800" dirty="0" smtClean="0"/>
              <a:t>(BCD) Advantage: accuracy</a:t>
            </a:r>
          </a:p>
          <a:p>
            <a:r>
              <a:rPr lang="en-US" sz="2800" dirty="0" smtClean="0"/>
              <a:t>Disadvantages: limited range, wastes memory</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lstStyle/>
          <a:p>
            <a:r>
              <a:rPr lang="en-US" dirty="0" smtClean="0"/>
              <a:t>Boolean</a:t>
            </a:r>
          </a:p>
          <a:p>
            <a:r>
              <a:rPr lang="en-US" b="1" dirty="0" smtClean="0"/>
              <a:t>Simplest of all</a:t>
            </a:r>
          </a:p>
          <a:p>
            <a:r>
              <a:rPr lang="en-US" dirty="0" smtClean="0"/>
              <a:t>Range of values: two elements, one for </a:t>
            </a:r>
            <a:r>
              <a:rPr lang="en-US" b="1" dirty="0" smtClean="0"/>
              <a:t>true </a:t>
            </a:r>
            <a:r>
              <a:rPr lang="en-US" dirty="0" smtClean="0"/>
              <a:t>and one for </a:t>
            </a:r>
            <a:r>
              <a:rPr lang="en-US" b="1" dirty="0" smtClean="0"/>
              <a:t>false</a:t>
            </a:r>
            <a:endParaRPr lang="en-US" dirty="0" smtClean="0"/>
          </a:p>
          <a:p>
            <a:r>
              <a:rPr lang="en-US" dirty="0" smtClean="0"/>
              <a:t>Could be </a:t>
            </a:r>
            <a:r>
              <a:rPr lang="en-US" b="1" dirty="0" smtClean="0"/>
              <a:t>implemented as bits</a:t>
            </a:r>
            <a:r>
              <a:rPr lang="en-US" dirty="0" smtClean="0"/>
              <a:t>, but often as bytes</a:t>
            </a:r>
          </a:p>
          <a:p>
            <a:r>
              <a:rPr lang="en-US" dirty="0" smtClean="0"/>
              <a:t>Boolean types are often used to represent </a:t>
            </a:r>
            <a:r>
              <a:rPr lang="en-US" b="1" dirty="0" smtClean="0"/>
              <a:t>switches or flags in programs.</a:t>
            </a:r>
            <a:endParaRPr lang="en-US" dirty="0" smtClean="0"/>
          </a:p>
          <a:p>
            <a:r>
              <a:rPr lang="en-US" dirty="0" smtClean="0"/>
              <a:t>Advantage: readability</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lstStyle/>
          <a:p>
            <a:r>
              <a:rPr lang="en-US" dirty="0" smtClean="0"/>
              <a:t>Character</a:t>
            </a:r>
          </a:p>
          <a:p>
            <a:r>
              <a:rPr lang="en-US" dirty="0" smtClean="0"/>
              <a:t>Stored as </a:t>
            </a:r>
            <a:r>
              <a:rPr lang="en-US" b="1" dirty="0" smtClean="0"/>
              <a:t>numeric </a:t>
            </a:r>
            <a:r>
              <a:rPr lang="en-US" b="1" dirty="0" err="1" smtClean="0"/>
              <a:t>codings</a:t>
            </a:r>
            <a:endParaRPr lang="en-US" dirty="0" smtClean="0"/>
          </a:p>
          <a:p>
            <a:r>
              <a:rPr lang="en-US" dirty="0" smtClean="0"/>
              <a:t>Most commonly used coding: </a:t>
            </a:r>
            <a:r>
              <a:rPr lang="en-US" b="1" dirty="0" smtClean="0"/>
              <a:t>ASCII</a:t>
            </a:r>
            <a:endParaRPr lang="en-US" dirty="0" smtClean="0"/>
          </a:p>
          <a:p>
            <a:r>
              <a:rPr lang="en-US" dirty="0" smtClean="0"/>
              <a:t>An alternative, 16-bit coding: Unicode Includes characters from most natural languages</a:t>
            </a:r>
          </a:p>
          <a:p>
            <a:r>
              <a:rPr lang="en-US" dirty="0" smtClean="0"/>
              <a:t>Originally used in </a:t>
            </a:r>
            <a:r>
              <a:rPr lang="en-US" b="1" dirty="0" smtClean="0"/>
              <a:t>Java</a:t>
            </a:r>
            <a:endParaRPr lang="en-US" dirty="0" smtClean="0"/>
          </a:p>
          <a:p>
            <a:r>
              <a:rPr lang="en-US" b="1" dirty="0" smtClean="0"/>
              <a:t>C# and JavaScript </a:t>
            </a:r>
            <a:r>
              <a:rPr lang="en-US" dirty="0" smtClean="0"/>
              <a:t>also support </a:t>
            </a:r>
            <a:r>
              <a:rPr lang="en-US" b="1" dirty="0" smtClean="0"/>
              <a:t>Unicode</a:t>
            </a:r>
            <a:endParaRPr lang="en-US" dirty="0" smtClean="0"/>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5.jpeg"/>
          <p:cNvPicPr>
            <a:picLocks noGrp="1"/>
          </p:cNvPicPr>
          <p:nvPr>
            <p:ph idx="1"/>
          </p:nvPr>
        </p:nvPicPr>
        <p:blipFill>
          <a:blip r:embed="rId2" cstate="print"/>
          <a:stretch>
            <a:fillRect/>
          </a:stretch>
        </p:blipFill>
        <p:spPr>
          <a:xfrm>
            <a:off x="457200" y="381000"/>
            <a:ext cx="8229600" cy="5791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lstStyle/>
          <a:p>
            <a:r>
              <a:rPr lang="en-US" b="1" dirty="0" smtClean="0"/>
              <a:t>Character String Types</a:t>
            </a:r>
          </a:p>
          <a:p>
            <a:r>
              <a:rPr lang="en-US" sz="2400" dirty="0" smtClean="0"/>
              <a:t>A character string type is </a:t>
            </a:r>
            <a:r>
              <a:rPr lang="en-US" sz="2400" b="1" dirty="0" smtClean="0"/>
              <a:t>one in which the values consist of sequences of characters.</a:t>
            </a:r>
            <a:endParaRPr lang="en-US" sz="2400" dirty="0" smtClean="0"/>
          </a:p>
          <a:p>
            <a:r>
              <a:rPr lang="en-US" sz="2400" dirty="0" smtClean="0"/>
              <a:t>Character string constants are used to </a:t>
            </a:r>
            <a:r>
              <a:rPr lang="en-US" sz="2400" b="1" dirty="0" smtClean="0"/>
              <a:t>label output, and the input and output of all kinds of data </a:t>
            </a:r>
            <a:r>
              <a:rPr lang="en-US" sz="2400" dirty="0" smtClean="0"/>
              <a:t>are often done in terms of strings.</a:t>
            </a:r>
          </a:p>
          <a:p>
            <a:r>
              <a:rPr lang="en-US" sz="2400" b="1" dirty="0" smtClean="0"/>
              <a:t>Character String Types Operations</a:t>
            </a:r>
          </a:p>
          <a:p>
            <a:r>
              <a:rPr lang="en-US" sz="2400" dirty="0" smtClean="0"/>
              <a:t>Typical operations: </a:t>
            </a:r>
          </a:p>
          <a:p>
            <a:r>
              <a:rPr lang="en-US" sz="2400" dirty="0" smtClean="0"/>
              <a:t>Assignment and copying </a:t>
            </a:r>
          </a:p>
          <a:p>
            <a:r>
              <a:rPr lang="en-US" sz="2400" dirty="0" smtClean="0"/>
              <a:t>Comparison (=, &gt;, etc.)</a:t>
            </a:r>
          </a:p>
          <a:p>
            <a:r>
              <a:rPr lang="en-US" sz="2400" dirty="0" smtClean="0"/>
              <a:t> Catenation</a:t>
            </a:r>
          </a:p>
          <a:p>
            <a:r>
              <a:rPr lang="en-US" sz="2400" dirty="0" smtClean="0"/>
              <a:t>Substring reference </a:t>
            </a:r>
          </a:p>
          <a:p>
            <a:r>
              <a:rPr lang="en-US" sz="2400" dirty="0" smtClean="0"/>
              <a:t>Pattern matching</a:t>
            </a:r>
          </a:p>
          <a:p>
            <a:pPr>
              <a:buNone/>
            </a:pPr>
            <a:r>
              <a:rPr lang="en-US" sz="2400" dirty="0" smtClean="0"/>
              <a:t> </a:t>
            </a:r>
          </a:p>
          <a:p>
            <a:endParaRPr lang="en-US" sz="24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533400"/>
            <a:ext cx="8229600" cy="6019800"/>
          </a:xfrm>
        </p:spPr>
        <p:txBody>
          <a:bodyPr>
            <a:normAutofit/>
          </a:bodyPr>
          <a:lstStyle/>
          <a:p>
            <a:r>
              <a:rPr lang="en-US" sz="2400" b="1" dirty="0" smtClean="0"/>
              <a:t>Character String Type in Certain Languages</a:t>
            </a:r>
          </a:p>
          <a:p>
            <a:r>
              <a:rPr lang="en-US" sz="2400" b="1" dirty="0" smtClean="0"/>
              <a:t>C &amp; C++ </a:t>
            </a:r>
            <a:r>
              <a:rPr lang="en-US" sz="2400" dirty="0" smtClean="0"/>
              <a:t>Not primitive, Use char arrays and a library of functions that provide operations</a:t>
            </a:r>
          </a:p>
          <a:p>
            <a:r>
              <a:rPr lang="en-US" sz="2400" b="1" dirty="0" smtClean="0"/>
              <a:t>SNOBOL4 </a:t>
            </a:r>
            <a:r>
              <a:rPr lang="en-US" sz="2400" dirty="0" smtClean="0"/>
              <a:t>(a string manipulation language) Primitive, Many operations, including elaborate pattern matching</a:t>
            </a:r>
          </a:p>
          <a:p>
            <a:r>
              <a:rPr lang="en-US" sz="2400" b="1" dirty="0" smtClean="0"/>
              <a:t>Fortran and Python </a:t>
            </a:r>
            <a:r>
              <a:rPr lang="en-US" sz="2400" dirty="0" smtClean="0"/>
              <a:t>Primitive type with assignment and several operations</a:t>
            </a:r>
          </a:p>
          <a:p>
            <a:r>
              <a:rPr lang="en-US" sz="2400" b="1" dirty="0" smtClean="0"/>
              <a:t>Java </a:t>
            </a:r>
            <a:r>
              <a:rPr lang="en-US" sz="2400" dirty="0" smtClean="0"/>
              <a:t>Primitive via the String class</a:t>
            </a:r>
          </a:p>
          <a:p>
            <a:r>
              <a:rPr lang="en-US" sz="2400" b="1" dirty="0" smtClean="0"/>
              <a:t>Perl, JavaScript, Ruby, and PHP </a:t>
            </a:r>
            <a:r>
              <a:rPr lang="en-US" sz="2400" dirty="0" smtClean="0"/>
              <a:t>Provide built-in pattern matching, using regular expressions</a:t>
            </a:r>
          </a:p>
          <a:p>
            <a:pPr>
              <a:buNone/>
            </a:pP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lstStyle/>
          <a:p>
            <a:pPr>
              <a:buNone/>
            </a:pPr>
            <a:r>
              <a:rPr lang="en-US" b="1" dirty="0" smtClean="0"/>
              <a:t>User-Defined Ordinal Types</a:t>
            </a:r>
          </a:p>
          <a:p>
            <a:r>
              <a:rPr lang="en-US" sz="2800" dirty="0" smtClean="0"/>
              <a:t>An ordinal type is one in which the range of possible values can be easily associated with the set of positive integers. </a:t>
            </a:r>
          </a:p>
          <a:p>
            <a:r>
              <a:rPr lang="en-US" dirty="0" smtClean="0"/>
              <a:t>In Java, for example, the primitive ordinal types are integer, char, and </a:t>
            </a:r>
            <a:r>
              <a:rPr lang="en-US" dirty="0" err="1" smtClean="0"/>
              <a:t>boolean</a:t>
            </a:r>
            <a:r>
              <a:rPr lang="en-US" dirty="0" smtClean="0"/>
              <a:t>. </a:t>
            </a:r>
          </a:p>
          <a:p>
            <a:r>
              <a:rPr lang="en-US" dirty="0" smtClean="0"/>
              <a:t>There are two user-defined ordinal types that have been supported by programming languages: enumeration and </a:t>
            </a:r>
            <a:r>
              <a:rPr lang="en-US" dirty="0" err="1" smtClean="0"/>
              <a:t>subrange</a:t>
            </a:r>
            <a:endParaRPr lang="en-US"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lstStyle/>
          <a:p>
            <a:pPr>
              <a:buNone/>
            </a:pPr>
            <a:r>
              <a:rPr lang="en-US" b="1" dirty="0" smtClean="0"/>
              <a:t>Enumeration Type</a:t>
            </a:r>
          </a:p>
          <a:p>
            <a:r>
              <a:rPr lang="en-US" sz="2800" dirty="0" smtClean="0"/>
              <a:t> An enumeration type is one in which all of the possible values, which are named constants, are provided, or enumerated, in the definition.</a:t>
            </a:r>
          </a:p>
          <a:p>
            <a:r>
              <a:rPr lang="en-US" sz="2800" dirty="0" smtClean="0"/>
              <a:t>Enumeration types provide a way of defining and grouping collections of named constants, which are called enumeration constants. </a:t>
            </a:r>
          </a:p>
          <a:p>
            <a:r>
              <a:rPr lang="en-US" sz="2800" dirty="0" smtClean="0"/>
              <a:t>The definition of a typical enumeration type is shown in the following C# example: </a:t>
            </a:r>
          </a:p>
          <a:p>
            <a:r>
              <a:rPr lang="en-US" sz="2800" dirty="0" err="1" smtClean="0"/>
              <a:t>enum</a:t>
            </a:r>
            <a:r>
              <a:rPr lang="en-US" sz="2800" dirty="0" smtClean="0"/>
              <a:t> days {Mon, Tue, Wed, Thu, Fri, Sat, Sun}; Source:</a:t>
            </a:r>
            <a:endParaRPr 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lstStyle/>
          <a:p>
            <a:pPr>
              <a:buNone/>
            </a:pPr>
            <a:r>
              <a:rPr lang="en-US" b="1" dirty="0" err="1" smtClean="0"/>
              <a:t>Subrange</a:t>
            </a:r>
            <a:r>
              <a:rPr lang="en-US" b="1" dirty="0" smtClean="0"/>
              <a:t> Types </a:t>
            </a:r>
          </a:p>
          <a:p>
            <a:r>
              <a:rPr lang="en-US" sz="2400" dirty="0" smtClean="0"/>
              <a:t>A </a:t>
            </a:r>
            <a:r>
              <a:rPr lang="en-US" sz="2400" dirty="0" err="1" smtClean="0"/>
              <a:t>subrange</a:t>
            </a:r>
            <a:r>
              <a:rPr lang="en-US" sz="2400" dirty="0" smtClean="0"/>
              <a:t> type is a contiguous subsequence of an ordinal type. </a:t>
            </a:r>
          </a:p>
          <a:p>
            <a:r>
              <a:rPr lang="en-US" sz="2400" dirty="0" smtClean="0"/>
              <a:t>For example, 12..14 is a </a:t>
            </a:r>
            <a:r>
              <a:rPr lang="en-US" sz="2400" dirty="0" err="1" smtClean="0"/>
              <a:t>subrange</a:t>
            </a:r>
            <a:r>
              <a:rPr lang="en-US" sz="2400" dirty="0" smtClean="0"/>
              <a:t> of integer type.</a:t>
            </a:r>
          </a:p>
          <a:p>
            <a:r>
              <a:rPr lang="en-US" sz="2400" dirty="0" err="1" smtClean="0"/>
              <a:t>Subrange</a:t>
            </a:r>
            <a:r>
              <a:rPr lang="en-US" sz="2400" dirty="0" smtClean="0"/>
              <a:t> types were introduced by Pascal and are included in </a:t>
            </a:r>
            <a:r>
              <a:rPr lang="en-US" sz="2400" dirty="0" err="1" smtClean="0"/>
              <a:t>Ada</a:t>
            </a:r>
            <a:r>
              <a:rPr lang="en-US" sz="2400" dirty="0" smtClean="0"/>
              <a:t>. </a:t>
            </a:r>
          </a:p>
          <a:p>
            <a:r>
              <a:rPr lang="en-US" sz="2400" dirty="0" smtClean="0"/>
              <a:t>There are no design issues that are specific to </a:t>
            </a:r>
            <a:r>
              <a:rPr lang="en-US" sz="2400" dirty="0" err="1" smtClean="0"/>
              <a:t>subrange</a:t>
            </a:r>
            <a:r>
              <a:rPr lang="en-US" sz="2400" dirty="0" smtClean="0"/>
              <a:t> types</a:t>
            </a:r>
          </a:p>
          <a:p>
            <a:pPr>
              <a:buNone/>
            </a:pPr>
            <a:r>
              <a:rPr lang="en-US" sz="2800" b="1" dirty="0" smtClean="0"/>
              <a:t>Array Types</a:t>
            </a:r>
          </a:p>
          <a:p>
            <a:r>
              <a:rPr lang="en-US" sz="2800" dirty="0" smtClean="0"/>
              <a:t>An array is an aggregate of homogeneous data elements in which an individual element is identified by its position in the aggregate, relative to the first element</a:t>
            </a:r>
            <a:endParaRPr lang="en-US" sz="28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In many languages, such as C, C++, Java, </a:t>
            </a:r>
            <a:r>
              <a:rPr lang="en-US" sz="2400" dirty="0" err="1" smtClean="0"/>
              <a:t>Ada</a:t>
            </a:r>
            <a:r>
              <a:rPr lang="en-US" sz="2400" dirty="0" smtClean="0"/>
              <a:t>, and C#, all of the elements of an array are required to be of the same type.</a:t>
            </a:r>
          </a:p>
          <a:p>
            <a:r>
              <a:rPr lang="en-US" sz="2400" dirty="0" smtClean="0"/>
              <a:t> In these languages, pointers and references are restricted to point to or reference a single type.</a:t>
            </a:r>
          </a:p>
          <a:p>
            <a:pPr>
              <a:buNone/>
            </a:pPr>
            <a:r>
              <a:rPr lang="en-US" sz="2800" b="1" dirty="0" smtClean="0"/>
              <a:t>Array Design Issues </a:t>
            </a:r>
          </a:p>
          <a:p>
            <a:r>
              <a:rPr lang="en-US" sz="2400" dirty="0" smtClean="0"/>
              <a:t>What types are legal for subscripts?</a:t>
            </a:r>
          </a:p>
          <a:p>
            <a:r>
              <a:rPr lang="en-US" sz="2400" dirty="0" smtClean="0"/>
              <a:t> Are subscripting expressions in element references range checked?</a:t>
            </a:r>
          </a:p>
          <a:p>
            <a:r>
              <a:rPr lang="en-US" sz="2400" dirty="0" smtClean="0"/>
              <a:t> When are subscript ranges bound? </a:t>
            </a:r>
          </a:p>
          <a:p>
            <a:r>
              <a:rPr lang="en-US" sz="2400" dirty="0" smtClean="0"/>
              <a:t>When does allocation take place? </a:t>
            </a:r>
          </a:p>
          <a:p>
            <a:r>
              <a:rPr lang="en-US" sz="2400" dirty="0" smtClean="0"/>
              <a:t>What is the maximum number of subscripts?</a:t>
            </a:r>
          </a:p>
          <a:p>
            <a:r>
              <a:rPr lang="en-US" sz="2400" dirty="0" smtClean="0"/>
              <a:t> Can array objects be initialized? </a:t>
            </a:r>
          </a:p>
          <a:p>
            <a:r>
              <a:rPr lang="en-US" sz="2400" dirty="0" smtClean="0"/>
              <a:t>Are any kind of slices supported</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r>
              <a:rPr lang="en-US" b="1" dirty="0" smtClean="0"/>
              <a:t>Associative Arrays</a:t>
            </a:r>
          </a:p>
          <a:p>
            <a:r>
              <a:rPr lang="en-US" dirty="0" smtClean="0"/>
              <a:t> An associative array is an unordered collection of data elements that are indexed by an equal number of values called keys </a:t>
            </a:r>
          </a:p>
          <a:p>
            <a:r>
              <a:rPr lang="en-US" dirty="0" smtClean="0"/>
              <a:t>User-defined keys must be stored</a:t>
            </a:r>
          </a:p>
          <a:p>
            <a:r>
              <a:rPr lang="en-US" dirty="0" smtClean="0"/>
              <a:t> Design issues:</a:t>
            </a:r>
          </a:p>
          <a:p>
            <a:r>
              <a:rPr lang="en-US" dirty="0" smtClean="0"/>
              <a:t> What is the form of references to elements? </a:t>
            </a:r>
          </a:p>
          <a:p>
            <a:r>
              <a:rPr lang="en-US" dirty="0" smtClean="0"/>
              <a:t>Is the size static or dynamic?</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lstStyle/>
          <a:p>
            <a:pPr>
              <a:buNone/>
            </a:pPr>
            <a:r>
              <a:rPr lang="en-US" b="1" dirty="0" smtClean="0"/>
              <a:t>Record Types </a:t>
            </a:r>
          </a:p>
          <a:p>
            <a:r>
              <a:rPr lang="en-US" dirty="0" smtClean="0"/>
              <a:t>A record is an aggregate of data elements in which the individual elements are identified by names and accessed through offsets from the beginning of the structure.</a:t>
            </a:r>
          </a:p>
          <a:p>
            <a:r>
              <a:rPr lang="en-US" dirty="0" smtClean="0"/>
              <a:t> Design issues: </a:t>
            </a:r>
          </a:p>
          <a:p>
            <a:r>
              <a:rPr lang="en-US" dirty="0" smtClean="0"/>
              <a:t>What is the syntactic form of references to the field?</a:t>
            </a:r>
          </a:p>
          <a:p>
            <a:r>
              <a:rPr lang="en-US" dirty="0" smtClean="0"/>
              <a:t> Are elliptical references</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lstStyle/>
          <a:p>
            <a:r>
              <a:rPr lang="en-US" b="1" dirty="0" smtClean="0"/>
              <a:t>Union Types </a:t>
            </a:r>
          </a:p>
          <a:p>
            <a:r>
              <a:rPr lang="en-US" dirty="0" smtClean="0"/>
              <a:t>A union is a type whose variables are allowed to store different type values at different times during execution</a:t>
            </a:r>
          </a:p>
          <a:p>
            <a:r>
              <a:rPr lang="en-US" dirty="0" smtClean="0"/>
              <a:t>Design issues: </a:t>
            </a:r>
          </a:p>
          <a:p>
            <a:r>
              <a:rPr lang="en-US" dirty="0" smtClean="0"/>
              <a:t>Should type checking be required?</a:t>
            </a:r>
          </a:p>
          <a:p>
            <a:r>
              <a:rPr lang="en-US" dirty="0" smtClean="0"/>
              <a:t> Should unions be embedded in records? </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lstStyle/>
          <a:p>
            <a:pPr>
              <a:buNone/>
            </a:pPr>
            <a:r>
              <a:rPr lang="en-US" b="1" dirty="0" err="1" smtClean="0"/>
              <a:t>Tuple</a:t>
            </a:r>
            <a:r>
              <a:rPr lang="en-US" b="1" dirty="0" smtClean="0"/>
              <a:t> Types</a:t>
            </a:r>
          </a:p>
          <a:p>
            <a:r>
              <a:rPr lang="en-US" sz="2400" dirty="0" smtClean="0"/>
              <a:t> A </a:t>
            </a:r>
            <a:r>
              <a:rPr lang="en-US" sz="2400" dirty="0" err="1" smtClean="0"/>
              <a:t>tuple</a:t>
            </a:r>
            <a:r>
              <a:rPr lang="en-US" sz="2400" dirty="0" smtClean="0"/>
              <a:t> is a data type that is similar to a record, except that the elements are not named. </a:t>
            </a:r>
          </a:p>
          <a:p>
            <a:r>
              <a:rPr lang="en-US" sz="2400" dirty="0" smtClean="0"/>
              <a:t> Python’s </a:t>
            </a:r>
            <a:r>
              <a:rPr lang="en-US" sz="2400" dirty="0" err="1" smtClean="0"/>
              <a:t>tuples</a:t>
            </a:r>
            <a:r>
              <a:rPr lang="en-US" sz="2400" dirty="0" smtClean="0"/>
              <a:t> are closely related to its lists, except that </a:t>
            </a:r>
            <a:r>
              <a:rPr lang="en-US" sz="2400" dirty="0" err="1" smtClean="0"/>
              <a:t>tuples</a:t>
            </a:r>
            <a:r>
              <a:rPr lang="en-US" sz="2400" dirty="0" smtClean="0"/>
              <a:t> are immutable. </a:t>
            </a:r>
          </a:p>
          <a:p>
            <a:r>
              <a:rPr lang="en-US" sz="2400" dirty="0" smtClean="0"/>
              <a:t> A </a:t>
            </a:r>
            <a:r>
              <a:rPr lang="en-US" sz="2400" dirty="0" err="1" smtClean="0"/>
              <a:t>tuple</a:t>
            </a:r>
            <a:r>
              <a:rPr lang="en-US" sz="2400" dirty="0" smtClean="0"/>
              <a:t> is created by assigning a </a:t>
            </a:r>
            <a:r>
              <a:rPr lang="en-US" sz="2400" dirty="0" err="1" smtClean="0"/>
              <a:t>tuple</a:t>
            </a:r>
            <a:r>
              <a:rPr lang="en-US" sz="2400" dirty="0" smtClean="0"/>
              <a:t> literal.</a:t>
            </a:r>
          </a:p>
          <a:p>
            <a:r>
              <a:rPr lang="en-US" sz="2400" dirty="0" smtClean="0"/>
              <a:t> Example: </a:t>
            </a:r>
            <a:r>
              <a:rPr lang="en-US" sz="2400" dirty="0" err="1" smtClean="0"/>
              <a:t>myTuple</a:t>
            </a:r>
            <a:r>
              <a:rPr lang="en-US" sz="2400" dirty="0" smtClean="0"/>
              <a:t> = (3, 5.8, ‘apple’)</a:t>
            </a:r>
          </a:p>
          <a:p>
            <a:r>
              <a:rPr lang="en-US" sz="2400" dirty="0" smtClean="0"/>
              <a:t>The elements of a </a:t>
            </a:r>
            <a:r>
              <a:rPr lang="en-US" sz="2400" dirty="0" err="1" smtClean="0"/>
              <a:t>tuple</a:t>
            </a:r>
            <a:r>
              <a:rPr lang="en-US" sz="2400" dirty="0" smtClean="0"/>
              <a:t> need not be of the same type </a:t>
            </a:r>
          </a:p>
          <a:p>
            <a:r>
              <a:rPr lang="en-US" sz="2400" dirty="0" smtClean="0"/>
              <a:t> The elements of a </a:t>
            </a:r>
            <a:r>
              <a:rPr lang="en-US" sz="2400" dirty="0" err="1" smtClean="0"/>
              <a:t>tuple</a:t>
            </a:r>
            <a:r>
              <a:rPr lang="en-US" sz="2400" dirty="0" smtClean="0"/>
              <a:t> can be referenced with indexing in brackets</a:t>
            </a:r>
          </a:p>
          <a:p>
            <a:r>
              <a:rPr lang="en-US" sz="2400" dirty="0" smtClean="0"/>
              <a:t> Example: </a:t>
            </a:r>
            <a:r>
              <a:rPr lang="en-US" sz="2400" dirty="0" err="1" smtClean="0"/>
              <a:t>myTuple</a:t>
            </a:r>
            <a:r>
              <a:rPr lang="en-US" sz="2400" dirty="0" smtClean="0"/>
              <a:t>[1] </a:t>
            </a:r>
          </a:p>
          <a:p>
            <a:r>
              <a:rPr lang="en-US" sz="2400" dirty="0" smtClean="0"/>
              <a:t> This references the first element of the </a:t>
            </a:r>
            <a:r>
              <a:rPr lang="en-US" sz="2400" dirty="0" err="1" smtClean="0"/>
              <a:t>tuple</a:t>
            </a:r>
            <a:r>
              <a:rPr lang="en-US" sz="2400" dirty="0" smtClean="0"/>
              <a:t>, because </a:t>
            </a:r>
            <a:r>
              <a:rPr lang="en-US" sz="2400" dirty="0" err="1" smtClean="0"/>
              <a:t>tuple</a:t>
            </a:r>
            <a:r>
              <a:rPr lang="en-US" sz="2400" dirty="0" smtClean="0"/>
              <a:t> indexing begins at 1. </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err="1" smtClean="0"/>
              <a:t>Tuples</a:t>
            </a:r>
            <a:r>
              <a:rPr lang="en-US" sz="2400" dirty="0" smtClean="0"/>
              <a:t> can be </a:t>
            </a:r>
            <a:r>
              <a:rPr lang="en-US" sz="2400" dirty="0" err="1" smtClean="0"/>
              <a:t>catenated</a:t>
            </a:r>
            <a:r>
              <a:rPr lang="en-US" sz="2400" dirty="0" smtClean="0"/>
              <a:t> with the plus (+) operator. </a:t>
            </a:r>
          </a:p>
          <a:p>
            <a:r>
              <a:rPr lang="en-US" sz="2400" dirty="0" smtClean="0"/>
              <a:t> They can be deleted with the del statement </a:t>
            </a:r>
          </a:p>
          <a:p>
            <a:r>
              <a:rPr lang="en-US" sz="2400" dirty="0" smtClean="0"/>
              <a:t> Example: </a:t>
            </a:r>
            <a:r>
              <a:rPr lang="en-US" sz="2400" dirty="0" err="1" smtClean="0"/>
              <a:t>val</a:t>
            </a:r>
            <a:r>
              <a:rPr lang="en-US" sz="2400" dirty="0" smtClean="0"/>
              <a:t> </a:t>
            </a:r>
            <a:r>
              <a:rPr lang="en-US" sz="2400" dirty="0" err="1" smtClean="0"/>
              <a:t>myTuple</a:t>
            </a:r>
            <a:r>
              <a:rPr lang="en-US" sz="2400" dirty="0" smtClean="0"/>
              <a:t> = (3, 5.8, ‘apple’); </a:t>
            </a:r>
          </a:p>
          <a:p>
            <a:r>
              <a:rPr lang="en-US" sz="2400" dirty="0" smtClean="0"/>
              <a:t> The syntax of a </a:t>
            </a:r>
            <a:r>
              <a:rPr lang="en-US" sz="2400" dirty="0" err="1" smtClean="0"/>
              <a:t>tuple</a:t>
            </a:r>
            <a:r>
              <a:rPr lang="en-US" sz="2400" dirty="0" smtClean="0"/>
              <a:t> element access is a follows: </a:t>
            </a:r>
          </a:p>
          <a:p>
            <a:r>
              <a:rPr lang="en-US" sz="2400" dirty="0" smtClean="0"/>
              <a:t> #1 (</a:t>
            </a:r>
            <a:r>
              <a:rPr lang="en-US" sz="2400" dirty="0" err="1" smtClean="0"/>
              <a:t>myTuple</a:t>
            </a:r>
            <a:r>
              <a:rPr lang="en-US" sz="2400" dirty="0" smtClean="0"/>
              <a:t>);  This reference the first element of the </a:t>
            </a:r>
            <a:r>
              <a:rPr lang="en-US" sz="2400" dirty="0" err="1" smtClean="0"/>
              <a:t>tuple</a:t>
            </a:r>
            <a:r>
              <a:rPr lang="en-US" sz="2400" dirty="0" smtClean="0"/>
              <a:t> </a:t>
            </a:r>
          </a:p>
          <a:p>
            <a:r>
              <a:rPr lang="en-US" sz="2400" dirty="0" smtClean="0"/>
              <a:t> Example: let </a:t>
            </a:r>
            <a:r>
              <a:rPr lang="en-US" sz="2400" dirty="0" err="1" smtClean="0"/>
              <a:t>tup</a:t>
            </a:r>
            <a:r>
              <a:rPr lang="en-US" sz="2400" dirty="0" smtClean="0"/>
              <a:t> = (3, 5, 7);; let a, b, c = </a:t>
            </a:r>
            <a:r>
              <a:rPr lang="en-US" sz="2400" dirty="0" err="1" smtClean="0"/>
              <a:t>tup</a:t>
            </a:r>
            <a:r>
              <a:rPr lang="en-US" sz="2400" dirty="0" smtClean="0"/>
              <a:t>;; This assigns 3 to a, 5 to b, and 7 to c</a:t>
            </a:r>
          </a:p>
          <a:p>
            <a:pPr>
              <a:buNone/>
            </a:pPr>
            <a:r>
              <a:rPr lang="en-US" sz="2800" b="1" dirty="0" smtClean="0"/>
              <a:t>List Types</a:t>
            </a:r>
          </a:p>
          <a:p>
            <a:r>
              <a:rPr lang="en-US" sz="2400" dirty="0" smtClean="0"/>
              <a:t>Lists were first supported in the first functional programming language, LISP. </a:t>
            </a:r>
          </a:p>
          <a:p>
            <a:r>
              <a:rPr lang="en-US" sz="2400" dirty="0" smtClean="0"/>
              <a:t>They have always been part of the functional languages, but in recent years they have found their way into some imperative languages. </a:t>
            </a:r>
            <a:endParaRPr lang="en-US" sz="2400"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a:bodyPr>
          <a:lstStyle/>
          <a:p>
            <a:r>
              <a:rPr lang="en-US" sz="2400" dirty="0" smtClean="0"/>
              <a:t>Lists in Scheme and Common LISP are delimited by parentheses and the elements are not separated by any punctuation. </a:t>
            </a:r>
          </a:p>
          <a:p>
            <a:r>
              <a:rPr lang="en-US" sz="2400" dirty="0" smtClean="0"/>
              <a:t>Example List Nested List </a:t>
            </a:r>
          </a:p>
          <a:p>
            <a:pPr>
              <a:buNone/>
            </a:pPr>
            <a:r>
              <a:rPr lang="en-US" sz="2400" dirty="0" smtClean="0"/>
              <a:t>       (A B C D) </a:t>
            </a:r>
          </a:p>
          <a:p>
            <a:pPr>
              <a:buNone/>
            </a:pPr>
            <a:r>
              <a:rPr lang="en-US" sz="2400" dirty="0" smtClean="0"/>
              <a:t>      (A (B C) D) </a:t>
            </a:r>
          </a:p>
          <a:p>
            <a:r>
              <a:rPr lang="en-US" sz="2400" dirty="0" smtClean="0"/>
              <a:t>The fundamental list operations in Scheme are two functions that take lists apart and two that build lists</a:t>
            </a:r>
          </a:p>
          <a:p>
            <a:r>
              <a:rPr lang="en-US" sz="2400" dirty="0" smtClean="0"/>
              <a:t>CAR function returns the first element of its list parameter. </a:t>
            </a:r>
          </a:p>
          <a:p>
            <a:r>
              <a:rPr lang="en-US" sz="2400" dirty="0" smtClean="0"/>
              <a:t>Example (CAR ‘(A B C))</a:t>
            </a:r>
          </a:p>
          <a:p>
            <a:r>
              <a:rPr lang="en-US" sz="2400" dirty="0" smtClean="0"/>
              <a:t> The quote before the parameter list is to prevent the interpreter from considering the list a call to the A function with the parameters B and C, in which case it would interpret it. This call to CAR returns A </a:t>
            </a:r>
          </a:p>
          <a:p>
            <a:r>
              <a:rPr lang="en-US" sz="2400" dirty="0" smtClean="0"/>
              <a:t>Example (CDR ‘(A B C)) </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lnSpcReduction="10000"/>
          </a:bodyPr>
          <a:lstStyle/>
          <a:p>
            <a:r>
              <a:rPr lang="en-US" sz="2400" dirty="0" smtClean="0"/>
              <a:t>The CDR function returns its parameter list minus its first element </a:t>
            </a:r>
          </a:p>
          <a:p>
            <a:r>
              <a:rPr lang="en-US" sz="2400" dirty="0" smtClean="0"/>
              <a:t>The function call returns the list (B C) List Types</a:t>
            </a:r>
          </a:p>
          <a:p>
            <a:r>
              <a:rPr lang="en-US" sz="2400" dirty="0" smtClean="0"/>
              <a:t> Example (CONS ‘A ‘(B C))</a:t>
            </a:r>
          </a:p>
          <a:p>
            <a:r>
              <a:rPr lang="en-US" sz="2400" dirty="0" smtClean="0"/>
              <a:t> This call returns the new list (A B C)</a:t>
            </a:r>
          </a:p>
          <a:p>
            <a:r>
              <a:rPr lang="en-US" sz="2400" dirty="0" smtClean="0"/>
              <a:t> Example (LIST ‘A ‘B ‘(C D))</a:t>
            </a:r>
          </a:p>
          <a:p>
            <a:r>
              <a:rPr lang="en-US" sz="2400" dirty="0" smtClean="0"/>
              <a:t> This call returns the new list (A B (C D)) </a:t>
            </a:r>
          </a:p>
          <a:p>
            <a:r>
              <a:rPr lang="en-US" sz="2400" dirty="0" smtClean="0"/>
              <a:t>Example 3 :: [5, 7, 9]</a:t>
            </a:r>
          </a:p>
          <a:p>
            <a:r>
              <a:rPr lang="en-US" sz="2400" dirty="0" smtClean="0"/>
              <a:t> This returns the new list: [3, 5, 7, 9]</a:t>
            </a:r>
          </a:p>
          <a:p>
            <a:r>
              <a:rPr lang="en-US" sz="2400" dirty="0" smtClean="0"/>
              <a:t> Example [5, 7.3, 9] </a:t>
            </a:r>
          </a:p>
          <a:p>
            <a:r>
              <a:rPr lang="en-US" sz="2400" dirty="0" smtClean="0"/>
              <a:t>The elements of a list must be of the same type, the above list is illegal List Types</a:t>
            </a:r>
          </a:p>
          <a:p>
            <a:r>
              <a:rPr lang="en-US" sz="2400" dirty="0" smtClean="0"/>
              <a:t> Example other functions </a:t>
            </a:r>
            <a:r>
              <a:rPr lang="en-US" sz="2400" dirty="0" err="1" smtClean="0"/>
              <a:t>hd</a:t>
            </a:r>
            <a:r>
              <a:rPr lang="en-US" sz="2400" dirty="0" smtClean="0"/>
              <a:t>(head), </a:t>
            </a:r>
            <a:r>
              <a:rPr lang="en-US" sz="2400" dirty="0" err="1" smtClean="0"/>
              <a:t>tl</a:t>
            </a:r>
            <a:r>
              <a:rPr lang="en-US" sz="2400" dirty="0" smtClean="0"/>
              <a:t>(tail) </a:t>
            </a:r>
            <a:r>
              <a:rPr lang="en-US" sz="2400" dirty="0" err="1" smtClean="0"/>
              <a:t>hd</a:t>
            </a:r>
            <a:r>
              <a:rPr lang="en-US" sz="2400" dirty="0" smtClean="0"/>
              <a:t> [5, 7, 9] is 5 </a:t>
            </a:r>
            <a:r>
              <a:rPr lang="en-US" sz="2400" dirty="0" err="1" smtClean="0"/>
              <a:t>tl</a:t>
            </a:r>
            <a:r>
              <a:rPr lang="en-US" sz="2400" dirty="0" smtClean="0"/>
              <a:t> [5, 7, 9] is [7, 9] </a:t>
            </a:r>
          </a:p>
          <a:p>
            <a:r>
              <a:rPr lang="en-US" sz="2400" dirty="0" smtClean="0"/>
              <a:t>Example </a:t>
            </a:r>
            <a:r>
              <a:rPr lang="en-US" sz="2400" dirty="0" err="1" smtClean="0"/>
              <a:t>myList</a:t>
            </a:r>
            <a:r>
              <a:rPr lang="en-US" sz="2400" dirty="0" smtClean="0"/>
              <a:t> = [3, 5.8, “grape”] x = </a:t>
            </a:r>
            <a:r>
              <a:rPr lang="en-US" sz="2400" dirty="0" err="1" smtClean="0"/>
              <a:t>myList</a:t>
            </a:r>
            <a:r>
              <a:rPr lang="en-US" sz="2400" dirty="0" smtClean="0"/>
              <a:t>[1]</a:t>
            </a:r>
          </a:p>
          <a:p>
            <a:r>
              <a:rPr lang="en-US" sz="2400" dirty="0" smtClean="0"/>
              <a:t> </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lstStyle/>
          <a:p>
            <a:r>
              <a:rPr lang="en-US" dirty="0" smtClean="0"/>
              <a:t>This statement assigns 5.8 to x. The elements of a list are indexed starting at zero.</a:t>
            </a:r>
          </a:p>
          <a:p>
            <a:r>
              <a:rPr lang="en-US" dirty="0" smtClean="0"/>
              <a:t> List elements also can be updated by assignment.</a:t>
            </a:r>
          </a:p>
          <a:p>
            <a:r>
              <a:rPr lang="en-US" dirty="0" smtClean="0"/>
              <a:t> A list element can be deleted with del. </a:t>
            </a:r>
          </a:p>
          <a:p>
            <a:r>
              <a:rPr lang="en-US" dirty="0" smtClean="0"/>
              <a:t>Example del </a:t>
            </a:r>
            <a:r>
              <a:rPr lang="en-US" dirty="0" err="1" smtClean="0"/>
              <a:t>myList</a:t>
            </a:r>
            <a:r>
              <a:rPr lang="en-US" dirty="0" smtClean="0"/>
              <a:t>[1] </a:t>
            </a:r>
          </a:p>
          <a:p>
            <a:r>
              <a:rPr lang="en-US" dirty="0" smtClean="0"/>
              <a:t>This statement removes the second element of </a:t>
            </a:r>
            <a:r>
              <a:rPr lang="en-US" dirty="0" err="1" smtClean="0"/>
              <a:t>myList</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lstStyle/>
          <a:p>
            <a:r>
              <a:rPr lang="en-US" b="1" dirty="0" smtClean="0"/>
              <a:t>Pointer and Reference Types</a:t>
            </a:r>
          </a:p>
          <a:p>
            <a:r>
              <a:rPr lang="en-US" sz="2400" b="1" dirty="0" smtClean="0"/>
              <a:t> </a:t>
            </a:r>
            <a:r>
              <a:rPr lang="en-US" sz="2400" dirty="0" smtClean="0"/>
              <a:t>A pointer type is one in which the variables have a range of values that consists of memory addresses and a special value, nil.</a:t>
            </a:r>
          </a:p>
          <a:p>
            <a:r>
              <a:rPr lang="en-US" sz="2400" dirty="0" smtClean="0"/>
              <a:t> Pointers are designed for two distinct kinds of uses. </a:t>
            </a:r>
          </a:p>
          <a:p>
            <a:r>
              <a:rPr lang="en-US" sz="2400" dirty="0" smtClean="0"/>
              <a:t>First, pointers provide some of the power of indirect addressing, which is frequently used in assembly language programming</a:t>
            </a:r>
            <a:r>
              <a:rPr lang="en-US" dirty="0" smtClean="0"/>
              <a:t>. </a:t>
            </a:r>
          </a:p>
          <a:p>
            <a:r>
              <a:rPr lang="en-US" sz="2400" dirty="0" smtClean="0"/>
              <a:t>Second, pointers provide a way to manage dynamic storage. A pointer can be used to access a location in an area where storage is dynamically allocated called a heap. </a:t>
            </a:r>
          </a:p>
          <a:p>
            <a:r>
              <a:rPr lang="en-US" sz="2400" dirty="0" smtClean="0"/>
              <a:t>They often do not have identifiers associated with them and thus can be referenced only by pointer or reference type variables. Variables without names are called anonymous variables</a:t>
            </a: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fontScale="92500"/>
          </a:bodyPr>
          <a:lstStyle/>
          <a:p>
            <a:r>
              <a:rPr lang="en-US" sz="2400" dirty="0" smtClean="0"/>
              <a:t>Pointers, unlike arrays and records, are not structured types, although they are defined using a type operator (* in C and C++ and access in </a:t>
            </a:r>
            <a:r>
              <a:rPr lang="en-US" sz="2400" dirty="0" err="1" smtClean="0"/>
              <a:t>Ada</a:t>
            </a:r>
            <a:r>
              <a:rPr lang="en-US" sz="2400" dirty="0" smtClean="0"/>
              <a:t>). </a:t>
            </a:r>
          </a:p>
          <a:p>
            <a:r>
              <a:rPr lang="en-US" sz="2400" dirty="0" smtClean="0"/>
              <a:t>Variables that are dynamically allocated from the heap are called heap dynamic variables</a:t>
            </a:r>
          </a:p>
          <a:p>
            <a:r>
              <a:rPr lang="en-US" sz="2400" dirty="0" smtClean="0"/>
              <a:t>Design Issues with Pointers </a:t>
            </a:r>
          </a:p>
          <a:p>
            <a:r>
              <a:rPr lang="en-US" sz="2400" dirty="0" smtClean="0"/>
              <a:t>The primary design issues particular to pointers are the following: </a:t>
            </a:r>
          </a:p>
          <a:p>
            <a:r>
              <a:rPr lang="en-US" sz="2400" dirty="0" smtClean="0"/>
              <a:t> What are the scope and lifetime of a pointer variable? </a:t>
            </a:r>
          </a:p>
          <a:p>
            <a:r>
              <a:rPr lang="en-US" sz="2400" dirty="0" smtClean="0"/>
              <a:t> What is the lifetime of a heap-dynamic variable (the value a pointer references)? </a:t>
            </a:r>
          </a:p>
          <a:p>
            <a:r>
              <a:rPr lang="en-US" sz="2400" dirty="0" smtClean="0"/>
              <a:t> Are pointers restricted as to the type of value to which they can point? </a:t>
            </a:r>
          </a:p>
          <a:p>
            <a:r>
              <a:rPr lang="en-US" sz="2400" dirty="0" smtClean="0"/>
              <a:t>Are pointers used for dynamic storage management, indirect addressing, or both? </a:t>
            </a:r>
          </a:p>
          <a:p>
            <a:r>
              <a:rPr lang="en-US" sz="2400" dirty="0" smtClean="0"/>
              <a:t>Should the language support pointer types, reference types, or both</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lstStyle/>
          <a:p>
            <a:r>
              <a:rPr lang="en-US" b="1" dirty="0" smtClean="0"/>
              <a:t>Reference Type </a:t>
            </a:r>
          </a:p>
          <a:p>
            <a:r>
              <a:rPr lang="en-US" sz="2400" dirty="0" smtClean="0"/>
              <a:t>A reference type variable is similar to a pointer, with one important and fundamental difference: A pointer refers to an address in memory, while a reference refers to an object or a value in memory.</a:t>
            </a:r>
          </a:p>
          <a:p>
            <a:r>
              <a:rPr lang="en-US" sz="2400" dirty="0" smtClean="0"/>
              <a:t> As a result, although it is natural to perform arithmetic on addresses, it is not sensible to do arithmetic on references</a:t>
            </a:r>
          </a:p>
          <a:p>
            <a:pPr>
              <a:buNone/>
            </a:pPr>
            <a:r>
              <a:rPr lang="en-US" sz="2800" b="1" dirty="0" smtClean="0"/>
              <a:t>Type Checking</a:t>
            </a:r>
          </a:p>
          <a:p>
            <a:r>
              <a:rPr lang="en-US" sz="2400" dirty="0" smtClean="0"/>
              <a:t>Type checking is the activity of ensuring that the operands of an operator are of compatible types.</a:t>
            </a:r>
          </a:p>
          <a:p>
            <a:r>
              <a:rPr lang="en-US" sz="2400" dirty="0" smtClean="0"/>
              <a:t>A compatible type is one that either is legal for the operator or is allowed under language rules to be implicitly converted by compiler-generated code (or the interpreter) to a legal type.</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r>
              <a:rPr lang="en-US" sz="2400" dirty="0" smtClean="0"/>
              <a:t>This automatic conversion is called a coercion.</a:t>
            </a:r>
          </a:p>
          <a:p>
            <a:r>
              <a:rPr lang="en-US" sz="2400" dirty="0" smtClean="0"/>
              <a:t> A type error is the application of an operator to an operand of an inappropriate type.</a:t>
            </a:r>
          </a:p>
          <a:p>
            <a:r>
              <a:rPr lang="en-US" sz="2400" dirty="0" smtClean="0"/>
              <a:t> Dynamic type binding requires type checking at run time, which is called dynamic type checking.</a:t>
            </a:r>
          </a:p>
          <a:p>
            <a:r>
              <a:rPr lang="en-US" sz="2400" dirty="0" smtClean="0"/>
              <a:t>If all bindings of variables to types are static in a language, then type checking can nearly always be done statically. </a:t>
            </a:r>
          </a:p>
          <a:p>
            <a:pPr marL="342900" lvl="1" indent="-342900">
              <a:buNone/>
            </a:pPr>
            <a:r>
              <a:rPr lang="en-US" b="1" dirty="0" smtClean="0"/>
              <a:t>Strong Typing</a:t>
            </a:r>
          </a:p>
          <a:p>
            <a:pPr marL="342900" lvl="1" indent="-342900">
              <a:buFont typeface="Arial" pitchFamily="34" charset="0"/>
              <a:buChar char="•"/>
            </a:pPr>
            <a:r>
              <a:rPr lang="en-US" sz="2400" dirty="0" smtClean="0"/>
              <a:t>One of the ideas in language design that became prominent in the so-called structured-programming revolution of the 1970s was strong typing. </a:t>
            </a:r>
          </a:p>
          <a:p>
            <a:pPr marL="342900" lvl="1" indent="-342900">
              <a:buFont typeface="Arial" pitchFamily="34" charset="0"/>
              <a:buChar char="•"/>
            </a:pPr>
            <a:r>
              <a:rPr lang="en-US" sz="2400" dirty="0" smtClean="0"/>
              <a:t>Strong typing is widely acknowledged as being a highly valuable language characteristic</a:t>
            </a:r>
            <a:endParaRPr lang="en-US" sz="2400" b="1" dirty="0" smtClean="0"/>
          </a:p>
          <a:p>
            <a:pPr>
              <a:buNone/>
            </a:pP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fontScale="92500" lnSpcReduction="10000"/>
          </a:bodyPr>
          <a:lstStyle/>
          <a:p>
            <a:r>
              <a:rPr lang="en-US" sz="2400" dirty="0" smtClean="0"/>
              <a:t>A programming language is strongly typed if type errors are always detected. This requires that the types of all operands can be determined, either at compile time or at run time. </a:t>
            </a:r>
          </a:p>
          <a:p>
            <a:r>
              <a:rPr lang="en-US" sz="2400" dirty="0" smtClean="0"/>
              <a:t>The importance of strong typing lies in its ability to detect all misuses of variables that result in type errors.</a:t>
            </a:r>
          </a:p>
          <a:p>
            <a:pPr>
              <a:buNone/>
            </a:pPr>
            <a:r>
              <a:rPr lang="en-US" sz="2800" b="1" dirty="0" smtClean="0"/>
              <a:t>Type Equivalence</a:t>
            </a:r>
          </a:p>
          <a:p>
            <a:r>
              <a:rPr lang="en-US" sz="2400" dirty="0" smtClean="0"/>
              <a:t>The idea of type compatibility was defined when the issue of type checking was introduced.</a:t>
            </a:r>
          </a:p>
          <a:p>
            <a:pPr lvl="0"/>
            <a:r>
              <a:rPr lang="en-US" sz="2400" dirty="0" smtClean="0"/>
              <a:t>: Name type compatibility means the two variables have compatible types if they are in either the same declaration or in declarations that use the same type name</a:t>
            </a:r>
          </a:p>
          <a:p>
            <a:endParaRPr lang="en-US" sz="2400" dirty="0" smtClean="0"/>
          </a:p>
          <a:p>
            <a:r>
              <a:rPr lang="en-US" sz="2400" dirty="0" smtClean="0"/>
              <a:t>The compatibility rules dictate the types of operands that are acceptable for each of the operators and thereby specify the possible type errors of the language. </a:t>
            </a:r>
          </a:p>
          <a:p>
            <a:r>
              <a:rPr lang="en-US" sz="2400" dirty="0" smtClean="0"/>
              <a:t>The rules are called compatibility because in some cases the type of an operand can be implicitly converted by the compiler or run-time system to make it acceptable to the operator</a:t>
            </a:r>
            <a:endParaRPr lang="en-US" sz="24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lstStyle/>
          <a:p>
            <a:r>
              <a:rPr lang="en-US" b="1" dirty="0" smtClean="0"/>
              <a:t>Expressions</a:t>
            </a:r>
          </a:p>
          <a:p>
            <a:r>
              <a:rPr lang="en-US" sz="2400" dirty="0" smtClean="0"/>
              <a:t> Expressions are the fundamental means of specifying computations in a programming language.</a:t>
            </a:r>
          </a:p>
          <a:p>
            <a:r>
              <a:rPr lang="en-US" sz="2400" dirty="0" smtClean="0"/>
              <a:t>It is crucial for a programmer to understand both the syntax and semantics of expressions of the language being used.</a:t>
            </a:r>
          </a:p>
          <a:p>
            <a:r>
              <a:rPr lang="en-US" sz="2400" dirty="0" smtClean="0"/>
              <a:t> To understand expression evaluation, it is necessary to be familiar with the orders of operator and operand evaluation.</a:t>
            </a:r>
          </a:p>
          <a:p>
            <a:r>
              <a:rPr lang="en-US" sz="2400" dirty="0" smtClean="0"/>
              <a:t>The operator evaluation order of expressions is dictated by the </a:t>
            </a:r>
            <a:r>
              <a:rPr lang="en-US" sz="2400" dirty="0" err="1" smtClean="0"/>
              <a:t>associativity</a:t>
            </a:r>
            <a:r>
              <a:rPr lang="en-US" sz="2400" dirty="0" smtClean="0"/>
              <a:t> and precedence rules of the language.</a:t>
            </a:r>
          </a:p>
          <a:p>
            <a:pPr lvl="0"/>
            <a:r>
              <a:rPr lang="en-US" sz="2400" dirty="0" smtClean="0"/>
              <a:t>To understand expression evaluation, need to be familiar with the orders of operator and operand evaluation</a:t>
            </a:r>
          </a:p>
          <a:p>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lstStyle/>
          <a:p>
            <a:pPr marL="342900" lvl="1" indent="-342900">
              <a:buFont typeface="Arial" pitchFamily="34" charset="0"/>
              <a:buChar char="•"/>
            </a:pPr>
            <a:r>
              <a:rPr lang="en-US" b="1" dirty="0" smtClean="0"/>
              <a:t>Arithmetic Expressions</a:t>
            </a:r>
          </a:p>
          <a:p>
            <a:r>
              <a:rPr lang="en-US" sz="2400" dirty="0" smtClean="0"/>
              <a:t>Automatic evaluation of arithmetic expressions similar to those found in mathematics, science, and engineering was one of the primary goals of the first high-level programming languages</a:t>
            </a:r>
          </a:p>
          <a:p>
            <a:r>
              <a:rPr lang="en-US" sz="2400" dirty="0" smtClean="0"/>
              <a:t>In programming languages, arithmetic expressions consist of operators, operands, parentheses, and function calls. </a:t>
            </a:r>
          </a:p>
          <a:p>
            <a:r>
              <a:rPr lang="en-US" sz="2400" dirty="0" smtClean="0"/>
              <a:t>An operator can be unary, meaning it has a single operand, binary, meaning it has two operands, or ternary, meaning it has three operands</a:t>
            </a:r>
          </a:p>
          <a:p>
            <a:r>
              <a:rPr lang="en-US" sz="2400" dirty="0" smtClean="0"/>
              <a:t>Example:  result=</a:t>
            </a:r>
            <a:r>
              <a:rPr lang="en-US" sz="2400" dirty="0" err="1" smtClean="0"/>
              <a:t>a+b</a:t>
            </a:r>
            <a:r>
              <a:rPr lang="en-US" sz="2400" dirty="0" smtClean="0"/>
              <a:t>*c</a:t>
            </a:r>
          </a:p>
          <a:p>
            <a:r>
              <a:rPr lang="en-US" sz="2400" dirty="0" smtClean="0"/>
              <a:t>In this result is variable store the expression value</a:t>
            </a:r>
          </a:p>
          <a:p>
            <a:r>
              <a:rPr lang="en-US" sz="2400" dirty="0" err="1" smtClean="0"/>
              <a:t>a,b,c</a:t>
            </a:r>
            <a:r>
              <a:rPr lang="en-US" sz="2400" dirty="0" smtClean="0"/>
              <a:t> are operand1,operand2 &amp;operand3</a:t>
            </a:r>
          </a:p>
          <a:p>
            <a:r>
              <a:rPr lang="en-US" sz="2400" dirty="0" smtClean="0"/>
              <a:t>+,* are operator1 and operator2</a:t>
            </a:r>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lstStyle/>
          <a:p>
            <a:r>
              <a:rPr lang="en-US" dirty="0" smtClean="0"/>
              <a:t>Primary Design Issues for Arithmetic Expressions </a:t>
            </a:r>
          </a:p>
          <a:p>
            <a:r>
              <a:rPr lang="en-US" dirty="0" smtClean="0"/>
              <a:t> What are the operator precedence rules? </a:t>
            </a:r>
          </a:p>
          <a:p>
            <a:r>
              <a:rPr lang="en-US" dirty="0" smtClean="0"/>
              <a:t> What are the operator </a:t>
            </a:r>
            <a:r>
              <a:rPr lang="en-US" dirty="0" err="1" smtClean="0"/>
              <a:t>associativity</a:t>
            </a:r>
            <a:r>
              <a:rPr lang="en-US" dirty="0" smtClean="0"/>
              <a:t> rules?</a:t>
            </a:r>
          </a:p>
          <a:p>
            <a:r>
              <a:rPr lang="en-US" dirty="0" smtClean="0"/>
              <a:t>What is the order of operand evaluation? </a:t>
            </a:r>
          </a:p>
          <a:p>
            <a:r>
              <a:rPr lang="en-US" dirty="0" smtClean="0"/>
              <a:t> Are there restrictions on operand evaluation side effects? </a:t>
            </a:r>
          </a:p>
          <a:p>
            <a:r>
              <a:rPr lang="en-US" dirty="0" smtClean="0"/>
              <a:t> Does the language allow user-defined operator overloading? </a:t>
            </a:r>
          </a:p>
          <a:p>
            <a:r>
              <a:rPr lang="en-US" dirty="0" smtClean="0"/>
              <a:t> What type mixing is allowed in expressions?</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lstStyle/>
          <a:p>
            <a:r>
              <a:rPr lang="en-US" dirty="0" smtClean="0"/>
              <a:t>Operator Precedence Rules</a:t>
            </a:r>
          </a:p>
          <a:p>
            <a:r>
              <a:rPr lang="en-US" sz="2400" dirty="0" smtClean="0"/>
              <a:t>The </a:t>
            </a:r>
            <a:r>
              <a:rPr lang="en-US" sz="2400" b="1" dirty="0" smtClean="0"/>
              <a:t>value of an expression depends at least in part on the order of evaluation of the operators in the expression.</a:t>
            </a:r>
          </a:p>
          <a:p>
            <a:r>
              <a:rPr lang="en-US" sz="2400" dirty="0" smtClean="0"/>
              <a:t>Consider the following expression:</a:t>
            </a:r>
          </a:p>
          <a:p>
            <a:r>
              <a:rPr lang="en-US" sz="2400" b="1" dirty="0" smtClean="0"/>
              <a:t>a + b * c</a:t>
            </a:r>
          </a:p>
          <a:p>
            <a:r>
              <a:rPr lang="en-US" sz="2400" dirty="0" smtClean="0"/>
              <a:t>Suppose the variables a, b, and c have the values 3, 4, and 5, respectively. If </a:t>
            </a:r>
            <a:r>
              <a:rPr lang="en-US" sz="2400" b="1" dirty="0" smtClean="0"/>
              <a:t>evaluated left to right </a:t>
            </a:r>
            <a:r>
              <a:rPr lang="en-US" sz="2400" dirty="0" smtClean="0"/>
              <a:t>(the addition first and then the multiplication), </a:t>
            </a:r>
            <a:r>
              <a:rPr lang="en-US" sz="2400" b="1" dirty="0" smtClean="0"/>
              <a:t>the result is 35</a:t>
            </a:r>
            <a:r>
              <a:rPr lang="en-US" sz="2400" dirty="0" smtClean="0"/>
              <a:t>.</a:t>
            </a:r>
          </a:p>
          <a:p>
            <a:r>
              <a:rPr lang="en-US" sz="2400" dirty="0" smtClean="0"/>
              <a:t>If </a:t>
            </a:r>
            <a:r>
              <a:rPr lang="en-US" sz="2400" b="1" dirty="0" smtClean="0"/>
              <a:t>evaluated right to left, the result is 23</a:t>
            </a:r>
            <a:r>
              <a:rPr lang="en-US" sz="2400" dirty="0" smtClean="0"/>
              <a:t>.</a:t>
            </a:r>
          </a:p>
          <a:p>
            <a:r>
              <a:rPr lang="en-US" sz="2400" dirty="0" smtClean="0"/>
              <a:t>The </a:t>
            </a:r>
            <a:r>
              <a:rPr lang="en-US" sz="2400" b="1" dirty="0" smtClean="0"/>
              <a:t>operator precedence rules for expression evaluation partially define the order in which the operators of different precedence levels are evaluated</a:t>
            </a:r>
          </a:p>
          <a:p>
            <a:r>
              <a:rPr lang="en-US" sz="2400" dirty="0" smtClean="0"/>
              <a:t>The </a:t>
            </a:r>
            <a:r>
              <a:rPr lang="en-US" sz="2400" b="1" dirty="0" smtClean="0"/>
              <a:t>operator precedence rules </a:t>
            </a:r>
            <a:r>
              <a:rPr lang="en-US" sz="2400" dirty="0" smtClean="0"/>
              <a:t>of the common imperative languages are nearly all the same, because they are based on those of mathematics</a:t>
            </a: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r>
              <a:rPr lang="en-US" sz="2400" dirty="0" smtClean="0"/>
              <a:t>In these languages, </a:t>
            </a:r>
            <a:r>
              <a:rPr lang="en-US" sz="2400" b="1" dirty="0" smtClean="0"/>
              <a:t>exponentiation has the highest precedence </a:t>
            </a:r>
            <a:r>
              <a:rPr lang="en-US" sz="2400" dirty="0" smtClean="0"/>
              <a:t>(when it is provided by the language), followed by </a:t>
            </a:r>
            <a:r>
              <a:rPr lang="en-US" sz="2400" b="1" dirty="0" smtClean="0"/>
              <a:t>multiplication and division on the same level</a:t>
            </a:r>
            <a:r>
              <a:rPr lang="en-US" sz="2400" dirty="0" smtClean="0"/>
              <a:t>, followed by </a:t>
            </a:r>
            <a:r>
              <a:rPr lang="en-US" sz="2400" b="1" dirty="0" smtClean="0"/>
              <a:t>binary addition and subtraction on the same level.</a:t>
            </a:r>
            <a:endParaRPr lang="en-US" sz="2400" dirty="0" smtClean="0"/>
          </a:p>
          <a:p>
            <a:pPr>
              <a:buNone/>
            </a:pPr>
            <a:r>
              <a:rPr lang="en-US" sz="2400" b="1" dirty="0" smtClean="0"/>
              <a:t>Example</a:t>
            </a:r>
            <a:endParaRPr lang="en-US" sz="2400" dirty="0" smtClean="0"/>
          </a:p>
          <a:p>
            <a:r>
              <a:rPr lang="en-US" sz="2400" dirty="0" smtClean="0"/>
              <a:t>In all of the common imperative languages, the unary minus operator can appear in an expression either at the beginning or anywhere inside the expression, as long as it is </a:t>
            </a:r>
            <a:r>
              <a:rPr lang="en-US" sz="2400" b="1" dirty="0" smtClean="0"/>
              <a:t>parenthesized to prevent it from being next to another operator</a:t>
            </a:r>
            <a:r>
              <a:rPr lang="en-US" sz="2400" dirty="0" smtClean="0"/>
              <a:t>.</a:t>
            </a:r>
          </a:p>
          <a:p>
            <a:r>
              <a:rPr lang="en-US" sz="2400" dirty="0" smtClean="0"/>
              <a:t>For example,</a:t>
            </a:r>
          </a:p>
          <a:p>
            <a:r>
              <a:rPr lang="en-US" sz="2400" b="1" dirty="0" smtClean="0"/>
              <a:t>a + (- b) * c is legal,</a:t>
            </a:r>
          </a:p>
          <a:p>
            <a:r>
              <a:rPr lang="en-US" sz="2400" b="1" dirty="0" smtClean="0"/>
              <a:t>but a + - b * c usually is not.</a:t>
            </a:r>
            <a:endParaRPr lang="en-US" sz="2400" dirty="0" smtClean="0"/>
          </a:p>
          <a:p>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8.jpeg"/>
          <p:cNvPicPr>
            <a:picLocks noGrp="1"/>
          </p:cNvPicPr>
          <p:nvPr>
            <p:ph idx="1"/>
          </p:nvPr>
        </p:nvPicPr>
        <p:blipFill>
          <a:blip r:embed="rId2" cstate="print"/>
          <a:stretch>
            <a:fillRect/>
          </a:stretch>
        </p:blipFill>
        <p:spPr>
          <a:xfrm>
            <a:off x="685800" y="609600"/>
            <a:ext cx="7543800" cy="4953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fontScale="92500" lnSpcReduction="10000"/>
          </a:bodyPr>
          <a:lstStyle/>
          <a:p>
            <a:pPr>
              <a:buNone/>
            </a:pPr>
            <a:r>
              <a:rPr lang="en-US" sz="2800" b="1" dirty="0" err="1" smtClean="0"/>
              <a:t>A</a:t>
            </a:r>
            <a:r>
              <a:rPr lang="en-US" sz="2800" b="1" dirty="0" err="1" smtClean="0"/>
              <a:t>ssociativity</a:t>
            </a:r>
            <a:r>
              <a:rPr lang="en-US" sz="2800" b="1" dirty="0" smtClean="0"/>
              <a:t> </a:t>
            </a:r>
          </a:p>
          <a:p>
            <a:r>
              <a:rPr lang="en-US" sz="2400" dirty="0" smtClean="0"/>
              <a:t>The precedence rules say nothing about the </a:t>
            </a:r>
            <a:r>
              <a:rPr lang="en-US" sz="2400" b="1" dirty="0" smtClean="0"/>
              <a:t>order of evaluation of the operators</a:t>
            </a:r>
            <a:endParaRPr lang="en-US" sz="2400" dirty="0" smtClean="0"/>
          </a:p>
          <a:p>
            <a:r>
              <a:rPr lang="en-US" sz="2400" dirty="0" smtClean="0"/>
              <a:t>When an expression contains two adjacent 2 occurrences of operators with the same level of precedence, the question of </a:t>
            </a:r>
            <a:r>
              <a:rPr lang="en-US" sz="2400" b="1" dirty="0" smtClean="0"/>
              <a:t>which operator is evaluated first is answered by the </a:t>
            </a:r>
            <a:r>
              <a:rPr lang="en-US" sz="2400" b="1" dirty="0" err="1" smtClean="0"/>
              <a:t>associativity</a:t>
            </a:r>
            <a:r>
              <a:rPr lang="en-US" sz="2400" b="1" dirty="0" smtClean="0"/>
              <a:t> rules of the language</a:t>
            </a:r>
            <a:r>
              <a:rPr lang="en-US" sz="2400" dirty="0" smtClean="0"/>
              <a:t>.</a:t>
            </a:r>
          </a:p>
          <a:p>
            <a:r>
              <a:rPr lang="en-US" sz="2400" b="1" dirty="0" smtClean="0"/>
              <a:t>An operator can have either left or right </a:t>
            </a:r>
            <a:r>
              <a:rPr lang="en-US" sz="2400" b="1" dirty="0" err="1" smtClean="0"/>
              <a:t>associativity</a:t>
            </a:r>
            <a:r>
              <a:rPr lang="en-US" sz="2400" dirty="0" smtClean="0"/>
              <a:t>, meaning that when there are two adjacent operators with the same precedence, the left operator is evaluated first or the right operator is evaluated first, respectively.</a:t>
            </a:r>
          </a:p>
          <a:p>
            <a:r>
              <a:rPr lang="en-US" sz="2400" dirty="0" smtClean="0"/>
              <a:t>Consider the following expression: </a:t>
            </a:r>
            <a:endParaRPr lang="en-US" sz="2400" dirty="0" smtClean="0"/>
          </a:p>
          <a:p>
            <a:pPr>
              <a:buNone/>
            </a:pPr>
            <a:r>
              <a:rPr lang="en-US" sz="2400" dirty="0" smtClean="0"/>
              <a:t> </a:t>
            </a:r>
            <a:r>
              <a:rPr lang="en-US" sz="2400" dirty="0" smtClean="0"/>
              <a:t>                                     a </a:t>
            </a:r>
            <a:r>
              <a:rPr lang="en-US" sz="2400" dirty="0" smtClean="0"/>
              <a:t>- b + c - d</a:t>
            </a:r>
          </a:p>
          <a:p>
            <a:r>
              <a:rPr lang="en-US" sz="2400" dirty="0" smtClean="0"/>
              <a:t>If the </a:t>
            </a:r>
            <a:r>
              <a:rPr lang="en-US" sz="2400" b="1" dirty="0" smtClean="0"/>
              <a:t>addition and subtraction operators have the same level of precedence</a:t>
            </a:r>
            <a:r>
              <a:rPr lang="en-US" sz="2400" dirty="0" smtClean="0"/>
              <a:t>, as they do in programming languages, the precedence rules say nothing about the order of evaluation of the operators in this expression.</a:t>
            </a:r>
          </a:p>
          <a:p>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a:bodyPr>
          <a:lstStyle/>
          <a:p>
            <a:r>
              <a:rPr lang="en-US" sz="2400" b="1" dirty="0" err="1" smtClean="0"/>
              <a:t>Associativity</a:t>
            </a:r>
            <a:r>
              <a:rPr lang="en-US" sz="2400" b="1" dirty="0" smtClean="0"/>
              <a:t> in common languages is left to right, except that the exponentiation operator </a:t>
            </a:r>
            <a:r>
              <a:rPr lang="en-US" sz="2400" dirty="0" smtClean="0"/>
              <a:t>(when provided) sometimes associates right to </a:t>
            </a:r>
            <a:r>
              <a:rPr lang="en-US" sz="2400" dirty="0" smtClean="0"/>
              <a:t>left</a:t>
            </a:r>
          </a:p>
          <a:p>
            <a:r>
              <a:rPr lang="en-US" sz="2400" dirty="0" smtClean="0"/>
              <a:t>In the Java expression</a:t>
            </a:r>
          </a:p>
          <a:p>
            <a:r>
              <a:rPr lang="en-US" sz="2400" dirty="0" smtClean="0"/>
              <a:t>a - b + c</a:t>
            </a:r>
          </a:p>
          <a:p>
            <a:r>
              <a:rPr lang="en-US" sz="2400" dirty="0" smtClean="0"/>
              <a:t>the </a:t>
            </a:r>
            <a:r>
              <a:rPr lang="en-US" sz="2400" b="1" dirty="0" smtClean="0"/>
              <a:t>left operator is evaluated first.</a:t>
            </a:r>
            <a:endParaRPr lang="en-US" sz="2400" dirty="0" smtClean="0"/>
          </a:p>
          <a:p>
            <a:r>
              <a:rPr lang="en-US" sz="2400" b="1" dirty="0" smtClean="0"/>
              <a:t>Exponentiation in Fortran and Ruby is right associative</a:t>
            </a:r>
            <a:r>
              <a:rPr lang="en-US" sz="2400" dirty="0" smtClean="0"/>
              <a:t>, so in the expression</a:t>
            </a:r>
          </a:p>
          <a:p>
            <a:r>
              <a:rPr lang="en-US" sz="2400" dirty="0" smtClean="0"/>
              <a:t>A ** B ** C</a:t>
            </a:r>
          </a:p>
          <a:p>
            <a:r>
              <a:rPr lang="en-US" sz="2400" dirty="0" smtClean="0"/>
              <a:t>the </a:t>
            </a:r>
            <a:r>
              <a:rPr lang="en-US" sz="2400" b="1" dirty="0" smtClean="0"/>
              <a:t>right operator is evaluated first.</a:t>
            </a:r>
            <a:endParaRPr lang="en-US" sz="2400" dirty="0" smtClean="0"/>
          </a:p>
          <a:p>
            <a:r>
              <a:rPr lang="en-US" sz="2400" dirty="0" smtClean="0"/>
              <a:t>In Visual Basic, </a:t>
            </a:r>
            <a:r>
              <a:rPr lang="en-US" sz="2400" b="1" dirty="0" smtClean="0"/>
              <a:t>the exponentiation operator, ^, is left associative.</a:t>
            </a:r>
            <a:endParaRPr lang="en-US" sz="2400" dirty="0" smtClean="0"/>
          </a:p>
          <a:p>
            <a:endParaRPr lang="en-US" sz="2400" dirty="0" smtClean="0"/>
          </a:p>
          <a:p>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9.jpeg"/>
          <p:cNvPicPr>
            <a:picLocks noGrp="1"/>
          </p:cNvPicPr>
          <p:nvPr>
            <p:ph idx="1"/>
          </p:nvPr>
        </p:nvPicPr>
        <p:blipFill>
          <a:blip r:embed="rId2" cstate="print"/>
          <a:stretch>
            <a:fillRect/>
          </a:stretch>
        </p:blipFill>
        <p:spPr>
          <a:xfrm>
            <a:off x="1057275" y="762001"/>
            <a:ext cx="7029450" cy="51816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In APL, </a:t>
            </a:r>
            <a:r>
              <a:rPr lang="en-US" sz="2400" b="1" dirty="0" smtClean="0"/>
              <a:t>all operators have the same level of precedence</a:t>
            </a:r>
            <a:r>
              <a:rPr lang="en-US" sz="2400" dirty="0" smtClean="0"/>
              <a:t>. Thus, the order of evaluation of operators in </a:t>
            </a:r>
            <a:r>
              <a:rPr lang="en-US" sz="2400" b="1" dirty="0" smtClean="0"/>
              <a:t>APL expressions is determined entirely by the </a:t>
            </a:r>
            <a:r>
              <a:rPr lang="en-US" sz="2400" b="1" dirty="0" err="1" smtClean="0"/>
              <a:t>associativity</a:t>
            </a:r>
            <a:r>
              <a:rPr lang="en-US" sz="2400" b="1" dirty="0" smtClean="0"/>
              <a:t> rule, which is right to left for all operators</a:t>
            </a:r>
            <a:r>
              <a:rPr lang="en-US" sz="2400" dirty="0" smtClean="0"/>
              <a:t>.</a:t>
            </a:r>
          </a:p>
          <a:p>
            <a:r>
              <a:rPr lang="en-US" sz="2400" dirty="0" smtClean="0"/>
              <a:t>For example, in the expression A × B + C</a:t>
            </a:r>
          </a:p>
          <a:p>
            <a:r>
              <a:rPr lang="en-US" sz="2400" dirty="0" smtClean="0"/>
              <a:t>the addition operator is evaluated first, followed by the multiplication operator (× is the APL multiplication operator).</a:t>
            </a:r>
          </a:p>
          <a:p>
            <a:r>
              <a:rPr lang="en-US" sz="2400" dirty="0" smtClean="0"/>
              <a:t>If A were 3, B were 4, and C were 5, then the value of this APL expression would be 27</a:t>
            </a:r>
            <a:r>
              <a:rPr lang="en-US" sz="2400" dirty="0" smtClean="0"/>
              <a:t>.</a:t>
            </a:r>
          </a:p>
          <a:p>
            <a:pPr>
              <a:buNone/>
            </a:pPr>
            <a:r>
              <a:rPr lang="en-US" b="1" dirty="0" smtClean="0"/>
              <a:t>Parentheses</a:t>
            </a:r>
          </a:p>
          <a:p>
            <a:r>
              <a:rPr lang="en-US" sz="2400" b="1" dirty="0" smtClean="0"/>
              <a:t>Programmers can alter the precedence and </a:t>
            </a:r>
            <a:r>
              <a:rPr lang="en-US" sz="2400" b="1" dirty="0" err="1" smtClean="0"/>
              <a:t>associativity</a:t>
            </a:r>
            <a:r>
              <a:rPr lang="en-US" sz="2400" b="1" dirty="0" smtClean="0"/>
              <a:t> rules by placing parentheses in expressions</a:t>
            </a:r>
            <a:r>
              <a:rPr lang="en-US" sz="2400" b="1" dirty="0" smtClean="0"/>
              <a:t>.</a:t>
            </a:r>
          </a:p>
          <a:p>
            <a:r>
              <a:rPr lang="en-US" sz="2400" dirty="0" smtClean="0"/>
              <a:t>A parenthesized part of an expression has precedence over its adjacent </a:t>
            </a:r>
            <a:r>
              <a:rPr lang="en-US" sz="2400" dirty="0" err="1" smtClean="0"/>
              <a:t>unparenthesized</a:t>
            </a:r>
            <a:r>
              <a:rPr lang="en-US" sz="2400" dirty="0" smtClean="0"/>
              <a:t> parts.</a:t>
            </a:r>
          </a:p>
          <a:p>
            <a:endParaRPr lang="en-US" sz="2400" b="1" dirty="0" smtClean="0"/>
          </a:p>
          <a:p>
            <a:pPr>
              <a:buNone/>
            </a:pPr>
            <a:endParaRPr lang="en-US" sz="2400" dirty="0" smtClean="0"/>
          </a:p>
          <a:p>
            <a:endParaRPr 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normAutofit fontScale="92500"/>
          </a:bodyPr>
          <a:lstStyle/>
          <a:p>
            <a:r>
              <a:rPr lang="en-US" sz="2400" dirty="0" smtClean="0"/>
              <a:t>For example, although </a:t>
            </a:r>
            <a:r>
              <a:rPr lang="en-US" sz="2400" b="1" dirty="0" smtClean="0"/>
              <a:t>multiplication has precedence over addition, in the expression</a:t>
            </a:r>
            <a:endParaRPr lang="en-US" sz="2400" dirty="0" smtClean="0"/>
          </a:p>
          <a:p>
            <a:r>
              <a:rPr lang="en-US" sz="2400" dirty="0" smtClean="0"/>
              <a:t>(A + B) * C</a:t>
            </a:r>
          </a:p>
          <a:p>
            <a:r>
              <a:rPr lang="en-US" sz="2400" dirty="0" smtClean="0"/>
              <a:t>the addition will be evaluated first</a:t>
            </a:r>
            <a:r>
              <a:rPr lang="en-US" sz="2400" dirty="0" smtClean="0"/>
              <a:t>.</a:t>
            </a:r>
          </a:p>
          <a:p>
            <a:pPr>
              <a:buNone/>
            </a:pPr>
            <a:r>
              <a:rPr lang="en-US" b="1" dirty="0" smtClean="0"/>
              <a:t>Ruby Expressions</a:t>
            </a:r>
          </a:p>
          <a:p>
            <a:r>
              <a:rPr lang="en-US" sz="2400" b="1" dirty="0" smtClean="0"/>
              <a:t>Ruby is a pure object-oriented language</a:t>
            </a:r>
            <a:r>
              <a:rPr lang="en-US" sz="2400" dirty="0" smtClean="0"/>
              <a:t>, which means, among other things, that every data value, including literals, is an object.</a:t>
            </a:r>
          </a:p>
          <a:p>
            <a:r>
              <a:rPr lang="en-US" sz="2400" b="1" dirty="0" smtClean="0"/>
              <a:t>Ruby supports the collection of arithmetic and logic operations </a:t>
            </a:r>
            <a:r>
              <a:rPr lang="en-US" sz="2400" dirty="0" smtClean="0"/>
              <a:t>that are included in the C-based languages.</a:t>
            </a:r>
          </a:p>
          <a:p>
            <a:r>
              <a:rPr lang="en-US" sz="2400" dirty="0" smtClean="0"/>
              <a:t>What sets Ruby apart from the C-based languages in the area of </a:t>
            </a:r>
            <a:r>
              <a:rPr lang="en-US" sz="2400" b="1" dirty="0" smtClean="0"/>
              <a:t>expressions is that all of the arithmetic, relational, and assignment operators, as well as array indexing, shifts, and bitwise logic operators, </a:t>
            </a:r>
            <a:r>
              <a:rPr lang="en-US" sz="2400" dirty="0" smtClean="0"/>
              <a:t>are implemented as methods</a:t>
            </a:r>
            <a:r>
              <a:rPr lang="en-US" sz="2400" dirty="0" smtClean="0"/>
              <a:t>.</a:t>
            </a:r>
          </a:p>
          <a:p>
            <a:r>
              <a:rPr lang="en-US" sz="2400" dirty="0" smtClean="0"/>
              <a:t>For example, the expression a + b is a call to the + method of the object referenced by a, passing the object referenced by b as a parameter.</a:t>
            </a:r>
          </a:p>
          <a:p>
            <a:endParaRPr lang="en-US" sz="2400" dirty="0" smtClean="0"/>
          </a:p>
          <a:p>
            <a:endParaRPr lang="en-US" sz="2400" dirty="0" smtClean="0"/>
          </a:p>
          <a:p>
            <a:endParaRPr 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19800"/>
          </a:xfrm>
        </p:spPr>
        <p:txBody>
          <a:bodyPr>
            <a:noAutofit/>
          </a:bodyPr>
          <a:lstStyle/>
          <a:p>
            <a:pPr>
              <a:buNone/>
            </a:pPr>
            <a:r>
              <a:rPr lang="en-US" sz="3600" b="1" dirty="0" smtClean="0"/>
              <a:t>Expressions in Lisp</a:t>
            </a:r>
          </a:p>
          <a:p>
            <a:r>
              <a:rPr lang="en-US" sz="2400" dirty="0" smtClean="0"/>
              <a:t>As is the case with Ruby, </a:t>
            </a:r>
            <a:r>
              <a:rPr lang="en-US" sz="2400" b="1" dirty="0" smtClean="0"/>
              <a:t>all arithmetic and logic operations in Lisp are performed by subprograms</a:t>
            </a:r>
            <a:r>
              <a:rPr lang="en-US" sz="2400" dirty="0" smtClean="0"/>
              <a:t>.</a:t>
            </a:r>
          </a:p>
          <a:p>
            <a:r>
              <a:rPr lang="en-US" sz="2400" dirty="0" smtClean="0"/>
              <a:t>But in </a:t>
            </a:r>
            <a:r>
              <a:rPr lang="en-US" sz="2400" b="1" dirty="0" smtClean="0"/>
              <a:t>Lisp, the subprograms must be explicitly called.</a:t>
            </a:r>
            <a:endParaRPr lang="en-US" sz="2400" dirty="0" smtClean="0"/>
          </a:p>
          <a:p>
            <a:r>
              <a:rPr lang="en-US" sz="2400" dirty="0" smtClean="0"/>
              <a:t>For example, to specify the C expression a + b * c in Lisp, one must write the following expression.</a:t>
            </a:r>
          </a:p>
          <a:p>
            <a:r>
              <a:rPr lang="en-US" sz="2400" dirty="0" smtClean="0"/>
              <a:t>When a list is interpreted as code in Lisp, the first element is the function name and others are parameters to the function.</a:t>
            </a:r>
          </a:p>
          <a:p>
            <a:r>
              <a:rPr lang="en-US" sz="2400" b="1" dirty="0" smtClean="0"/>
              <a:t>(+ a (* b c))</a:t>
            </a:r>
            <a:endParaRPr lang="en-US" sz="2400" dirty="0" smtClean="0"/>
          </a:p>
          <a:p>
            <a:r>
              <a:rPr lang="en-US" sz="2400" dirty="0" smtClean="0"/>
              <a:t>In this expression, + and * are the names of functions.</a:t>
            </a:r>
          </a:p>
          <a:p>
            <a:endParaRPr lang="en-US" sz="2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fontScale="92500" lnSpcReduction="10000"/>
          </a:bodyPr>
          <a:lstStyle/>
          <a:p>
            <a:pPr>
              <a:buNone/>
            </a:pPr>
            <a:r>
              <a:rPr lang="en-US" b="1" dirty="0" smtClean="0"/>
              <a:t>C</a:t>
            </a:r>
            <a:r>
              <a:rPr lang="en-US" b="1" dirty="0" smtClean="0"/>
              <a:t>onditional expression</a:t>
            </a:r>
          </a:p>
          <a:p>
            <a:r>
              <a:rPr lang="en-US" sz="2800" dirty="0" smtClean="0"/>
              <a:t>if-then-else statements can be used to perform a conditional expression assignment.</a:t>
            </a:r>
          </a:p>
          <a:p>
            <a:r>
              <a:rPr lang="en-US" sz="2800" dirty="0" smtClean="0"/>
              <a:t>For example, consider</a:t>
            </a:r>
          </a:p>
          <a:p>
            <a:r>
              <a:rPr lang="en-US" sz="2800" b="1" dirty="0" smtClean="0"/>
              <a:t>if (count == 0)</a:t>
            </a:r>
            <a:endParaRPr lang="en-US" sz="2800" dirty="0" smtClean="0"/>
          </a:p>
          <a:p>
            <a:r>
              <a:rPr lang="en-US" sz="2800" b="1" dirty="0" smtClean="0"/>
              <a:t>average = 0;</a:t>
            </a:r>
            <a:endParaRPr lang="en-US" sz="2800" dirty="0" smtClean="0"/>
          </a:p>
          <a:p>
            <a:r>
              <a:rPr lang="en-US" sz="2800" b="1" dirty="0" smtClean="0"/>
              <a:t>else</a:t>
            </a:r>
            <a:endParaRPr lang="en-US" sz="2800" dirty="0" smtClean="0"/>
          </a:p>
          <a:p>
            <a:r>
              <a:rPr lang="en-US" sz="2800" b="1" dirty="0" smtClean="0"/>
              <a:t>average = sum / count;</a:t>
            </a:r>
            <a:endParaRPr lang="en-US" sz="2800" dirty="0" smtClean="0"/>
          </a:p>
          <a:p>
            <a:r>
              <a:rPr lang="en-US" sz="2800" b="1" dirty="0" smtClean="0"/>
              <a:t> </a:t>
            </a:r>
            <a:endParaRPr lang="en-US" sz="2800" dirty="0" smtClean="0"/>
          </a:p>
          <a:p>
            <a:r>
              <a:rPr lang="en-US" sz="2800" dirty="0" smtClean="0"/>
              <a:t>In the C-based languages, this code can be specified more conveniently in an assignment statement using a conditional expression, which has the following form:</a:t>
            </a:r>
          </a:p>
          <a:p>
            <a:r>
              <a:rPr lang="en-US" sz="2800" b="1" dirty="0" smtClean="0"/>
              <a:t>expression_1 ? expression_2 : expression_3</a:t>
            </a:r>
            <a:endParaRPr lang="en-US" sz="2800" dirty="0" smtClean="0"/>
          </a:p>
          <a:p>
            <a:r>
              <a:rPr lang="en-US" b="1" dirty="0" smtClean="0"/>
              <a:t> </a:t>
            </a:r>
            <a:endParaRPr lang="en-US"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r>
              <a:rPr lang="en-US" sz="2400" dirty="0" smtClean="0"/>
              <a:t>Where expression_1 is interpreted as a Boolean expression.</a:t>
            </a:r>
          </a:p>
          <a:p>
            <a:r>
              <a:rPr lang="en-US" sz="2400" dirty="0" smtClean="0"/>
              <a:t>If expression_1 evaluates to true, the value of the whole expression is the value of expression_2; otherwise, it is the value of expression_3.</a:t>
            </a:r>
          </a:p>
          <a:p>
            <a:r>
              <a:rPr lang="en-US" sz="2400" dirty="0" smtClean="0"/>
              <a:t>For example, the effect of the example if-then-else can be achieved with the following assignment statement, using a conditional expression:</a:t>
            </a:r>
          </a:p>
          <a:p>
            <a:r>
              <a:rPr lang="en-US" sz="2400" b="1" dirty="0" smtClean="0"/>
              <a:t>average = (count == 0) ? 0 : sum / count</a:t>
            </a:r>
            <a:r>
              <a:rPr lang="en-US" sz="2400" b="1" dirty="0" smtClean="0"/>
              <a:t>;</a:t>
            </a:r>
          </a:p>
          <a:p>
            <a:pPr>
              <a:buNone/>
            </a:pPr>
            <a:r>
              <a:rPr lang="en-US" b="1" dirty="0" smtClean="0"/>
              <a:t>Operand Evaluation order</a:t>
            </a:r>
          </a:p>
          <a:p>
            <a:r>
              <a:rPr lang="en-US" sz="2400" dirty="0" smtClean="0"/>
              <a:t>A less commonly discussed </a:t>
            </a:r>
            <a:r>
              <a:rPr lang="en-US" sz="2400" b="1" dirty="0" smtClean="0"/>
              <a:t>design characteristic of expressions is the order of evaluation of operands.</a:t>
            </a:r>
            <a:endParaRPr lang="en-US" sz="2400" dirty="0" smtClean="0"/>
          </a:p>
          <a:p>
            <a:r>
              <a:rPr lang="en-US" sz="2400" b="1" dirty="0" smtClean="0"/>
              <a:t>Variables in expressions are evaluated by fetching their values from memory</a:t>
            </a:r>
            <a:r>
              <a:rPr lang="en-US" b="1" dirty="0" smtClean="0"/>
              <a:t>.</a:t>
            </a:r>
            <a:endParaRPr lang="en-US" dirty="0" smtClean="0"/>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19800"/>
          </a:xfrm>
        </p:spPr>
        <p:txBody>
          <a:bodyPr>
            <a:normAutofit/>
          </a:bodyPr>
          <a:lstStyle/>
          <a:p>
            <a:r>
              <a:rPr lang="en-US" sz="2400" dirty="0" smtClean="0"/>
              <a:t>Constants are sometimes evaluated the same way.</a:t>
            </a:r>
          </a:p>
          <a:p>
            <a:r>
              <a:rPr lang="en-US" sz="2400" dirty="0" smtClean="0"/>
              <a:t>In other cases, </a:t>
            </a:r>
            <a:r>
              <a:rPr lang="en-US" sz="2400" b="1" dirty="0" smtClean="0"/>
              <a:t>a constant may be part of the machine language instruction and not require a memory fetch.</a:t>
            </a:r>
            <a:endParaRPr lang="en-US" sz="2400" dirty="0" smtClean="0"/>
          </a:p>
          <a:p>
            <a:r>
              <a:rPr lang="en-US" sz="2400" dirty="0" smtClean="0"/>
              <a:t>If an operand is a parenthesized expression, all of the operators it contains must be evaluated before its value can be used as an operand.</a:t>
            </a:r>
          </a:p>
          <a:p>
            <a:pPr>
              <a:buNone/>
            </a:pPr>
            <a:r>
              <a:rPr lang="en-US" sz="2800" b="1" dirty="0" smtClean="0"/>
              <a:t>Side effects</a:t>
            </a:r>
          </a:p>
          <a:p>
            <a:r>
              <a:rPr lang="en-US" sz="2400" b="1" dirty="0" smtClean="0"/>
              <a:t>A side effect of a function, naturally called a functional side effect, occurs when the function changes either one of its parameters or a global variable.</a:t>
            </a:r>
            <a:endParaRPr lang="en-US" sz="2400" dirty="0" smtClean="0"/>
          </a:p>
          <a:p>
            <a:r>
              <a:rPr lang="en-US" sz="2400" dirty="0" smtClean="0"/>
              <a:t>Consider the following expression: </a:t>
            </a:r>
            <a:endParaRPr lang="en-US" sz="2400" dirty="0" smtClean="0"/>
          </a:p>
          <a:p>
            <a:pPr>
              <a:buNone/>
            </a:pPr>
            <a:r>
              <a:rPr lang="en-US" sz="2400" dirty="0" smtClean="0"/>
              <a:t> </a:t>
            </a:r>
            <a:r>
              <a:rPr lang="en-US" sz="2400" dirty="0" smtClean="0"/>
              <a:t>                 a </a:t>
            </a:r>
            <a:r>
              <a:rPr lang="en-US" sz="2400" dirty="0" smtClean="0"/>
              <a:t>+ fun(a)</a:t>
            </a:r>
          </a:p>
          <a:p>
            <a:endParaRPr 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lnSpcReduction="10000"/>
          </a:bodyPr>
          <a:lstStyle/>
          <a:p>
            <a:r>
              <a:rPr lang="en-US" sz="2400" dirty="0" smtClean="0"/>
              <a:t>If fun does not have the side effect of changing a, then the order of evaluation of the two operands, a and fun(a), has no effect on the value of the expression. However, if fun changes a, there is an </a:t>
            </a:r>
            <a:r>
              <a:rPr lang="en-US" sz="2400" dirty="0" smtClean="0"/>
              <a:t>effect</a:t>
            </a:r>
          </a:p>
          <a:p>
            <a:r>
              <a:rPr lang="en-US" sz="2400" dirty="0" smtClean="0"/>
              <a:t>Consider the following situation: fun returns 10 and changes the value of its parameter to 20.</a:t>
            </a:r>
          </a:p>
          <a:p>
            <a:r>
              <a:rPr lang="en-US" sz="2400" dirty="0" smtClean="0"/>
              <a:t>Suppose we have the following:</a:t>
            </a:r>
          </a:p>
          <a:p>
            <a:r>
              <a:rPr lang="en-US" sz="2400" b="1" dirty="0" smtClean="0"/>
              <a:t>a = 10;</a:t>
            </a:r>
          </a:p>
          <a:p>
            <a:r>
              <a:rPr lang="en-US" sz="2400" b="1" dirty="0" smtClean="0"/>
              <a:t>b = a + fun(a);</a:t>
            </a:r>
            <a:endParaRPr lang="en-US" sz="2400" dirty="0" smtClean="0"/>
          </a:p>
          <a:p>
            <a:r>
              <a:rPr lang="en-US" sz="2400" dirty="0" smtClean="0"/>
              <a:t>Then, if the value of a is fetched first (in the expression evaluation process), its value is 10 and the value of the expression is 20. But if the second operand is evaluated first, then the value of the first operand is 20 and the value of the expression is 30.</a:t>
            </a:r>
          </a:p>
          <a:p>
            <a:r>
              <a:rPr lang="en-US" sz="2400" dirty="0" smtClean="0"/>
              <a:t/>
            </a:r>
            <a:br>
              <a:rPr lang="en-US" sz="2400" dirty="0" smtClean="0"/>
            </a:b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400" dirty="0" smtClean="0"/>
              <a:t>The following C program illustrates the same problem when a function changes a global variable that appears in an expression:</a:t>
            </a:r>
          </a:p>
          <a:p>
            <a:r>
              <a:rPr lang="en-US" sz="2400" b="1" dirty="0" err="1" smtClean="0"/>
              <a:t>int</a:t>
            </a:r>
            <a:r>
              <a:rPr lang="en-US" sz="2400" b="1" dirty="0" smtClean="0"/>
              <a:t> a = 5; </a:t>
            </a:r>
            <a:r>
              <a:rPr lang="en-US" sz="2400" b="1" dirty="0" err="1" smtClean="0"/>
              <a:t>int</a:t>
            </a:r>
            <a:r>
              <a:rPr lang="en-US" sz="2400" b="1" dirty="0" smtClean="0"/>
              <a:t> fun1() {</a:t>
            </a:r>
            <a:endParaRPr lang="en-US" sz="2400" dirty="0" smtClean="0"/>
          </a:p>
          <a:p>
            <a:r>
              <a:rPr lang="en-US" sz="2400" b="1" dirty="0" smtClean="0"/>
              <a:t>a = 17;</a:t>
            </a:r>
            <a:endParaRPr lang="en-US" sz="2400" dirty="0" smtClean="0"/>
          </a:p>
          <a:p>
            <a:r>
              <a:rPr lang="en-US" sz="2400" b="1" dirty="0" smtClean="0"/>
              <a:t>return 3;</a:t>
            </a:r>
            <a:endParaRPr lang="en-US" sz="2400" dirty="0" smtClean="0"/>
          </a:p>
          <a:p>
            <a:r>
              <a:rPr lang="en-US" sz="2400" b="1" dirty="0" smtClean="0"/>
              <a:t>} /* end of fun1 */ void main() {</a:t>
            </a:r>
            <a:endParaRPr lang="en-US" sz="2400" dirty="0" smtClean="0"/>
          </a:p>
          <a:p>
            <a:r>
              <a:rPr lang="en-US" sz="2400" b="1" dirty="0" smtClean="0"/>
              <a:t>a = a + fun1();</a:t>
            </a:r>
            <a:endParaRPr lang="en-US" sz="2400" dirty="0" smtClean="0"/>
          </a:p>
          <a:p>
            <a:r>
              <a:rPr lang="en-US" sz="2400" b="1" dirty="0" smtClean="0"/>
              <a:t>}</a:t>
            </a:r>
            <a:endParaRPr lang="en-US" sz="2400" dirty="0" smtClean="0"/>
          </a:p>
          <a:p>
            <a:r>
              <a:rPr lang="en-US" sz="2400" dirty="0" smtClean="0"/>
              <a:t>The value computed for a in main depends on the order of evaluation of the operands in the expression a + fun1(). The value of a will be either 8 (if a is evaluated first) or 20 (if the function call is evaluated first).</a:t>
            </a:r>
          </a:p>
          <a:p>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lstStyle/>
          <a:p>
            <a:pPr>
              <a:buNone/>
            </a:pPr>
            <a:r>
              <a:rPr lang="en-US" b="1" dirty="0" smtClean="0"/>
              <a:t>Overloaded Operators</a:t>
            </a:r>
          </a:p>
          <a:p>
            <a:r>
              <a:rPr lang="en-US" sz="2800" b="1" dirty="0" smtClean="0"/>
              <a:t>Arithmetic operators are often used for more than one purpose</a:t>
            </a:r>
            <a:r>
              <a:rPr lang="en-US" sz="2800" dirty="0" smtClean="0"/>
              <a:t>.</a:t>
            </a:r>
            <a:endParaRPr lang="en-US" sz="2800" b="1" dirty="0" smtClean="0"/>
          </a:p>
          <a:p>
            <a:r>
              <a:rPr lang="en-US" sz="2800" dirty="0" smtClean="0"/>
              <a:t>For example, + usually is used to specify integer addition and floating-point addition.</a:t>
            </a:r>
          </a:p>
          <a:p>
            <a:r>
              <a:rPr lang="en-US" sz="2800" dirty="0" smtClean="0"/>
              <a:t>Some languages: </a:t>
            </a:r>
            <a:r>
              <a:rPr lang="en-US" sz="2800" b="1" dirty="0" smtClean="0"/>
              <a:t>Java, for example - also use it for string catenation.</a:t>
            </a:r>
            <a:endParaRPr lang="en-US" sz="2800" dirty="0" smtClean="0"/>
          </a:p>
          <a:p>
            <a:r>
              <a:rPr lang="en-US" sz="2800" b="1" dirty="0" smtClean="0"/>
              <a:t>This multiple use of an operator is called operator overloading and is generally thought to be acceptable</a:t>
            </a:r>
            <a:r>
              <a:rPr lang="en-US" sz="2800" dirty="0" smtClean="0"/>
              <a:t>, as long as neither readability nor reliability </a:t>
            </a:r>
            <a:r>
              <a:rPr lang="en-US" sz="2800" dirty="0" smtClean="0"/>
              <a:t>suffers.</a:t>
            </a:r>
          </a:p>
          <a:p>
            <a:endParaRPr lang="en-US" sz="2800" dirty="0" smtClean="0"/>
          </a:p>
          <a:p>
            <a:endParaRPr 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pPr>
              <a:buNone/>
            </a:pPr>
            <a:r>
              <a:rPr lang="en-US" b="1" dirty="0" smtClean="0"/>
              <a:t>Type Conversions</a:t>
            </a:r>
          </a:p>
          <a:p>
            <a:r>
              <a:rPr lang="en-US" sz="2400" b="1" dirty="0" smtClean="0"/>
              <a:t>Type conversions are either narrowing or widening</a:t>
            </a:r>
            <a:r>
              <a:rPr lang="en-US" sz="2400" dirty="0" smtClean="0"/>
              <a:t>.</a:t>
            </a:r>
          </a:p>
          <a:p>
            <a:r>
              <a:rPr lang="en-US" sz="2400" dirty="0" smtClean="0"/>
              <a:t>A </a:t>
            </a:r>
            <a:r>
              <a:rPr lang="en-US" sz="2400" b="1" dirty="0" smtClean="0"/>
              <a:t>narrowing conversion </a:t>
            </a:r>
            <a:r>
              <a:rPr lang="en-US" sz="2400" dirty="0" smtClean="0"/>
              <a:t>converts a value to a type that cannot store even approximations of all of the values of the original type.</a:t>
            </a:r>
          </a:p>
          <a:p>
            <a:r>
              <a:rPr lang="en-US" sz="2400" dirty="0" smtClean="0"/>
              <a:t>For example, </a:t>
            </a:r>
            <a:r>
              <a:rPr lang="en-US" sz="2400" b="1" dirty="0" smtClean="0"/>
              <a:t>converting a double to a float in Java is a narrowing conversion</a:t>
            </a:r>
            <a:r>
              <a:rPr lang="en-US" sz="2400" dirty="0" smtClean="0"/>
              <a:t>, because the range of double is much larger than that of float.</a:t>
            </a:r>
          </a:p>
          <a:p>
            <a:r>
              <a:rPr lang="en-US" sz="2400" dirty="0" smtClean="0"/>
              <a:t>A </a:t>
            </a:r>
            <a:r>
              <a:rPr lang="en-US" sz="2400" b="1" dirty="0" smtClean="0"/>
              <a:t>widening conversion </a:t>
            </a:r>
            <a:r>
              <a:rPr lang="en-US" sz="2400" dirty="0" smtClean="0"/>
              <a:t>converts a value to a type that can include at least approximations of all of the values of the original type.</a:t>
            </a:r>
          </a:p>
          <a:p>
            <a:r>
              <a:rPr lang="en-US" sz="2400" dirty="0" smtClean="0"/>
              <a:t>For example, </a:t>
            </a:r>
            <a:r>
              <a:rPr lang="en-US" sz="2400" b="1" dirty="0" smtClean="0"/>
              <a:t>converting an </a:t>
            </a:r>
            <a:r>
              <a:rPr lang="en-US" sz="2400" b="1" dirty="0" err="1" smtClean="0"/>
              <a:t>int</a:t>
            </a:r>
            <a:r>
              <a:rPr lang="en-US" sz="2400" b="1" dirty="0" smtClean="0"/>
              <a:t> to a float in Java is a widening conversion</a:t>
            </a:r>
            <a:endParaRPr lang="en-US" sz="2400" dirty="0" smtClean="0"/>
          </a:p>
          <a:p>
            <a:endParaRPr lang="en-US" sz="2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lstStyle/>
          <a:p>
            <a:pPr>
              <a:buNone/>
            </a:pPr>
            <a:r>
              <a:rPr lang="en-US" b="1" dirty="0" smtClean="0"/>
              <a:t>Relational expressions</a:t>
            </a:r>
          </a:p>
          <a:p>
            <a:r>
              <a:rPr lang="en-US" sz="2400" b="1" dirty="0" smtClean="0"/>
              <a:t>A relational operator is an operator that compares the values of its two operands.</a:t>
            </a:r>
          </a:p>
          <a:p>
            <a:r>
              <a:rPr lang="en-US" sz="2400" dirty="0" smtClean="0"/>
              <a:t>A </a:t>
            </a:r>
            <a:r>
              <a:rPr lang="en-US" sz="2400" b="1" dirty="0" smtClean="0"/>
              <a:t>relational expression has two operands and one relational operator.</a:t>
            </a:r>
            <a:endParaRPr lang="en-US" sz="2400" dirty="0" smtClean="0"/>
          </a:p>
          <a:p>
            <a:r>
              <a:rPr lang="en-US" sz="2400" b="1" dirty="0" smtClean="0"/>
              <a:t>The value of a relational expression is Boolean, except when Boolean is not a type included in the language.</a:t>
            </a:r>
          </a:p>
          <a:p>
            <a:r>
              <a:rPr lang="en-US" sz="2400" dirty="0" smtClean="0"/>
              <a:t>The relational operators are often overloaded for a variety of types.</a:t>
            </a:r>
          </a:p>
          <a:p>
            <a:r>
              <a:rPr lang="en-US" sz="2400" dirty="0" smtClean="0"/>
              <a:t>The operation that determines the truth or falsehood of a relational expression depends on the operand types.</a:t>
            </a:r>
          </a:p>
          <a:p>
            <a:r>
              <a:rPr lang="en-US" sz="2400" b="1" dirty="0" smtClean="0"/>
              <a:t>It can be simple, as for integer operands, or complex, as for character string operands.</a:t>
            </a:r>
          </a:p>
          <a:p>
            <a:endParaRPr lang="en-US" sz="2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a:bodyPr>
          <a:lstStyle/>
          <a:p>
            <a:r>
              <a:rPr lang="en-US" sz="2400" dirty="0" smtClean="0"/>
              <a:t>Typically, the types of the operands that can be used for relational operators are numeric types, strings, and enumeration types.</a:t>
            </a:r>
          </a:p>
          <a:p>
            <a:r>
              <a:rPr lang="en-US" sz="2400" dirty="0" smtClean="0"/>
              <a:t>The relational operators always have lower precedence than the arithmetic operators, so that in expressions such as</a:t>
            </a:r>
          </a:p>
          <a:p>
            <a:r>
              <a:rPr lang="en-US" sz="2400" b="1" dirty="0" smtClean="0"/>
              <a:t>a + 1 &gt; 2 * b</a:t>
            </a:r>
          </a:p>
          <a:p>
            <a:r>
              <a:rPr lang="en-US" sz="2400" dirty="0" smtClean="0"/>
              <a:t>the arithmetic expressions are evaluated </a:t>
            </a:r>
            <a:r>
              <a:rPr lang="en-US" sz="2400" dirty="0" smtClean="0"/>
              <a:t>first.</a:t>
            </a:r>
          </a:p>
          <a:p>
            <a:pPr>
              <a:buNone/>
            </a:pPr>
            <a:r>
              <a:rPr lang="en-US" sz="2800" b="1" dirty="0" smtClean="0"/>
              <a:t>Boolean Expressions</a:t>
            </a:r>
            <a:endParaRPr lang="en-US" sz="2800" b="1" dirty="0" smtClean="0"/>
          </a:p>
          <a:p>
            <a:r>
              <a:rPr lang="en-US" sz="2400" dirty="0" smtClean="0"/>
              <a:t>Boolean expressions consist of </a:t>
            </a:r>
            <a:r>
              <a:rPr lang="en-US" sz="2400" b="1" dirty="0" smtClean="0"/>
              <a:t>Boolean variables, Boolean constants, relational expressions, and Boolean operators.</a:t>
            </a:r>
            <a:endParaRPr lang="en-US" sz="2400" dirty="0" smtClean="0"/>
          </a:p>
          <a:p>
            <a:r>
              <a:rPr lang="en-US" sz="2400" dirty="0" smtClean="0"/>
              <a:t>The operators usually include those for the </a:t>
            </a:r>
            <a:r>
              <a:rPr lang="en-US" sz="2400" b="1" dirty="0" smtClean="0"/>
              <a:t>AND, OR, and NOT</a:t>
            </a:r>
            <a:endParaRPr lang="en-US" sz="2400" dirty="0" smtClean="0"/>
          </a:p>
          <a:p>
            <a:r>
              <a:rPr lang="en-US" sz="2400" dirty="0" smtClean="0"/>
              <a:t>operations, and sometimes for </a:t>
            </a:r>
            <a:r>
              <a:rPr lang="en-US" sz="2400" b="1" dirty="0" smtClean="0"/>
              <a:t>exclusive OR and equivalence</a:t>
            </a:r>
            <a:r>
              <a:rPr lang="en-US" sz="2400" dirty="0" smtClean="0"/>
              <a:t>.</a:t>
            </a:r>
          </a:p>
          <a:p>
            <a:pPr>
              <a:buNone/>
            </a:pPr>
            <a:endParaRPr lang="en-US" sz="2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943600"/>
          </a:xfrm>
        </p:spPr>
        <p:txBody>
          <a:bodyPr/>
          <a:lstStyle/>
          <a:p>
            <a:pPr>
              <a:buNone/>
            </a:pPr>
            <a:r>
              <a:rPr lang="en-US" b="1" dirty="0" smtClean="0"/>
              <a:t>Short-circuit evaluation</a:t>
            </a:r>
          </a:p>
          <a:p>
            <a:r>
              <a:rPr lang="en-US" sz="2400" b="1" dirty="0" smtClean="0"/>
              <a:t>A short-circuit evaluation of an expression is one in which the result is determined without evaluating all of the operands and/or operators.</a:t>
            </a:r>
          </a:p>
          <a:p>
            <a:r>
              <a:rPr lang="en-US" sz="2400" dirty="0" smtClean="0"/>
              <a:t>For example, the value of the arithmetic expression (13 * a) * (b / 13 - 1)</a:t>
            </a:r>
          </a:p>
          <a:p>
            <a:r>
              <a:rPr lang="en-US" sz="2400" dirty="0" smtClean="0"/>
              <a:t>is independent of the value of (b / 13 - 1) if a is 0, because 0 * x = 0 for any x. So, when a is 0, there is no need to evaluate (b / 13 - 1) or perform the second multiplication. However, in arithmetic expressions, this shortcut is not easily detected during execution, so it is never taken.</a:t>
            </a:r>
          </a:p>
          <a:p>
            <a:r>
              <a:rPr lang="en-US" sz="2400" b="1" dirty="0" smtClean="0"/>
              <a:t>The value of the Boolean expression </a:t>
            </a:r>
            <a:endParaRPr lang="en-US" sz="2400" b="1" dirty="0" smtClean="0"/>
          </a:p>
          <a:p>
            <a:pPr>
              <a:buNone/>
            </a:pPr>
            <a:r>
              <a:rPr lang="en-US" sz="2400" b="1" dirty="0" smtClean="0"/>
              <a:t> </a:t>
            </a:r>
            <a:r>
              <a:rPr lang="en-US" sz="2400" b="1" dirty="0" smtClean="0"/>
              <a:t>                 (</a:t>
            </a:r>
            <a:r>
              <a:rPr lang="en-US" sz="2400" b="1" dirty="0" smtClean="0"/>
              <a:t>a &gt;= 0) &amp;&amp; (b &lt; 10)</a:t>
            </a:r>
          </a:p>
          <a:p>
            <a:endParaRPr lang="en-US" sz="24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900" dirty="0" smtClean="0"/>
              <a:t>.</a:t>
            </a:r>
            <a:endParaRPr lang="en-US" sz="900" dirty="0"/>
          </a:p>
        </p:txBody>
      </p:sp>
      <p:sp>
        <p:nvSpPr>
          <p:cNvPr id="3" name="Content Placeholder 2"/>
          <p:cNvSpPr>
            <a:spLocks noGrp="1"/>
          </p:cNvSpPr>
          <p:nvPr>
            <p:ph idx="1"/>
          </p:nvPr>
        </p:nvSpPr>
        <p:spPr>
          <a:xfrm>
            <a:off x="457200" y="381000"/>
            <a:ext cx="8229600" cy="6019800"/>
          </a:xfrm>
        </p:spPr>
        <p:txBody>
          <a:bodyPr>
            <a:normAutofit/>
          </a:bodyPr>
          <a:lstStyle/>
          <a:p>
            <a:r>
              <a:rPr lang="en-US" sz="2400" dirty="0" smtClean="0"/>
              <a:t>is independent of the second relational expression if a &lt; 0, because the expression (FALSE &amp;&amp; (b &lt; 10)) is FALSE for all values of b.</a:t>
            </a:r>
          </a:p>
          <a:p>
            <a:r>
              <a:rPr lang="en-US" sz="2400" dirty="0" smtClean="0"/>
              <a:t>So, when a is less than zero, there is no need to evaluate b, the constant 10, the second relational expression, or the &amp;&amp; operation.</a:t>
            </a:r>
          </a:p>
          <a:p>
            <a:r>
              <a:rPr lang="en-US" sz="2400" dirty="0" smtClean="0"/>
              <a:t>Unlike the case of arithmetic expressions, this shortcut easily can be discovered during </a:t>
            </a:r>
            <a:r>
              <a:rPr lang="en-US" sz="2400" dirty="0" smtClean="0"/>
              <a:t>execution.</a:t>
            </a:r>
          </a:p>
          <a:p>
            <a:pPr>
              <a:buNone/>
            </a:pPr>
            <a:r>
              <a:rPr lang="en-US" sz="2800" b="1" dirty="0" smtClean="0"/>
              <a:t>Assignment statements</a:t>
            </a:r>
          </a:p>
          <a:p>
            <a:r>
              <a:rPr lang="en-US" sz="2800" dirty="0" smtClean="0"/>
              <a:t>Nearly all programming languages currently being used</a:t>
            </a:r>
          </a:p>
          <a:p>
            <a:r>
              <a:rPr lang="en-US" sz="2800" b="1" dirty="0" smtClean="0"/>
              <a:t>use the equal sign for the assignment operator.</a:t>
            </a:r>
            <a:endParaRPr lang="en-US" sz="2800" dirty="0" smtClean="0"/>
          </a:p>
          <a:p>
            <a:endParaRPr lang="en-US" sz="2800"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400" b="1" dirty="0" smtClean="0"/>
              <a:t>All of these must use something different from an equal sign for the equality relational operator to avoid confusion with their assignment operator.</a:t>
            </a:r>
          </a:p>
          <a:p>
            <a:r>
              <a:rPr lang="en-US" sz="2400" dirty="0" smtClean="0"/>
              <a:t>Example:</a:t>
            </a:r>
          </a:p>
          <a:p>
            <a:r>
              <a:rPr lang="en-US" sz="2400" b="1" dirty="0" smtClean="0"/>
              <a:t>B = A; // Assign operand A to the B</a:t>
            </a:r>
            <a:endParaRPr lang="en-US" sz="2400" dirty="0" smtClean="0"/>
          </a:p>
          <a:p>
            <a:r>
              <a:rPr lang="en-US" sz="2400" b="1" dirty="0" smtClean="0"/>
              <a:t>ALGOL 60 pioneered the use of := </a:t>
            </a:r>
            <a:r>
              <a:rPr lang="en-US" sz="2400" dirty="0" smtClean="0"/>
              <a:t>as the assignment operator, which avoids the confusion of assignment with equality.</a:t>
            </a:r>
          </a:p>
          <a:p>
            <a:r>
              <a:rPr lang="en-US" sz="2400" b="1" dirty="0" err="1" smtClean="0"/>
              <a:t>Ada</a:t>
            </a:r>
            <a:r>
              <a:rPr lang="en-US" sz="2400" b="1" dirty="0" smtClean="0"/>
              <a:t> also uses this assignment operator.</a:t>
            </a:r>
          </a:p>
          <a:p>
            <a:r>
              <a:rPr lang="en-US" sz="2400" dirty="0" smtClean="0"/>
              <a:t>The design choices of how assignments are used in a language have varied </a:t>
            </a:r>
            <a:r>
              <a:rPr lang="en-US" sz="2400" dirty="0" smtClean="0"/>
              <a:t>widely</a:t>
            </a:r>
          </a:p>
          <a:p>
            <a:r>
              <a:rPr lang="en-US" sz="2400" dirty="0" smtClean="0"/>
              <a:t>In some languages, </a:t>
            </a:r>
            <a:r>
              <a:rPr lang="en-US" sz="2400" b="1" dirty="0" smtClean="0"/>
              <a:t>such as Fortran and </a:t>
            </a:r>
            <a:r>
              <a:rPr lang="en-US" sz="2400" b="1" dirty="0" err="1" smtClean="0"/>
              <a:t>Ada</a:t>
            </a:r>
            <a:r>
              <a:rPr lang="en-US" sz="2400" b="1" dirty="0" smtClean="0"/>
              <a:t>, an assignment can appear only as a stand-alone statement, and the destination is restricted to a single variable</a:t>
            </a:r>
            <a:r>
              <a:rPr lang="en-US" sz="2400" dirty="0" smtClean="0"/>
              <a:t>.</a:t>
            </a:r>
            <a:endParaRPr lang="en-US" sz="2400" b="1" dirty="0" smtClean="0"/>
          </a:p>
          <a:p>
            <a:endParaRPr 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lstStyle/>
          <a:p>
            <a:pPr>
              <a:buNone/>
            </a:pPr>
            <a:r>
              <a:rPr lang="en-US" sz="2800" b="1" dirty="0" smtClean="0"/>
              <a:t>Assignment statement example</a:t>
            </a:r>
          </a:p>
          <a:p>
            <a:r>
              <a:rPr lang="en-US" sz="2800" b="1" dirty="0" smtClean="0"/>
              <a:t>Conditional </a:t>
            </a:r>
            <a:r>
              <a:rPr lang="en-US" sz="2800" b="1" dirty="0" smtClean="0"/>
              <a:t>Targets</a:t>
            </a:r>
            <a:endParaRPr lang="en-US" sz="2800" dirty="0" smtClean="0"/>
          </a:p>
          <a:p>
            <a:r>
              <a:rPr lang="en-US" sz="2800" dirty="0" smtClean="0"/>
              <a:t>Perl allows conditional targets on assignment statements. For example,</a:t>
            </a:r>
          </a:p>
          <a:p>
            <a:r>
              <a:rPr lang="en-US" sz="2800" b="1" dirty="0" smtClean="0"/>
              <a:t>($flag ? $count1 : $count2) = 0;</a:t>
            </a:r>
            <a:endParaRPr lang="en-US" sz="2800" dirty="0" smtClean="0"/>
          </a:p>
          <a:p>
            <a:r>
              <a:rPr lang="en-US" sz="2800" dirty="0" smtClean="0"/>
              <a:t>which is equivalent to if ($flag) {</a:t>
            </a:r>
          </a:p>
          <a:p>
            <a:r>
              <a:rPr lang="en-US" sz="2800" dirty="0" smtClean="0"/>
              <a:t>$count1 = 0;</a:t>
            </a:r>
          </a:p>
          <a:p>
            <a:r>
              <a:rPr lang="en-US" sz="2800" dirty="0" smtClean="0"/>
              <a:t>} else {</a:t>
            </a:r>
          </a:p>
          <a:p>
            <a:r>
              <a:rPr lang="en-US" sz="2800" dirty="0" smtClean="0"/>
              <a:t>$count2 = 0;</a:t>
            </a:r>
          </a:p>
          <a:p>
            <a:r>
              <a:rPr lang="en-US" sz="2800" dirty="0" smtClean="0"/>
              <a:t> </a:t>
            </a:r>
          </a:p>
          <a:p>
            <a:r>
              <a:rPr lang="en-US" sz="2800" dirty="0" smtClean="0"/>
              <a:t>}</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pPr>
              <a:buNone/>
            </a:pPr>
            <a:r>
              <a:rPr lang="en-US" b="1" dirty="0" smtClean="0"/>
              <a:t>Compound </a:t>
            </a:r>
            <a:r>
              <a:rPr lang="en-US" b="1" dirty="0" smtClean="0"/>
              <a:t>assignment </a:t>
            </a:r>
            <a:r>
              <a:rPr lang="en-US" b="1" dirty="0" smtClean="0"/>
              <a:t>operators</a:t>
            </a:r>
          </a:p>
          <a:p>
            <a:r>
              <a:rPr lang="en-US" sz="2400" b="1" dirty="0" smtClean="0"/>
              <a:t> </a:t>
            </a:r>
            <a:r>
              <a:rPr lang="en-US" sz="2400" b="1" dirty="0" smtClean="0"/>
              <a:t>A compound assignment operator is a shorthand method of specifying a commonly needed form of assignment.</a:t>
            </a:r>
            <a:endParaRPr lang="en-US" sz="2400" dirty="0" smtClean="0"/>
          </a:p>
          <a:p>
            <a:r>
              <a:rPr lang="en-US" sz="2400" dirty="0" smtClean="0"/>
              <a:t>The form of assignment that can be abbreviated with this technique has the destination variable also appearing as the first operand in the expression on the right side, as in</a:t>
            </a:r>
          </a:p>
          <a:p>
            <a:r>
              <a:rPr lang="en-US" sz="2400" b="1" dirty="0" smtClean="0"/>
              <a:t>a = a + b</a:t>
            </a:r>
            <a:endParaRPr lang="en-US" sz="2400" dirty="0" smtClean="0"/>
          </a:p>
          <a:p>
            <a:r>
              <a:rPr lang="en-US" sz="2400" dirty="0" smtClean="0"/>
              <a:t>Compound assignment operators were introduced by ALGOL 68, were later adopted in a slightly different form by C, and are part of the other C-based languages, as well as Perl, JavaScript, Python, and Ruby</a:t>
            </a:r>
            <a:r>
              <a:rPr lang="en-US" sz="2400" dirty="0" smtClean="0"/>
              <a:t>.</a:t>
            </a:r>
          </a:p>
          <a:p>
            <a:r>
              <a:rPr lang="en-US" sz="2400" dirty="0" smtClean="0"/>
              <a:t>The syntax of these assignment operators is the catenation of the desired binary operator to the = operator</a:t>
            </a: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lnSpcReduction="10000"/>
          </a:bodyPr>
          <a:lstStyle/>
          <a:p>
            <a:r>
              <a:rPr lang="en-US" sz="2400" dirty="0" smtClean="0"/>
              <a:t>For example, </a:t>
            </a:r>
            <a:endParaRPr lang="en-US" sz="2400" dirty="0" smtClean="0"/>
          </a:p>
          <a:p>
            <a:r>
              <a:rPr lang="en-US" sz="2400" b="1" dirty="0" smtClean="0"/>
              <a:t>sum </a:t>
            </a:r>
            <a:r>
              <a:rPr lang="en-US" sz="2400" b="1" dirty="0" smtClean="0"/>
              <a:t>+= value; </a:t>
            </a:r>
            <a:endParaRPr lang="en-US" sz="2400" b="1" dirty="0" smtClean="0"/>
          </a:p>
          <a:p>
            <a:r>
              <a:rPr lang="en-US" sz="2400" dirty="0" smtClean="0"/>
              <a:t>is </a:t>
            </a:r>
            <a:r>
              <a:rPr lang="en-US" sz="2400" dirty="0" smtClean="0"/>
              <a:t>equivalent to</a:t>
            </a:r>
          </a:p>
          <a:p>
            <a:r>
              <a:rPr lang="en-US" sz="2400" b="1" dirty="0" smtClean="0"/>
              <a:t>sum = sum + value;</a:t>
            </a:r>
            <a:endParaRPr lang="en-US" sz="2400" dirty="0" smtClean="0"/>
          </a:p>
          <a:p>
            <a:pPr>
              <a:buNone/>
            </a:pPr>
            <a:r>
              <a:rPr lang="en-US" sz="2800" b="1" dirty="0" smtClean="0"/>
              <a:t>Unary Assignment </a:t>
            </a:r>
            <a:r>
              <a:rPr lang="en-US" sz="2800" b="1" dirty="0" smtClean="0"/>
              <a:t>Operators</a:t>
            </a:r>
            <a:r>
              <a:rPr lang="en-US" sz="2800" dirty="0" smtClean="0"/>
              <a:t> </a:t>
            </a:r>
          </a:p>
          <a:p>
            <a:r>
              <a:rPr lang="en-US" sz="2400" dirty="0" smtClean="0"/>
              <a:t>The C-based languages, Perl, and JavaScript include two special unary arithmetic operators that are actually abbreviated assignments.</a:t>
            </a:r>
          </a:p>
          <a:p>
            <a:r>
              <a:rPr lang="en-US" sz="2400" dirty="0" smtClean="0"/>
              <a:t>They combine increment and decrement operations with assignment.</a:t>
            </a:r>
          </a:p>
          <a:p>
            <a:r>
              <a:rPr lang="en-US" sz="2400" b="1" dirty="0" smtClean="0"/>
              <a:t>The operators ++ for increment and -- for decrement </a:t>
            </a:r>
            <a:r>
              <a:rPr lang="en-US" sz="2400" dirty="0" smtClean="0"/>
              <a:t>can be used either in expressions or to form stand-alone single-operator assignment statements.</a:t>
            </a:r>
          </a:p>
          <a:p>
            <a:r>
              <a:rPr lang="en-US" sz="2400" dirty="0" smtClean="0"/>
              <a:t>They can appear either as </a:t>
            </a:r>
            <a:r>
              <a:rPr lang="en-US" sz="2400" b="1" dirty="0" smtClean="0"/>
              <a:t>prefix operators</a:t>
            </a:r>
            <a:r>
              <a:rPr lang="en-US" sz="2400" dirty="0" smtClean="0"/>
              <a:t>, meaning that they precede the operands, or as </a:t>
            </a:r>
            <a:r>
              <a:rPr lang="en-US" sz="2400" b="1" dirty="0" smtClean="0"/>
              <a:t>postfix operators</a:t>
            </a:r>
            <a:r>
              <a:rPr lang="en-US" sz="2400" dirty="0" smtClean="0"/>
              <a:t>, meaning that they follow the operands.</a:t>
            </a:r>
          </a:p>
          <a:p>
            <a:pPr>
              <a:buNone/>
            </a:pP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fontScale="85000" lnSpcReduction="20000"/>
          </a:bodyPr>
          <a:lstStyle/>
          <a:p>
            <a:r>
              <a:rPr lang="en-US" b="1" dirty="0" smtClean="0"/>
              <a:t>Unary Assignment Operators Example</a:t>
            </a:r>
          </a:p>
          <a:p>
            <a:r>
              <a:rPr lang="en-US" dirty="0" smtClean="0"/>
              <a:t>In the assignment statement</a:t>
            </a:r>
          </a:p>
          <a:p>
            <a:r>
              <a:rPr lang="en-US" b="1" dirty="0" smtClean="0"/>
              <a:t>sum = ++ count;</a:t>
            </a:r>
            <a:endParaRPr lang="en-US" dirty="0" smtClean="0"/>
          </a:p>
          <a:p>
            <a:r>
              <a:rPr lang="en-US" dirty="0" smtClean="0"/>
              <a:t>the value of count is incremented by 1 and then assigned to sum. This operation could also be stated as</a:t>
            </a:r>
          </a:p>
          <a:p>
            <a:r>
              <a:rPr lang="en-US" b="1" dirty="0" smtClean="0"/>
              <a:t>count = count + 1</a:t>
            </a:r>
            <a:r>
              <a:rPr lang="en-US" b="1" dirty="0" smtClean="0"/>
              <a:t>;</a:t>
            </a:r>
          </a:p>
          <a:p>
            <a:r>
              <a:rPr lang="en-US" b="1" dirty="0" smtClean="0"/>
              <a:t> </a:t>
            </a:r>
            <a:r>
              <a:rPr lang="en-US" b="1" dirty="0" smtClean="0"/>
              <a:t>sum = count;</a:t>
            </a:r>
            <a:endParaRPr lang="en-US" dirty="0" smtClean="0"/>
          </a:p>
          <a:p>
            <a:r>
              <a:rPr lang="en-US" dirty="0" smtClean="0"/>
              <a:t>If the same operator is used as a postfix operator, as in</a:t>
            </a:r>
          </a:p>
          <a:p>
            <a:r>
              <a:rPr lang="en-US" b="1" dirty="0" smtClean="0"/>
              <a:t>sum = count ++;</a:t>
            </a:r>
            <a:endParaRPr lang="en-US" dirty="0" smtClean="0"/>
          </a:p>
          <a:p>
            <a:r>
              <a:rPr lang="en-US" dirty="0" smtClean="0"/>
              <a:t>the assignment of the value of count to sum occurs first; then count is incremented. The effect is the same as that of the two statements </a:t>
            </a:r>
            <a:endParaRPr lang="en-US" dirty="0" smtClean="0"/>
          </a:p>
          <a:p>
            <a:r>
              <a:rPr lang="en-US" b="1" dirty="0" smtClean="0"/>
              <a:t>sum </a:t>
            </a:r>
            <a:r>
              <a:rPr lang="en-US" b="1" dirty="0" smtClean="0"/>
              <a:t>= count;</a:t>
            </a:r>
            <a:endParaRPr lang="en-US" dirty="0" smtClean="0"/>
          </a:p>
          <a:p>
            <a:r>
              <a:rPr lang="en-US" b="1" dirty="0" smtClean="0"/>
              <a:t>count = count + 1;</a:t>
            </a:r>
            <a:endParaRPr lang="en-US" dirty="0" smtClean="0"/>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6172200"/>
          </a:xfrm>
        </p:spPr>
        <p:txBody>
          <a:bodyPr>
            <a:normAutofit/>
          </a:bodyPr>
          <a:lstStyle/>
          <a:p>
            <a:pPr>
              <a:buNone/>
            </a:pPr>
            <a:r>
              <a:rPr lang="en-US" b="1" dirty="0" smtClean="0"/>
              <a:t>Multiple Assignments</a:t>
            </a:r>
          </a:p>
          <a:p>
            <a:r>
              <a:rPr lang="en-US" sz="3000" dirty="0" smtClean="0"/>
              <a:t>Several recent programming languages, </a:t>
            </a:r>
            <a:r>
              <a:rPr lang="en-US" sz="3000" b="1" dirty="0" smtClean="0"/>
              <a:t>including Perl and Ruby provide multiple-target, multiple-source assignment statements.</a:t>
            </a:r>
            <a:endParaRPr lang="en-US" sz="3000" dirty="0" smtClean="0"/>
          </a:p>
          <a:p>
            <a:r>
              <a:rPr lang="en-US" sz="3000" dirty="0" smtClean="0"/>
              <a:t>For example, in Perl one can write</a:t>
            </a:r>
          </a:p>
          <a:p>
            <a:r>
              <a:rPr lang="en-US" sz="3000" b="1" dirty="0" smtClean="0"/>
              <a:t>($first, $second, $third) = (20, 40, 60);</a:t>
            </a:r>
          </a:p>
          <a:p>
            <a:r>
              <a:rPr lang="en-US" sz="3000" dirty="0" smtClean="0"/>
              <a:t>The semantics is that 20 is assigned to $first, 40 is assigned to</a:t>
            </a:r>
          </a:p>
          <a:p>
            <a:r>
              <a:rPr lang="en-US" sz="3000" dirty="0" smtClean="0"/>
              <a:t>$second, and 60 is assigned to $third. If the values of two variables must be interchanged, this can be done with a single assignment, as with</a:t>
            </a:r>
          </a:p>
          <a:p>
            <a:r>
              <a:rPr lang="en-US" sz="3000" b="1" dirty="0" smtClean="0"/>
              <a:t>($first, $second) = ($second, $first);</a:t>
            </a:r>
            <a:endParaRPr lang="en-US" sz="3000" dirty="0" smtClean="0"/>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fontScale="92500" lnSpcReduction="10000"/>
          </a:bodyPr>
          <a:lstStyle/>
          <a:p>
            <a:pPr>
              <a:buNone/>
            </a:pPr>
            <a:r>
              <a:rPr lang="en-US" b="1" dirty="0" smtClean="0"/>
              <a:t>Mixed-Mode Assignment</a:t>
            </a:r>
          </a:p>
          <a:p>
            <a:pPr>
              <a:buNone/>
            </a:pPr>
            <a:r>
              <a:rPr lang="en-US" dirty="0" smtClean="0"/>
              <a:t> </a:t>
            </a:r>
          </a:p>
          <a:p>
            <a:r>
              <a:rPr lang="en-US" sz="3000" b="1" dirty="0" smtClean="0"/>
              <a:t>Assignment statements also are mixed mode.</a:t>
            </a:r>
            <a:endParaRPr lang="en-US" sz="3000" dirty="0" smtClean="0"/>
          </a:p>
          <a:p>
            <a:r>
              <a:rPr lang="en-US" sz="3000" dirty="0" smtClean="0"/>
              <a:t>C, C++, and Perl use coercion rules for </a:t>
            </a:r>
            <a:r>
              <a:rPr lang="en-US" sz="3000" b="1" dirty="0" smtClean="0"/>
              <a:t>mixed-mode assignment </a:t>
            </a:r>
            <a:r>
              <a:rPr lang="en-US" sz="3000" dirty="0" smtClean="0"/>
              <a:t>that are similar to those they use for mixed-mode expressions</a:t>
            </a:r>
          </a:p>
          <a:p>
            <a:r>
              <a:rPr lang="en-US" sz="3000" dirty="0" smtClean="0"/>
              <a:t>an </a:t>
            </a:r>
            <a:r>
              <a:rPr lang="en-US" sz="3000" dirty="0" err="1" smtClean="0"/>
              <a:t>int</a:t>
            </a:r>
            <a:r>
              <a:rPr lang="en-US" sz="3000" dirty="0" smtClean="0"/>
              <a:t> value can be assigned to a float variable, but not vice versa</a:t>
            </a:r>
          </a:p>
          <a:p>
            <a:r>
              <a:rPr lang="en-US" sz="3000" dirty="0" smtClean="0"/>
              <a:t>If an integer literal, which the compiler by </a:t>
            </a:r>
            <a:r>
              <a:rPr lang="en-US" sz="3000" b="1" dirty="0" smtClean="0"/>
              <a:t>default assigns the type </a:t>
            </a:r>
            <a:r>
              <a:rPr lang="en-US" sz="3000" b="1" dirty="0" err="1" smtClean="0"/>
              <a:t>int</a:t>
            </a:r>
            <a:r>
              <a:rPr lang="en-US" sz="3000" b="1" dirty="0" smtClean="0"/>
              <a:t>, is assigned to a char, byte, or short variable and the literal is in the range of the type of the variable</a:t>
            </a:r>
            <a:r>
              <a:rPr lang="en-US" sz="3000" dirty="0" smtClean="0"/>
              <a:t>, the </a:t>
            </a:r>
            <a:r>
              <a:rPr lang="en-US" sz="3000" dirty="0" err="1" smtClean="0"/>
              <a:t>int</a:t>
            </a:r>
            <a:r>
              <a:rPr lang="en-US" sz="3000" dirty="0" smtClean="0"/>
              <a:t> value is coerced to the type of the variable in a narrowing conversion</a:t>
            </a:r>
          </a:p>
          <a:p>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lstStyle/>
          <a:p>
            <a:pPr lvl="0">
              <a:buNone/>
            </a:pPr>
            <a:r>
              <a:rPr lang="en-US" b="1" dirty="0" smtClean="0"/>
              <a:t>Statement-Level Control Structures</a:t>
            </a:r>
          </a:p>
          <a:p>
            <a:r>
              <a:rPr lang="en-US" sz="2400" dirty="0" smtClean="0"/>
              <a:t>some means of selecting among alternative control flow paths (of statement execution) and some means of causing the repeated execution of statements or sequences of statements. Statements that provide these kinds of capabilities are called </a:t>
            </a:r>
            <a:r>
              <a:rPr lang="en-US" sz="2400" b="1" dirty="0" smtClean="0"/>
              <a:t>control statements</a:t>
            </a:r>
            <a:r>
              <a:rPr lang="en-US" sz="2400" dirty="0" smtClean="0"/>
              <a:t>.</a:t>
            </a:r>
          </a:p>
          <a:p>
            <a:r>
              <a:rPr lang="en-US" sz="2400" dirty="0" smtClean="0"/>
              <a:t>A </a:t>
            </a:r>
            <a:r>
              <a:rPr lang="en-US" sz="2400" b="1" dirty="0" smtClean="0"/>
              <a:t>control structure </a:t>
            </a:r>
            <a:r>
              <a:rPr lang="en-US" sz="2400" dirty="0" smtClean="0"/>
              <a:t>is a control statement and the collection of statements whose execution it controls.</a:t>
            </a:r>
          </a:p>
          <a:p>
            <a:r>
              <a:rPr lang="en-US" sz="2400" dirty="0" smtClean="0"/>
              <a:t>The control statements of the first successful programming language, Fortran, were, in effect, designed by the architects of the IBM 704.</a:t>
            </a:r>
            <a:endParaRPr lang="en-US" sz="2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pPr>
              <a:buNone/>
            </a:pPr>
            <a:r>
              <a:rPr lang="en-US" b="1" dirty="0" smtClean="0"/>
              <a:t>Selection Statements</a:t>
            </a:r>
          </a:p>
          <a:p>
            <a:r>
              <a:rPr lang="en-US" sz="2400" dirty="0" smtClean="0"/>
              <a:t>A </a:t>
            </a:r>
            <a:r>
              <a:rPr lang="en-US" sz="2400" b="1" dirty="0" smtClean="0"/>
              <a:t>selection statement </a:t>
            </a:r>
            <a:r>
              <a:rPr lang="en-US" sz="2400" dirty="0" smtClean="0"/>
              <a:t>provides the means of choosing between two or more execution paths in a program. Such statements are fundamental and essential parts of all programming languages, as was proven by </a:t>
            </a:r>
            <a:r>
              <a:rPr lang="en-US" sz="2400" dirty="0" err="1" smtClean="0"/>
              <a:t>Böhm</a:t>
            </a:r>
            <a:r>
              <a:rPr lang="en-US" sz="2400" dirty="0" smtClean="0"/>
              <a:t> and </a:t>
            </a:r>
            <a:r>
              <a:rPr lang="en-US" sz="2400" dirty="0" err="1" smtClean="0"/>
              <a:t>Jacopini</a:t>
            </a:r>
            <a:r>
              <a:rPr lang="en-US" sz="2400" dirty="0" smtClean="0"/>
              <a:t>.</a:t>
            </a:r>
          </a:p>
          <a:p>
            <a:r>
              <a:rPr lang="en-US" sz="2400" dirty="0" smtClean="0"/>
              <a:t>Selection statements fall into two general categories: </a:t>
            </a:r>
            <a:endParaRPr lang="en-US" sz="2400" dirty="0" smtClean="0"/>
          </a:p>
          <a:p>
            <a:r>
              <a:rPr lang="en-US" sz="2400" b="1" dirty="0" smtClean="0"/>
              <a:t>T</a:t>
            </a:r>
            <a:r>
              <a:rPr lang="en-US" sz="2400" b="1" dirty="0" smtClean="0"/>
              <a:t>wo-way and</a:t>
            </a:r>
          </a:p>
          <a:p>
            <a:r>
              <a:rPr lang="en-US" sz="2400" b="1" dirty="0" smtClean="0"/>
              <a:t> </a:t>
            </a:r>
            <a:r>
              <a:rPr lang="en-US" sz="2400" b="1" dirty="0" smtClean="0"/>
              <a:t>n-way, or multiple selection. </a:t>
            </a:r>
            <a:endParaRPr lang="en-US" sz="2400" b="1" dirty="0" smtClean="0"/>
          </a:p>
          <a:p>
            <a:pPr marL="342900" lvl="2" indent="-342900">
              <a:buNone/>
            </a:pPr>
            <a:r>
              <a:rPr lang="en-US" b="1" dirty="0" smtClean="0"/>
              <a:t>Two-Way Selection Statements</a:t>
            </a:r>
          </a:p>
          <a:p>
            <a:r>
              <a:rPr lang="en-US" sz="2400" dirty="0" smtClean="0"/>
              <a:t>Although the two-way selection statements of contemporary imperative languages are quite similar, there are some variations in their designs. The general form of a two-way selector is as follows:</a:t>
            </a:r>
          </a:p>
          <a:p>
            <a:endParaRPr lang="en-US" sz="24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fontScale="92500" lnSpcReduction="20000"/>
          </a:bodyPr>
          <a:lstStyle/>
          <a:p>
            <a:r>
              <a:rPr lang="en-US" sz="2600" b="1" dirty="0" smtClean="0"/>
              <a:t>If  </a:t>
            </a:r>
            <a:r>
              <a:rPr lang="en-US" sz="2600" dirty="0" err="1" smtClean="0"/>
              <a:t>control_expression</a:t>
            </a:r>
            <a:r>
              <a:rPr lang="en-US" sz="2600" dirty="0" smtClean="0"/>
              <a:t> </a:t>
            </a:r>
            <a:endParaRPr lang="en-US" sz="2600" dirty="0" smtClean="0"/>
          </a:p>
          <a:p>
            <a:r>
              <a:rPr lang="en-US" sz="2600" dirty="0" smtClean="0"/>
              <a:t>then </a:t>
            </a:r>
            <a:r>
              <a:rPr lang="en-US" sz="2600" dirty="0" smtClean="0"/>
              <a:t>clause</a:t>
            </a:r>
          </a:p>
          <a:p>
            <a:r>
              <a:rPr lang="en-US" sz="2600" dirty="0" smtClean="0"/>
              <a:t>else clause</a:t>
            </a:r>
          </a:p>
          <a:p>
            <a:pPr marL="342900" lvl="3" indent="-342900">
              <a:buNone/>
            </a:pPr>
            <a:r>
              <a:rPr lang="en-US" sz="2600" b="1" dirty="0" smtClean="0"/>
              <a:t>Design Issues</a:t>
            </a:r>
          </a:p>
          <a:p>
            <a:r>
              <a:rPr lang="en-US" sz="2600" dirty="0" smtClean="0"/>
              <a:t>The design issues for two-way selectors can be summarized as follows:</a:t>
            </a:r>
          </a:p>
          <a:p>
            <a:r>
              <a:rPr lang="en-US" sz="2600" dirty="0" smtClean="0"/>
              <a:t> What is the form and type of the expression that controls the selection?  How are the then and else clauses specified?</a:t>
            </a:r>
          </a:p>
          <a:p>
            <a:r>
              <a:rPr lang="en-US" sz="2600" dirty="0" smtClean="0"/>
              <a:t>  How should the meaning of nested selectors be </a:t>
            </a:r>
            <a:r>
              <a:rPr lang="en-US" sz="2600" dirty="0" smtClean="0"/>
              <a:t>specified</a:t>
            </a:r>
          </a:p>
          <a:p>
            <a:endParaRPr lang="en-US" sz="2400" dirty="0" smtClean="0"/>
          </a:p>
          <a:p>
            <a:pPr>
              <a:buNone/>
            </a:pPr>
            <a:r>
              <a:rPr lang="en-US" sz="2600" b="1" dirty="0" smtClean="0"/>
              <a:t>The </a:t>
            </a:r>
            <a:r>
              <a:rPr lang="en-US" sz="2600" b="1" dirty="0" smtClean="0"/>
              <a:t>Control Expression</a:t>
            </a:r>
          </a:p>
          <a:p>
            <a:r>
              <a:rPr lang="en-US" sz="2600" dirty="0" smtClean="0"/>
              <a:t>Control expressions are specified in parentheses if the </a:t>
            </a:r>
            <a:r>
              <a:rPr lang="en-US" sz="2600" b="1" dirty="0" smtClean="0"/>
              <a:t>then </a:t>
            </a:r>
            <a:r>
              <a:rPr lang="en-US" sz="2600" dirty="0" smtClean="0"/>
              <a:t>reserved word (or some other syntactic marker) is not used to introduce the then clause. In those cases where the </a:t>
            </a:r>
            <a:r>
              <a:rPr lang="en-US" sz="2600" b="1" dirty="0" smtClean="0"/>
              <a:t>then </a:t>
            </a:r>
            <a:r>
              <a:rPr lang="en-US" sz="2600" dirty="0" smtClean="0"/>
              <a:t>reserved word (or alternative marker) is used, there is less need for the parentheses, so they are often omitted, as in Ruby.</a:t>
            </a:r>
          </a:p>
          <a:p>
            <a:r>
              <a:rPr lang="en-US" sz="2400" dirty="0" smtClean="0"/>
              <a:t/>
            </a:r>
            <a:br>
              <a:rPr lang="en-US" sz="2400" dirty="0" smtClean="0"/>
            </a:br>
            <a:endParaRPr lang="en-US" sz="2400" dirty="0" smtClean="0"/>
          </a:p>
          <a:p>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096000"/>
          </a:xfrm>
        </p:spPr>
        <p:txBody>
          <a:bodyPr>
            <a:normAutofit/>
          </a:bodyPr>
          <a:lstStyle/>
          <a:p>
            <a:pPr marL="342900" lvl="3" indent="-342900">
              <a:buNone/>
            </a:pPr>
            <a:r>
              <a:rPr lang="en-US" sz="2400" b="1" dirty="0" smtClean="0"/>
              <a:t>Nesting Selectors</a:t>
            </a:r>
          </a:p>
          <a:p>
            <a:r>
              <a:rPr lang="en-US" sz="2400" b="1" dirty="0" smtClean="0"/>
              <a:t>if </a:t>
            </a:r>
            <a:r>
              <a:rPr lang="en-US" sz="2400" dirty="0" smtClean="0"/>
              <a:t>(sum == 0) {</a:t>
            </a:r>
          </a:p>
          <a:p>
            <a:r>
              <a:rPr lang="en-US" sz="2400" b="1" dirty="0" smtClean="0"/>
              <a:t>if </a:t>
            </a:r>
            <a:r>
              <a:rPr lang="en-US" sz="2400" dirty="0" smtClean="0"/>
              <a:t>(count == 0) { result = 0;</a:t>
            </a:r>
          </a:p>
          <a:p>
            <a:r>
              <a:rPr lang="en-US" sz="2400" dirty="0" smtClean="0"/>
              <a:t>}</a:t>
            </a:r>
          </a:p>
          <a:p>
            <a:r>
              <a:rPr lang="en-US" sz="2400" dirty="0" smtClean="0"/>
              <a:t>} </a:t>
            </a:r>
            <a:r>
              <a:rPr lang="en-US" sz="2400" b="1" dirty="0" smtClean="0"/>
              <a:t>else </a:t>
            </a:r>
            <a:r>
              <a:rPr lang="en-US" sz="2400" dirty="0" smtClean="0"/>
              <a:t>{</a:t>
            </a:r>
          </a:p>
          <a:p>
            <a:r>
              <a:rPr lang="en-US" sz="2400" dirty="0" smtClean="0"/>
              <a:t>result = 1;</a:t>
            </a:r>
          </a:p>
          <a:p>
            <a:r>
              <a:rPr lang="en-US" sz="2400" dirty="0" smtClean="0"/>
              <a:t>}</a:t>
            </a:r>
          </a:p>
          <a:p>
            <a:pPr marL="342900" lvl="2" indent="-342900">
              <a:buNone/>
            </a:pPr>
            <a:r>
              <a:rPr lang="en-US" sz="3200" b="1" dirty="0" smtClean="0"/>
              <a:t>Multiple-Selection Statements</a:t>
            </a:r>
          </a:p>
          <a:p>
            <a:r>
              <a:rPr lang="en-US" sz="2800" dirty="0" smtClean="0"/>
              <a:t>The </a:t>
            </a:r>
            <a:r>
              <a:rPr lang="en-US" sz="2800" b="1" dirty="0" smtClean="0"/>
              <a:t>multiple-selection </a:t>
            </a:r>
            <a:r>
              <a:rPr lang="en-US" sz="2800" dirty="0" smtClean="0"/>
              <a:t>statement allows the selection of one of any number of statements or statement groups. It is, therefore, a generalization of a selector. In fact, two-way selectors can be built with a multiple selector</a:t>
            </a:r>
            <a:endParaRPr lang="en-US" sz="2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pPr marL="342900" lvl="3" indent="-342900">
              <a:buNone/>
            </a:pPr>
            <a:r>
              <a:rPr lang="en-US" sz="2800" b="1" dirty="0" smtClean="0"/>
              <a:t>Design Issues</a:t>
            </a:r>
          </a:p>
          <a:p>
            <a:r>
              <a:rPr lang="en-US" sz="2800" dirty="0" smtClean="0"/>
              <a:t>The following is a summary of these design issues</a:t>
            </a:r>
            <a:r>
              <a:rPr lang="en-US" sz="2800" dirty="0" smtClean="0"/>
              <a:t>:</a:t>
            </a:r>
            <a:r>
              <a:rPr lang="en-US" sz="2800" dirty="0" smtClean="0"/>
              <a:t/>
            </a:r>
            <a:br>
              <a:rPr lang="en-US" sz="2800" dirty="0" smtClean="0"/>
            </a:br>
            <a:r>
              <a:rPr lang="en-US" sz="2800" dirty="0" smtClean="0"/>
              <a:t> What is the form and type of the expression that controls the selection?  How are the selectable segments specified?</a:t>
            </a:r>
          </a:p>
          <a:p>
            <a:r>
              <a:rPr lang="en-US" sz="2800" dirty="0" smtClean="0"/>
              <a:t> Is execution flow through the structure restricted to include just a single selectable segment?</a:t>
            </a:r>
          </a:p>
          <a:p>
            <a:r>
              <a:rPr lang="en-US" sz="2800" dirty="0" smtClean="0"/>
              <a:t>  How are the case values specified?</a:t>
            </a:r>
          </a:p>
          <a:p>
            <a:r>
              <a:rPr lang="en-US" sz="2800" dirty="0" smtClean="0"/>
              <a:t> How should unrepresented selector expression values be handled, if at all?</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pPr marL="342900" lvl="3" indent="-342900">
              <a:buFont typeface="Arial" pitchFamily="34" charset="0"/>
              <a:buChar char="•"/>
            </a:pPr>
            <a:r>
              <a:rPr lang="en-US" sz="2800" b="1" dirty="0" smtClean="0"/>
              <a:t>Examples of Multiple Selectors</a:t>
            </a:r>
          </a:p>
          <a:p>
            <a:r>
              <a:rPr lang="en-US" sz="2400" dirty="0" smtClean="0"/>
              <a:t>The C multiple-selector statement, </a:t>
            </a:r>
            <a:r>
              <a:rPr lang="en-US" sz="2400" b="1" dirty="0" smtClean="0"/>
              <a:t>switch</a:t>
            </a:r>
            <a:r>
              <a:rPr lang="en-US" sz="2400" dirty="0" smtClean="0"/>
              <a:t>, which is also part of C++, Java, and JavaScript, is a relatively primitive design. Its general form is</a:t>
            </a:r>
          </a:p>
          <a:p>
            <a:r>
              <a:rPr lang="en-US" sz="2400" b="1" dirty="0" smtClean="0"/>
              <a:t>switch </a:t>
            </a:r>
            <a:r>
              <a:rPr lang="en-US" sz="2400" dirty="0" smtClean="0"/>
              <a:t>(expression) {</a:t>
            </a:r>
          </a:p>
          <a:p>
            <a:r>
              <a:rPr lang="en-US" sz="2400" b="1" dirty="0" smtClean="0"/>
              <a:t>case </a:t>
            </a:r>
            <a:r>
              <a:rPr lang="en-US" sz="2400" dirty="0" smtClean="0"/>
              <a:t>constant_ expression1: statement1</a:t>
            </a:r>
            <a:r>
              <a:rPr lang="en-US" sz="2400" dirty="0" smtClean="0"/>
              <a:t>;</a:t>
            </a:r>
          </a:p>
          <a:p>
            <a:r>
              <a:rPr lang="en-US" sz="2400" dirty="0" smtClean="0"/>
              <a:t>……. </a:t>
            </a:r>
            <a:r>
              <a:rPr lang="en-US" sz="2400" dirty="0" smtClean="0"/>
              <a:t>. </a:t>
            </a:r>
            <a:r>
              <a:rPr lang="en-US" sz="2400" dirty="0" smtClean="0"/>
              <a:t>.</a:t>
            </a:r>
            <a:endParaRPr lang="en-US" sz="2400" dirty="0" smtClean="0"/>
          </a:p>
          <a:p>
            <a:r>
              <a:rPr lang="en-US" sz="2400" b="1" dirty="0" smtClean="0"/>
              <a:t>case </a:t>
            </a:r>
            <a:r>
              <a:rPr lang="en-US" sz="2400" dirty="0" err="1" smtClean="0"/>
              <a:t>constantn</a:t>
            </a:r>
            <a:r>
              <a:rPr lang="en-US" sz="2400" dirty="0" smtClean="0"/>
              <a:t>: </a:t>
            </a:r>
            <a:r>
              <a:rPr lang="en-US" sz="2400" dirty="0" err="1" smtClean="0"/>
              <a:t>statement_n</a:t>
            </a:r>
            <a:r>
              <a:rPr lang="en-US" sz="2400" dirty="0" smtClean="0"/>
              <a:t>; [</a:t>
            </a:r>
            <a:r>
              <a:rPr lang="en-US" sz="2400" b="1" dirty="0" smtClean="0"/>
              <a:t>default</a:t>
            </a:r>
            <a:r>
              <a:rPr lang="en-US" sz="2400" dirty="0" smtClean="0"/>
              <a:t>: statementn+1]</a:t>
            </a:r>
          </a:p>
          <a:p>
            <a:r>
              <a:rPr lang="en-US" sz="2400" dirty="0" smtClean="0"/>
              <a:t>}</a:t>
            </a:r>
          </a:p>
          <a:p>
            <a:r>
              <a:rPr lang="en-US" sz="2400" dirty="0" smtClean="0"/>
              <a:t>where the control expression and the constant expressions are some discrete type. This includes integer types, as well as characters and enumeration types.</a:t>
            </a:r>
          </a:p>
          <a:p>
            <a:pPr>
              <a:buNone/>
            </a:pP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6019800"/>
          </a:xfrm>
        </p:spPr>
        <p:txBody>
          <a:bodyPr>
            <a:normAutofit/>
          </a:bodyPr>
          <a:lstStyle/>
          <a:p>
            <a:r>
              <a:rPr lang="en-US" sz="2400" dirty="0" smtClean="0"/>
              <a:t>This includes integer types, as well as characters and enumeration types. The selectable statements can be statement sequences, compound statements, or blocks. The optional </a:t>
            </a:r>
            <a:r>
              <a:rPr lang="en-US" sz="2400" b="1" dirty="0" smtClean="0"/>
              <a:t>default </a:t>
            </a:r>
            <a:r>
              <a:rPr lang="en-US" sz="2400" dirty="0" smtClean="0"/>
              <a:t>segment is for unrepresented values of the control expression. If the value of the control expression is not represented and no default segment is present, then the statement </a:t>
            </a:r>
            <a:r>
              <a:rPr lang="en-US" sz="2400" dirty="0" smtClean="0"/>
              <a:t>does nothing</a:t>
            </a:r>
            <a:r>
              <a:rPr lang="en-US" sz="2400" dirty="0" smtClean="0"/>
              <a:t>.</a:t>
            </a:r>
          </a:p>
          <a:p>
            <a:r>
              <a:rPr lang="en-US" sz="2400" dirty="0" smtClean="0"/>
              <a:t>The </a:t>
            </a:r>
            <a:r>
              <a:rPr lang="en-US" sz="2400" b="1" dirty="0" smtClean="0"/>
              <a:t>switch </a:t>
            </a:r>
            <a:r>
              <a:rPr lang="en-US" sz="2400" dirty="0" smtClean="0"/>
              <a:t>statement does not provide implicit branches at the end of its code segments. This allows control to flow through more than one selectable code segment on a single execution. Consider the following example:</a:t>
            </a:r>
          </a:p>
          <a:p>
            <a:r>
              <a:rPr lang="en-US" sz="2400" b="1" dirty="0" smtClean="0"/>
              <a:t>switch </a:t>
            </a:r>
            <a:r>
              <a:rPr lang="en-US" sz="2400" dirty="0" smtClean="0"/>
              <a:t>(index) {</a:t>
            </a:r>
          </a:p>
          <a:p>
            <a:r>
              <a:rPr lang="en-US" sz="2400" b="1" dirty="0" smtClean="0"/>
              <a:t>case </a:t>
            </a:r>
            <a:r>
              <a:rPr lang="en-US" sz="2400" dirty="0" smtClean="0"/>
              <a:t>1:</a:t>
            </a:r>
          </a:p>
          <a:p>
            <a:r>
              <a:rPr lang="en-US" sz="2400" b="1" dirty="0" smtClean="0"/>
              <a:t>case </a:t>
            </a:r>
            <a:r>
              <a:rPr lang="en-US" sz="2400" dirty="0" smtClean="0"/>
              <a:t>3: odd += 1;</a:t>
            </a:r>
          </a:p>
          <a:p>
            <a:r>
              <a:rPr lang="en-US" sz="2400" dirty="0" err="1" smtClean="0"/>
              <a:t>sumodd</a:t>
            </a:r>
            <a:r>
              <a:rPr lang="en-US" sz="2400" dirty="0" smtClean="0"/>
              <a:t> += index;</a:t>
            </a:r>
          </a:p>
          <a:p>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fontScale="92500" lnSpcReduction="20000"/>
          </a:bodyPr>
          <a:lstStyle/>
          <a:p>
            <a:r>
              <a:rPr lang="en-US" sz="2400" b="1" dirty="0" smtClean="0"/>
              <a:t>case </a:t>
            </a:r>
            <a:r>
              <a:rPr lang="en-US" sz="2400" dirty="0" smtClean="0"/>
              <a:t>2:</a:t>
            </a:r>
          </a:p>
          <a:p>
            <a:r>
              <a:rPr lang="en-US" sz="2400" b="1" dirty="0" smtClean="0"/>
              <a:t>case </a:t>
            </a:r>
            <a:r>
              <a:rPr lang="en-US" sz="2400" dirty="0" smtClean="0"/>
              <a:t>4: even += 1;</a:t>
            </a:r>
          </a:p>
          <a:p>
            <a:r>
              <a:rPr lang="en-US" sz="2400" dirty="0" err="1" smtClean="0"/>
              <a:t>sumeven</a:t>
            </a:r>
            <a:r>
              <a:rPr lang="en-US" sz="2400" dirty="0" smtClean="0"/>
              <a:t> += index;</a:t>
            </a:r>
          </a:p>
          <a:p>
            <a:r>
              <a:rPr lang="en-US" sz="2400" b="1" dirty="0" smtClean="0"/>
              <a:t>default</a:t>
            </a:r>
            <a:r>
              <a:rPr lang="en-US" sz="2400" dirty="0" smtClean="0"/>
              <a:t>: </a:t>
            </a:r>
            <a:r>
              <a:rPr lang="en-US" sz="2400" dirty="0" err="1" smtClean="0"/>
              <a:t>printf</a:t>
            </a:r>
            <a:r>
              <a:rPr lang="en-US" sz="2400" dirty="0" smtClean="0"/>
              <a:t>("Error in switch, index = %d\n", index);</a:t>
            </a:r>
          </a:p>
          <a:p>
            <a:r>
              <a:rPr lang="en-US" sz="2400" dirty="0" smtClean="0"/>
              <a:t>}</a:t>
            </a:r>
          </a:p>
          <a:p>
            <a:r>
              <a:rPr lang="en-US" sz="2400" dirty="0" smtClean="0"/>
              <a:t>The following </a:t>
            </a:r>
            <a:r>
              <a:rPr lang="en-US" sz="2400" b="1" dirty="0" smtClean="0"/>
              <a:t>switch </a:t>
            </a:r>
            <a:r>
              <a:rPr lang="en-US" sz="2400" dirty="0" smtClean="0"/>
              <a:t>statement uses </a:t>
            </a:r>
            <a:r>
              <a:rPr lang="en-US" sz="2400" b="1" dirty="0" smtClean="0"/>
              <a:t>break </a:t>
            </a:r>
            <a:r>
              <a:rPr lang="en-US" sz="2400" dirty="0" smtClean="0"/>
              <a:t>to restrict each execution to a single selectable segment:</a:t>
            </a:r>
          </a:p>
          <a:p>
            <a:r>
              <a:rPr lang="en-US" sz="2400" b="1" dirty="0" smtClean="0"/>
              <a:t>switch </a:t>
            </a:r>
            <a:r>
              <a:rPr lang="en-US" sz="2400" dirty="0" smtClean="0"/>
              <a:t>(index) {</a:t>
            </a:r>
          </a:p>
          <a:p>
            <a:r>
              <a:rPr lang="en-US" sz="2400" b="1" dirty="0" smtClean="0"/>
              <a:t>case </a:t>
            </a:r>
            <a:r>
              <a:rPr lang="en-US" sz="2400" dirty="0" smtClean="0"/>
              <a:t>1:</a:t>
            </a:r>
          </a:p>
          <a:p>
            <a:r>
              <a:rPr lang="en-US" sz="2400" b="1" dirty="0" smtClean="0"/>
              <a:t>case </a:t>
            </a:r>
            <a:r>
              <a:rPr lang="en-US" sz="2400" dirty="0" smtClean="0"/>
              <a:t>3: odd += 1;</a:t>
            </a:r>
          </a:p>
          <a:p>
            <a:r>
              <a:rPr lang="en-US" sz="2400" dirty="0" err="1" smtClean="0"/>
              <a:t>sumodd</a:t>
            </a:r>
            <a:r>
              <a:rPr lang="en-US" sz="2400" dirty="0" smtClean="0"/>
              <a:t> += index;</a:t>
            </a:r>
          </a:p>
          <a:p>
            <a:r>
              <a:rPr lang="en-US" sz="2400" b="1" dirty="0" smtClean="0"/>
              <a:t>break</a:t>
            </a:r>
            <a:r>
              <a:rPr lang="en-US" sz="2400" dirty="0" smtClean="0"/>
              <a:t>;</a:t>
            </a:r>
          </a:p>
          <a:p>
            <a:r>
              <a:rPr lang="en-US" sz="2400" b="1" dirty="0" smtClean="0"/>
              <a:t>case </a:t>
            </a:r>
            <a:r>
              <a:rPr lang="en-US" sz="2400" dirty="0" smtClean="0"/>
              <a:t>2:</a:t>
            </a:r>
          </a:p>
          <a:p>
            <a:r>
              <a:rPr lang="en-US" sz="2400" b="1" dirty="0" smtClean="0"/>
              <a:t>case </a:t>
            </a:r>
            <a:r>
              <a:rPr lang="en-US" sz="2400" dirty="0" smtClean="0"/>
              <a:t>4: even += 1;</a:t>
            </a:r>
          </a:p>
          <a:p>
            <a:r>
              <a:rPr lang="en-US" sz="2400" dirty="0" err="1" smtClean="0"/>
              <a:t>sumeven</a:t>
            </a:r>
            <a:r>
              <a:rPr lang="en-US" sz="2400" dirty="0" smtClean="0"/>
              <a:t> += index;</a:t>
            </a:r>
          </a:p>
          <a:p>
            <a:r>
              <a:rPr lang="en-US" sz="2400" b="1" dirty="0" smtClean="0"/>
              <a:t>break</a:t>
            </a:r>
            <a:r>
              <a:rPr lang="en-US" sz="2400" dirty="0" smtClean="0"/>
              <a:t>;</a:t>
            </a:r>
          </a:p>
          <a:p>
            <a:r>
              <a:rPr lang="en-US" sz="2400" b="1" dirty="0" smtClean="0"/>
              <a:t>default</a:t>
            </a:r>
            <a:r>
              <a:rPr lang="en-US" sz="2400" dirty="0" smtClean="0"/>
              <a:t>: </a:t>
            </a:r>
            <a:r>
              <a:rPr lang="en-US" sz="2400" dirty="0" err="1" smtClean="0"/>
              <a:t>printf</a:t>
            </a:r>
            <a:r>
              <a:rPr lang="en-US" sz="2400" dirty="0" smtClean="0"/>
              <a:t>("Error in switch, index = %d\n", index);</a:t>
            </a:r>
          </a:p>
          <a:p>
            <a:r>
              <a:rPr lang="en-US" sz="2400" dirty="0" smtClean="0"/>
              <a:t>}</a:t>
            </a:r>
          </a:p>
          <a:p>
            <a:endParaRPr lang="en-US" sz="2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lstStyle/>
          <a:p>
            <a:pPr>
              <a:buNone/>
            </a:pPr>
            <a:r>
              <a:rPr lang="en-US" b="1" dirty="0" smtClean="0"/>
              <a:t>Iterative </a:t>
            </a:r>
            <a:r>
              <a:rPr lang="en-US" b="1" dirty="0" smtClean="0"/>
              <a:t>Statements</a:t>
            </a:r>
          </a:p>
          <a:p>
            <a:r>
              <a:rPr lang="en-US" sz="2800" dirty="0" smtClean="0"/>
              <a:t>An </a:t>
            </a:r>
            <a:r>
              <a:rPr lang="en-US" sz="2800" b="1" dirty="0" smtClean="0"/>
              <a:t>iterative statement </a:t>
            </a:r>
            <a:r>
              <a:rPr lang="en-US" sz="2800" dirty="0" smtClean="0"/>
              <a:t>is one that causes a statement or collection of statements to be executed zero, one, or more times. </a:t>
            </a:r>
            <a:endParaRPr lang="en-US" sz="2800" dirty="0" smtClean="0"/>
          </a:p>
          <a:p>
            <a:r>
              <a:rPr lang="en-US" sz="2800" dirty="0" smtClean="0"/>
              <a:t>An </a:t>
            </a:r>
            <a:r>
              <a:rPr lang="en-US" sz="2800" dirty="0" smtClean="0"/>
              <a:t>iterative statement is often called a </a:t>
            </a:r>
            <a:r>
              <a:rPr lang="en-US" sz="2800" b="1" dirty="0" smtClean="0"/>
              <a:t>loop</a:t>
            </a:r>
            <a:r>
              <a:rPr lang="en-US" sz="2800" dirty="0" smtClean="0"/>
              <a:t>.</a:t>
            </a:r>
          </a:p>
          <a:p>
            <a:r>
              <a:rPr lang="en-US" sz="2800" dirty="0" smtClean="0"/>
              <a:t>Several categories of iteration control statements have been developed. The primary categories are defined by how designers answered two basic design questions:</a:t>
            </a:r>
          </a:p>
          <a:p>
            <a:r>
              <a:rPr lang="en-US" sz="2800" dirty="0" smtClean="0"/>
              <a:t>  How is the iteration controlled?</a:t>
            </a:r>
          </a:p>
          <a:p>
            <a:r>
              <a:rPr lang="en-US" sz="2800" dirty="0" smtClean="0"/>
              <a:t>  Where should the control mechanism appear in the loop statement?</a:t>
            </a:r>
          </a:p>
          <a:p>
            <a:endParaRPr lang="en-US"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a:bodyPr>
          <a:lstStyle/>
          <a:p>
            <a:r>
              <a:rPr lang="en-US" sz="2400" dirty="0" smtClean="0"/>
              <a:t>The </a:t>
            </a:r>
            <a:r>
              <a:rPr lang="en-US" sz="2400" b="1" dirty="0" smtClean="0"/>
              <a:t>body </a:t>
            </a:r>
            <a:r>
              <a:rPr lang="en-US" sz="2400" dirty="0" smtClean="0"/>
              <a:t>of an iterative statement is the collection of statements whose execution is controlled by the iteration statement. We use the term </a:t>
            </a:r>
            <a:r>
              <a:rPr lang="en-US" sz="2400" b="1" dirty="0" smtClean="0"/>
              <a:t>pretest </a:t>
            </a:r>
            <a:r>
              <a:rPr lang="en-US" sz="2400" dirty="0" smtClean="0"/>
              <a:t>to mean that the test for loop completion occurs before the loop body is executed and </a:t>
            </a:r>
            <a:r>
              <a:rPr lang="en-US" sz="2400" b="1" dirty="0" smtClean="0"/>
              <a:t>posttest </a:t>
            </a:r>
            <a:r>
              <a:rPr lang="en-US" sz="2400" dirty="0" smtClean="0"/>
              <a:t>to mean that it occurs after the loop body is executed. The iteration statement and the associated loop body together form an </a:t>
            </a:r>
            <a:r>
              <a:rPr lang="en-US" sz="2400" b="1" dirty="0" smtClean="0"/>
              <a:t>iteration </a:t>
            </a:r>
            <a:r>
              <a:rPr lang="en-US" sz="2400" b="1" dirty="0" smtClean="0"/>
              <a:t>statement</a:t>
            </a:r>
          </a:p>
          <a:p>
            <a:pPr>
              <a:buNone/>
            </a:pPr>
            <a:r>
              <a:rPr lang="en-US" sz="2800" b="1" dirty="0" smtClean="0"/>
              <a:t>Counter-Controlled </a:t>
            </a:r>
            <a:r>
              <a:rPr lang="en-US" sz="2800" b="1" dirty="0" smtClean="0"/>
              <a:t>Loops</a:t>
            </a:r>
          </a:p>
          <a:p>
            <a:r>
              <a:rPr lang="en-US" sz="2400" dirty="0" smtClean="0"/>
              <a:t>A counting iterative control statement has a variable, called the </a:t>
            </a:r>
            <a:r>
              <a:rPr lang="en-US" sz="2400" b="1" dirty="0" smtClean="0"/>
              <a:t>loop variable</a:t>
            </a:r>
            <a:r>
              <a:rPr lang="en-US" sz="2400" dirty="0" smtClean="0"/>
              <a:t>, in which the count value is maintained. It also includes some means of specifying the </a:t>
            </a:r>
            <a:r>
              <a:rPr lang="en-US" sz="2400" b="1" dirty="0" smtClean="0"/>
              <a:t>initial </a:t>
            </a:r>
            <a:r>
              <a:rPr lang="en-US" sz="2400" dirty="0" smtClean="0"/>
              <a:t>and </a:t>
            </a:r>
            <a:r>
              <a:rPr lang="en-US" sz="2400" b="1" dirty="0" smtClean="0"/>
              <a:t>terminal </a:t>
            </a:r>
            <a:r>
              <a:rPr lang="en-US" sz="2400" dirty="0" smtClean="0"/>
              <a:t>values of the loop variable, and the difference between sequential loop variable values, often called the </a:t>
            </a:r>
            <a:r>
              <a:rPr lang="en-US" sz="2400" b="1" dirty="0" err="1" smtClean="0"/>
              <a:t>stepsize</a:t>
            </a:r>
            <a:r>
              <a:rPr lang="en-US" sz="2400" dirty="0" smtClean="0"/>
              <a:t>. The initial, terminal, and </a:t>
            </a:r>
            <a:r>
              <a:rPr lang="en-US" sz="2400" dirty="0" err="1" smtClean="0"/>
              <a:t>stepsize</a:t>
            </a:r>
            <a:r>
              <a:rPr lang="en-US" sz="2400" dirty="0" smtClean="0"/>
              <a:t> specifications of a loop are called the </a:t>
            </a:r>
            <a:r>
              <a:rPr lang="en-US" sz="2400" b="1" dirty="0" smtClean="0"/>
              <a:t>loop parameters</a:t>
            </a:r>
            <a:r>
              <a:rPr lang="en-US" sz="2400" dirty="0" smtClean="0"/>
              <a:t>.</a:t>
            </a:r>
          </a:p>
          <a:p>
            <a:endParaRPr lang="en-US" sz="2800" b="1"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r>
              <a:rPr lang="en-US" sz="2400" dirty="0" smtClean="0"/>
              <a:t>Although logically controlled loops are more general than counter-controlled loops, they are not necessarily more commonly used. Because counter- controlled loops are more complex, their design is more demanding.</a:t>
            </a:r>
          </a:p>
          <a:p>
            <a:pPr>
              <a:buNone/>
            </a:pPr>
            <a:r>
              <a:rPr lang="en-US" sz="2400" b="1" dirty="0" smtClean="0"/>
              <a:t>Design </a:t>
            </a:r>
            <a:r>
              <a:rPr lang="en-US" sz="2400" b="1" dirty="0" smtClean="0"/>
              <a:t>Issues</a:t>
            </a:r>
          </a:p>
          <a:p>
            <a:r>
              <a:rPr lang="en-US" sz="2400" dirty="0" smtClean="0"/>
              <a:t>The following is a summary of these design issues:</a:t>
            </a:r>
          </a:p>
          <a:p>
            <a:r>
              <a:rPr lang="en-US" sz="2400" dirty="0" smtClean="0"/>
              <a:t>  What are the type and scope of the loop variable?</a:t>
            </a:r>
          </a:p>
          <a:p>
            <a:r>
              <a:rPr lang="en-US" sz="2400" dirty="0" smtClean="0"/>
              <a:t> Should it be legal for the loop variable or loop parameters to be changed in the loop, and if so, does the change affect loop control?</a:t>
            </a:r>
          </a:p>
          <a:p>
            <a:r>
              <a:rPr lang="en-US" sz="2400" dirty="0" smtClean="0"/>
              <a:t> Should the loop parameters be evaluated only once, or once for every iteration?</a:t>
            </a:r>
          </a:p>
          <a:p>
            <a:r>
              <a:rPr lang="en-US" sz="2400" dirty="0" smtClean="0"/>
              <a:t>  What is the value of the loop variable after loop termination?</a:t>
            </a:r>
          </a:p>
          <a:p>
            <a:endParaRPr lang="en-US" sz="2400" b="1"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r>
              <a:rPr lang="en-US" sz="2400" b="1" dirty="0" smtClean="0"/>
              <a:t>for </a:t>
            </a:r>
            <a:r>
              <a:rPr lang="en-US" sz="2400" dirty="0" smtClean="0"/>
              <a:t>(expression_1; expression_2; expression_3) </a:t>
            </a:r>
            <a:endParaRPr lang="en-US" sz="2400" dirty="0" smtClean="0"/>
          </a:p>
          <a:p>
            <a:r>
              <a:rPr lang="en-US" sz="2400" dirty="0" smtClean="0"/>
              <a:t>	loop body</a:t>
            </a:r>
          </a:p>
          <a:p>
            <a:r>
              <a:rPr lang="en-US" sz="2400" dirty="0" smtClean="0"/>
              <a:t>The loop body can be a single statement, a compound statement, or a </a:t>
            </a:r>
            <a:r>
              <a:rPr lang="en-US" sz="2400" dirty="0" smtClean="0"/>
              <a:t>null statement.</a:t>
            </a:r>
          </a:p>
          <a:p>
            <a:r>
              <a:rPr lang="en-US" sz="2400" dirty="0" smtClean="0"/>
              <a:t>expression_1 </a:t>
            </a:r>
            <a:endParaRPr lang="en-US" sz="2400" dirty="0" smtClean="0"/>
          </a:p>
          <a:p>
            <a:r>
              <a:rPr lang="en-US" sz="2400" dirty="0" smtClean="0"/>
              <a:t> </a:t>
            </a:r>
            <a:r>
              <a:rPr lang="en-US" sz="2400" dirty="0" smtClean="0"/>
              <a:t>loop:</a:t>
            </a:r>
          </a:p>
          <a:p>
            <a:r>
              <a:rPr lang="en-US" sz="2400" b="1" dirty="0" smtClean="0"/>
              <a:t>if </a:t>
            </a:r>
            <a:r>
              <a:rPr lang="en-US" sz="2400" dirty="0" smtClean="0"/>
              <a:t>expression_2 = 0 </a:t>
            </a:r>
            <a:r>
              <a:rPr lang="en-US" sz="2400" b="1" dirty="0" err="1" smtClean="0"/>
              <a:t>goto</a:t>
            </a:r>
            <a:r>
              <a:rPr lang="en-US" sz="2400" b="1" dirty="0" smtClean="0"/>
              <a:t> </a:t>
            </a:r>
            <a:r>
              <a:rPr lang="en-US" sz="2400" dirty="0" smtClean="0"/>
              <a:t>out </a:t>
            </a:r>
            <a:endParaRPr lang="en-US" sz="2400" dirty="0" smtClean="0"/>
          </a:p>
          <a:p>
            <a:r>
              <a:rPr lang="en-US" sz="2400" dirty="0" smtClean="0"/>
              <a:t>[</a:t>
            </a:r>
            <a:r>
              <a:rPr lang="en-US" sz="2400" dirty="0" smtClean="0"/>
              <a:t>loop body]</a:t>
            </a:r>
          </a:p>
          <a:p>
            <a:r>
              <a:rPr lang="en-US" sz="2400" dirty="0" smtClean="0"/>
              <a:t>expression_3</a:t>
            </a:r>
          </a:p>
          <a:p>
            <a:r>
              <a:rPr lang="en-US" sz="2400" b="1" dirty="0" err="1" smtClean="0"/>
              <a:t>goto</a:t>
            </a:r>
            <a:r>
              <a:rPr lang="en-US" sz="2400" b="1" dirty="0" smtClean="0"/>
              <a:t> </a:t>
            </a:r>
            <a:r>
              <a:rPr lang="en-US" sz="2400" dirty="0" smtClean="0"/>
              <a:t>loop  </a:t>
            </a:r>
            <a:endParaRPr lang="en-US" sz="2400" dirty="0" smtClean="0"/>
          </a:p>
          <a:p>
            <a:r>
              <a:rPr lang="en-US" sz="2400" dirty="0" smtClean="0"/>
              <a:t>out</a:t>
            </a:r>
            <a:r>
              <a:rPr lang="en-US" sz="2400" dirty="0" smtClean="0"/>
              <a:t>: . . .</a:t>
            </a:r>
          </a:p>
          <a:p>
            <a:endParaRPr lang="en-US"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lnSpcReduction="10000"/>
          </a:bodyPr>
          <a:lstStyle/>
          <a:p>
            <a:pPr marL="342900" lvl="1" indent="-342900">
              <a:buNone/>
            </a:pPr>
            <a:r>
              <a:rPr lang="en-US" b="1" dirty="0" smtClean="0"/>
              <a:t>Unconditional Branching</a:t>
            </a:r>
          </a:p>
          <a:p>
            <a:r>
              <a:rPr lang="en-US" sz="2400" dirty="0" smtClean="0"/>
              <a:t>An </a:t>
            </a:r>
            <a:r>
              <a:rPr lang="en-US" sz="2400" b="1" dirty="0" smtClean="0"/>
              <a:t>unconditional branch statement </a:t>
            </a:r>
            <a:r>
              <a:rPr lang="en-US" sz="2400" dirty="0" smtClean="0"/>
              <a:t>transfers execution control to a specified location in the program</a:t>
            </a:r>
            <a:r>
              <a:rPr lang="en-US" sz="2400" dirty="0" smtClean="0"/>
              <a:t>.</a:t>
            </a:r>
          </a:p>
          <a:p>
            <a:r>
              <a:rPr lang="en-US" sz="2400" dirty="0" smtClean="0"/>
              <a:t>The most heated debate in language design in the late 1960s was over the issue of whether unconditional branching should be part of any high-level language, and if so, whether its use should be restricted. </a:t>
            </a:r>
            <a:endParaRPr lang="en-US" sz="2400" dirty="0" smtClean="0"/>
          </a:p>
          <a:p>
            <a:r>
              <a:rPr lang="en-US" sz="2400" dirty="0" smtClean="0"/>
              <a:t>The unconditional branch, or </a:t>
            </a:r>
            <a:r>
              <a:rPr lang="en-US" sz="2400" dirty="0" err="1" smtClean="0"/>
              <a:t>goto</a:t>
            </a:r>
            <a:r>
              <a:rPr lang="en-US" sz="2400" dirty="0" smtClean="0"/>
              <a:t>, is the most powerful statement for controlling the flow of execution of a program’s statements. </a:t>
            </a:r>
            <a:endParaRPr lang="en-US" sz="2400" dirty="0" smtClean="0"/>
          </a:p>
          <a:p>
            <a:r>
              <a:rPr lang="en-US" sz="2400" dirty="0" smtClean="0"/>
              <a:t>The </a:t>
            </a:r>
            <a:r>
              <a:rPr lang="en-US" sz="2400" dirty="0" err="1" smtClean="0"/>
              <a:t>goto</a:t>
            </a:r>
            <a:r>
              <a:rPr lang="en-US" sz="2400" dirty="0" smtClean="0"/>
              <a:t> has stunning power and great flexibility (all other control structures can be built with </a:t>
            </a:r>
            <a:r>
              <a:rPr lang="en-US" sz="2400" dirty="0" err="1" smtClean="0"/>
              <a:t>goto</a:t>
            </a:r>
            <a:r>
              <a:rPr lang="en-US" sz="2400" dirty="0" smtClean="0"/>
              <a:t> and a selector), but it is this power that makes its use </a:t>
            </a:r>
            <a:r>
              <a:rPr lang="en-US" sz="2400" dirty="0" smtClean="0"/>
              <a:t>dangerous.</a:t>
            </a:r>
          </a:p>
          <a:p>
            <a:r>
              <a:rPr lang="en-US" sz="2400" dirty="0" smtClean="0"/>
              <a:t>Without usage restrictions, imposed by either language design or programming standards, </a:t>
            </a:r>
            <a:r>
              <a:rPr lang="en-US" sz="2400" dirty="0" err="1" smtClean="0"/>
              <a:t>goto</a:t>
            </a:r>
            <a:r>
              <a:rPr lang="en-US" sz="2400" dirty="0" smtClean="0"/>
              <a:t> statements can make programs very difficult to read, and as a result, highly unreliable and costly to maintain.</a:t>
            </a:r>
          </a:p>
          <a:p>
            <a:endParaRPr lang="en-US" sz="2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lnSpcReduction="10000"/>
          </a:bodyPr>
          <a:lstStyle/>
          <a:p>
            <a:pPr marL="342900" lvl="1" indent="-342900">
              <a:buNone/>
            </a:pPr>
            <a:r>
              <a:rPr lang="en-US" b="1" dirty="0" smtClean="0"/>
              <a:t>Guarded Commands</a:t>
            </a:r>
          </a:p>
          <a:p>
            <a:r>
              <a:rPr lang="en-US" sz="2400" dirty="0" smtClean="0"/>
              <a:t>The motivation </a:t>
            </a:r>
            <a:r>
              <a:rPr lang="en-US" sz="2400" dirty="0" smtClean="0"/>
              <a:t>is the increased clarity in reasoning that is possible with guarded commands. </a:t>
            </a:r>
            <a:endParaRPr lang="en-US" sz="2400" dirty="0" smtClean="0"/>
          </a:p>
          <a:p>
            <a:r>
              <a:rPr lang="en-US" sz="2400" dirty="0" smtClean="0"/>
              <a:t>Simply </a:t>
            </a:r>
            <a:r>
              <a:rPr lang="en-US" sz="2400" dirty="0" smtClean="0"/>
              <a:t>put, a selectable segment of a selection statement in a guarded-command statement can be considered independently of any other part of the statement, which is not true for the selection statements of the common programming languages</a:t>
            </a:r>
            <a:r>
              <a:rPr lang="en-US" sz="2400" dirty="0" smtClean="0"/>
              <a:t>.</a:t>
            </a:r>
          </a:p>
          <a:p>
            <a:r>
              <a:rPr lang="en-US" sz="2400" dirty="0" smtClean="0"/>
              <a:t>selection statement has the form</a:t>
            </a:r>
          </a:p>
          <a:p>
            <a:r>
              <a:rPr lang="en-US" sz="2400" dirty="0" smtClean="0"/>
              <a:t> </a:t>
            </a:r>
            <a:r>
              <a:rPr lang="en-US" sz="2400" b="1" dirty="0" smtClean="0"/>
              <a:t>if </a:t>
            </a:r>
            <a:r>
              <a:rPr lang="en-US" sz="2400" dirty="0" smtClean="0"/>
              <a:t>&lt;Boolean expression&gt; -&gt; &lt;statement&gt; </a:t>
            </a:r>
            <a:endParaRPr lang="en-US" sz="2400" dirty="0" smtClean="0"/>
          </a:p>
          <a:p>
            <a:r>
              <a:rPr lang="en-US" sz="2400" dirty="0" smtClean="0"/>
              <a:t> </a:t>
            </a:r>
            <a:r>
              <a:rPr lang="en-US" sz="2400" dirty="0" smtClean="0"/>
              <a:t>[] &lt;Boolean expression&gt; -&gt; &lt;statement&gt;</a:t>
            </a:r>
          </a:p>
          <a:p>
            <a:r>
              <a:rPr lang="en-US" sz="2400" dirty="0" smtClean="0"/>
              <a:t>  [] . . .</a:t>
            </a:r>
          </a:p>
          <a:p>
            <a:r>
              <a:rPr lang="en-US" sz="2400" dirty="0" smtClean="0"/>
              <a:t> </a:t>
            </a:r>
          </a:p>
          <a:p>
            <a:r>
              <a:rPr lang="en-US" sz="2400" dirty="0" smtClean="0"/>
              <a:t>  [] &lt;Boolean expression&gt; -&gt; &lt;statement&gt;</a:t>
            </a:r>
          </a:p>
          <a:p>
            <a:r>
              <a:rPr lang="en-US" sz="2400" dirty="0" smtClean="0"/>
              <a:t> </a:t>
            </a:r>
          </a:p>
          <a:p>
            <a:r>
              <a:rPr lang="en-US" sz="2400" dirty="0" smtClean="0"/>
              <a:t> </a:t>
            </a:r>
            <a:r>
              <a:rPr lang="en-US" sz="2400" b="1" dirty="0" err="1" smtClean="0"/>
              <a:t>fi</a:t>
            </a:r>
            <a:endParaRPr lang="en-US" sz="2400" dirty="0" smtClean="0"/>
          </a:p>
          <a:p>
            <a:pPr>
              <a:buNone/>
            </a:pPr>
            <a:endParaRPr lang="en-US" sz="2400" dirty="0" smtClean="0"/>
          </a:p>
          <a:p>
            <a:endParaRPr lang="en-US"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fontScale="92500" lnSpcReduction="10000"/>
          </a:bodyPr>
          <a:lstStyle/>
          <a:p>
            <a:r>
              <a:rPr lang="en-US" sz="2400" dirty="0" smtClean="0"/>
              <a:t>The closing reserved word, </a:t>
            </a:r>
            <a:r>
              <a:rPr lang="en-US" sz="2400" b="1" dirty="0" err="1" smtClean="0"/>
              <a:t>fi</a:t>
            </a:r>
            <a:r>
              <a:rPr lang="en-US" sz="2400" dirty="0" smtClean="0"/>
              <a:t>, is the opening reserved word spelled backward. </a:t>
            </a:r>
            <a:endParaRPr lang="en-US" sz="2400" dirty="0" smtClean="0"/>
          </a:p>
          <a:p>
            <a:r>
              <a:rPr lang="en-US" sz="2400" dirty="0" smtClean="0"/>
              <a:t>This </a:t>
            </a:r>
            <a:r>
              <a:rPr lang="en-US" sz="2400" dirty="0" smtClean="0"/>
              <a:t>form of closing reserved word is taken from ALGOL 68. The small blocks, called </a:t>
            </a:r>
            <a:r>
              <a:rPr lang="en-US" sz="2400" i="1" dirty="0" err="1" smtClean="0"/>
              <a:t>fatbars</a:t>
            </a:r>
            <a:r>
              <a:rPr lang="en-US" sz="2400" dirty="0" smtClean="0"/>
              <a:t>, are used to separate the guarded clauses and allow the clauses to be statement sequences. </a:t>
            </a:r>
            <a:endParaRPr lang="en-US" sz="2400" dirty="0" smtClean="0"/>
          </a:p>
          <a:p>
            <a:r>
              <a:rPr lang="en-US" sz="2400" dirty="0" smtClean="0"/>
              <a:t>Each </a:t>
            </a:r>
            <a:r>
              <a:rPr lang="en-US" sz="2400" dirty="0" smtClean="0"/>
              <a:t>line in the selection statement, consisting of a Boolean expression (a guard) and a statement or statement sequence, is called a </a:t>
            </a:r>
            <a:r>
              <a:rPr lang="en-US" sz="2400" b="1" dirty="0" smtClean="0"/>
              <a:t>guarded command</a:t>
            </a:r>
            <a:r>
              <a:rPr lang="en-US" sz="2400" dirty="0" smtClean="0"/>
              <a:t>.</a:t>
            </a:r>
          </a:p>
          <a:p>
            <a:r>
              <a:rPr lang="en-US" sz="2400" dirty="0" smtClean="0"/>
              <a:t>If more than one expression is true, one of the corresponding statements can be </a:t>
            </a:r>
            <a:r>
              <a:rPr lang="en-US" sz="2400" dirty="0" err="1" smtClean="0"/>
              <a:t>nondeterministically</a:t>
            </a:r>
            <a:r>
              <a:rPr lang="en-US" sz="2400" dirty="0" smtClean="0"/>
              <a:t> chosen for </a:t>
            </a:r>
            <a:r>
              <a:rPr lang="en-US" sz="2400" dirty="0" smtClean="0"/>
              <a:t>execution</a:t>
            </a:r>
          </a:p>
          <a:p>
            <a:r>
              <a:rPr lang="en-US" sz="2400" dirty="0" smtClean="0"/>
              <a:t>An </a:t>
            </a:r>
            <a:r>
              <a:rPr lang="en-US" sz="2400" dirty="0" smtClean="0"/>
              <a:t>implementation might always choose the statement associated with the first Boolean expression that evaluates to be true. But it may choose any statement associated with a true Boolean expression. So, the correctness of the program cannot depend on which statement is chosen (among those associated with true Boolean expressions). If none of the Boolean expressions are true, a run-time error occurs that causes program termination. This forces the programmer to consider and list all possibilities</a:t>
            </a:r>
            <a:endParaRPr lang="en-US" sz="2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Consider the following example:</a:t>
            </a:r>
          </a:p>
          <a:p>
            <a:r>
              <a:rPr lang="en-US" sz="2400" b="1" dirty="0" smtClean="0"/>
              <a:t>if </a:t>
            </a:r>
            <a:r>
              <a:rPr lang="en-US" sz="2400" dirty="0" err="1" smtClean="0"/>
              <a:t>i</a:t>
            </a:r>
            <a:r>
              <a:rPr lang="en-US" sz="2400" dirty="0" smtClean="0"/>
              <a:t> = 0 -&gt; sum := sum + </a:t>
            </a:r>
            <a:r>
              <a:rPr lang="en-US" sz="2400" dirty="0" err="1" smtClean="0"/>
              <a:t>i</a:t>
            </a:r>
            <a:r>
              <a:rPr lang="en-US" sz="2400" dirty="0" smtClean="0"/>
              <a:t> </a:t>
            </a:r>
            <a:endParaRPr lang="en-US" sz="2400" dirty="0" smtClean="0"/>
          </a:p>
          <a:p>
            <a:r>
              <a:rPr lang="en-US" sz="2400" dirty="0" smtClean="0"/>
              <a:t>[] </a:t>
            </a:r>
            <a:r>
              <a:rPr lang="en-US" sz="2400" dirty="0" err="1" smtClean="0"/>
              <a:t>i</a:t>
            </a:r>
            <a:r>
              <a:rPr lang="en-US" sz="2400" dirty="0" smtClean="0"/>
              <a:t> &gt; j -&gt; sum := sum + </a:t>
            </a:r>
            <a:r>
              <a:rPr lang="en-US" sz="2400" dirty="0" smtClean="0"/>
              <a:t>j</a:t>
            </a:r>
          </a:p>
          <a:p>
            <a:r>
              <a:rPr lang="en-US" sz="2400" dirty="0" smtClean="0"/>
              <a:t> </a:t>
            </a:r>
            <a:r>
              <a:rPr lang="en-US" sz="2400" dirty="0" smtClean="0"/>
              <a:t>[] j &gt; </a:t>
            </a:r>
            <a:r>
              <a:rPr lang="en-US" sz="2400" dirty="0" err="1" smtClean="0"/>
              <a:t>i</a:t>
            </a:r>
            <a:r>
              <a:rPr lang="en-US" sz="2400" dirty="0" smtClean="0"/>
              <a:t> -&gt; sum := sum + k </a:t>
            </a:r>
            <a:endParaRPr lang="en-US" sz="2400" dirty="0" smtClean="0"/>
          </a:p>
          <a:p>
            <a:r>
              <a:rPr lang="en-US" sz="2400" b="1" dirty="0" err="1" smtClean="0"/>
              <a:t>fi</a:t>
            </a:r>
            <a:endParaRPr lang="en-US" sz="2400" dirty="0" smtClean="0"/>
          </a:p>
          <a:p>
            <a:r>
              <a:rPr lang="en-US" sz="2400" dirty="0" smtClean="0"/>
              <a:t>If </a:t>
            </a:r>
            <a:r>
              <a:rPr lang="en-US" sz="2400" dirty="0" err="1" smtClean="0"/>
              <a:t>i</a:t>
            </a:r>
            <a:r>
              <a:rPr lang="en-US" sz="2400" dirty="0" smtClean="0"/>
              <a:t> = 0 and j &gt; </a:t>
            </a:r>
            <a:r>
              <a:rPr lang="en-US" sz="2400" dirty="0" err="1" smtClean="0"/>
              <a:t>i</a:t>
            </a:r>
            <a:r>
              <a:rPr lang="en-US" sz="2400" dirty="0" smtClean="0"/>
              <a:t>, this statement chooses </a:t>
            </a:r>
            <a:r>
              <a:rPr lang="en-US" sz="2400" dirty="0" err="1" smtClean="0"/>
              <a:t>nondeterministically</a:t>
            </a:r>
            <a:r>
              <a:rPr lang="en-US" sz="2400" dirty="0" smtClean="0"/>
              <a:t> between the first and third assignment statements. If </a:t>
            </a:r>
            <a:r>
              <a:rPr lang="en-US" sz="2400" dirty="0" err="1" smtClean="0"/>
              <a:t>i</a:t>
            </a:r>
            <a:r>
              <a:rPr lang="en-US" sz="2400" dirty="0" smtClean="0"/>
              <a:t> is equal to j and is not zero, a run- time error occurs because none of the conditions are true.</a:t>
            </a:r>
          </a:p>
          <a:p>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582</TotalTime>
  <Words>10459</Words>
  <Application>Microsoft Office PowerPoint</Application>
  <PresentationFormat>On-screen Show (4:3)</PresentationFormat>
  <Paragraphs>945</Paragraphs>
  <Slides>118</Slides>
  <Notes>1</Notes>
  <HiddenSlides>0</HiddenSlides>
  <MMClips>0</MMClips>
  <ScaleCrop>false</ScaleCrop>
  <HeadingPairs>
    <vt:vector size="4" baseType="variant">
      <vt:variant>
        <vt:lpstr>Theme</vt:lpstr>
      </vt:variant>
      <vt:variant>
        <vt:i4>1</vt:i4>
      </vt:variant>
      <vt:variant>
        <vt:lpstr>Slide Titles</vt:lpstr>
      </vt:variant>
      <vt:variant>
        <vt:i4>118</vt:i4>
      </vt:variant>
    </vt:vector>
  </HeadingPairs>
  <TitlesOfParts>
    <vt:vector size="119" baseType="lpstr">
      <vt:lpstr>Office Theme</vt:lpstr>
      <vt:lpstr>UNIT-II</vt:lpstr>
      <vt:lpstr>.</vt:lpstr>
      <vt:lpstr>Example for imperative language</vt:lpstr>
      <vt:lpstr>Example for Functional language</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dc:title>
  <dc:creator>pc</dc:creator>
  <cp:lastModifiedBy>pc</cp:lastModifiedBy>
  <cp:revision>91</cp:revision>
  <dcterms:created xsi:type="dcterms:W3CDTF">2006-08-16T00:00:00Z</dcterms:created>
  <dcterms:modified xsi:type="dcterms:W3CDTF">2024-09-26T16:01:05Z</dcterms:modified>
</cp:coreProperties>
</file>