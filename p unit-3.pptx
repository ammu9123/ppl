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89" r:id="rId34"/>
    <p:sldId id="287" r:id="rId35"/>
    <p:sldId id="290" r:id="rId36"/>
    <p:sldId id="291" r:id="rId37"/>
    <p:sldId id="292" r:id="rId38"/>
    <p:sldId id="293" r:id="rId39"/>
    <p:sldId id="294" r:id="rId40"/>
    <p:sldId id="295" r:id="rId41"/>
    <p:sldId id="296" r:id="rId42"/>
    <p:sldId id="297" r:id="rId43"/>
    <p:sldId id="316" r:id="rId44"/>
    <p:sldId id="31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5" r:id="rId61"/>
    <p:sldId id="313" r:id="rId62"/>
    <p:sldId id="314"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9" d="100"/>
          <a:sy n="49" d="100"/>
        </p:scale>
        <p:origin x="-1291" y="-8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161123-8090-48C4-8FAB-FC2A02D83822}" type="datetimeFigureOut">
              <a:rPr lang="en-US" smtClean="0"/>
              <a:t>20-Nov-24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599F1C-EF3D-41D7-A918-93122516709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2400" dirty="0"/>
          </a:p>
        </p:txBody>
      </p:sp>
      <p:sp>
        <p:nvSpPr>
          <p:cNvPr id="4" name="Slide Number Placeholder 3"/>
          <p:cNvSpPr>
            <a:spLocks noGrp="1"/>
          </p:cNvSpPr>
          <p:nvPr>
            <p:ph type="sldNum" sz="quarter" idx="10"/>
          </p:nvPr>
        </p:nvSpPr>
        <p:spPr/>
        <p:txBody>
          <a:bodyPr/>
          <a:lstStyle/>
          <a:p>
            <a:fld id="{CA599F1C-EF3D-41D7-A918-931225167098}" type="slidenum">
              <a:rPr lang="en-US" smtClean="0"/>
              <a:t>106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20-Nov-24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20-Nov-24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20-Nov-24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20-Nov-24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20-Nov-24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20-Nov-24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20-Nov-24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1"/>
            <a:ext cx="7772400" cy="1600199"/>
          </a:xfrm>
        </p:spPr>
        <p:txBody>
          <a:bodyPr>
            <a:normAutofit/>
          </a:bodyPr>
          <a:lstStyle/>
          <a:p>
            <a:r>
              <a:rPr lang="en-US" b="1" dirty="0" smtClean="0"/>
              <a:t>Unit - III</a:t>
            </a:r>
            <a:r>
              <a:rPr lang="en-US" dirty="0" smtClean="0"/>
              <a:t/>
            </a:r>
            <a:br>
              <a:rPr lang="en-US" dirty="0" smtClean="0"/>
            </a:br>
            <a:endParaRPr lang="en-US" dirty="0"/>
          </a:p>
        </p:txBody>
      </p:sp>
      <p:sp>
        <p:nvSpPr>
          <p:cNvPr id="3" name="Subtitle 2"/>
          <p:cNvSpPr>
            <a:spLocks noGrp="1"/>
          </p:cNvSpPr>
          <p:nvPr>
            <p:ph type="subTitle" idx="1"/>
          </p:nvPr>
        </p:nvSpPr>
        <p:spPr>
          <a:xfrm>
            <a:off x="685800" y="2438400"/>
            <a:ext cx="7696200" cy="3200400"/>
          </a:xfrm>
        </p:spPr>
        <p:txBody>
          <a:bodyPr/>
          <a:lstStyle/>
          <a:p>
            <a:r>
              <a:rPr lang="en-US" sz="4800" b="1" dirty="0" smtClean="0"/>
              <a:t>Subprograms, Blocks, Implementing Subprograms and Abstract Data Types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a:buNone/>
            </a:pPr>
            <a:r>
              <a:rPr lang="en-US" sz="3600" b="1" dirty="0" smtClean="0"/>
              <a:t>Subprograms</a:t>
            </a:r>
          </a:p>
          <a:p>
            <a:r>
              <a:rPr lang="en-US" sz="2400" dirty="0" smtClean="0"/>
              <a:t>Subprograms are the </a:t>
            </a:r>
            <a:r>
              <a:rPr lang="en-US" sz="2400" b="1" dirty="0" smtClean="0"/>
              <a:t>fundamental building blocks of programs </a:t>
            </a:r>
            <a:r>
              <a:rPr lang="en-US" sz="2400" dirty="0" smtClean="0"/>
              <a:t>and are therefore among the most important concepts in programming language design.</a:t>
            </a:r>
          </a:p>
          <a:p>
            <a:r>
              <a:rPr lang="en-US" sz="2400" dirty="0" smtClean="0"/>
              <a:t>Two fundamental abstraction facilities can be included in a programming language:</a:t>
            </a:r>
          </a:p>
          <a:p>
            <a:pPr>
              <a:buNone/>
            </a:pPr>
            <a:r>
              <a:rPr lang="en-US" sz="2400" b="1" dirty="0" smtClean="0"/>
              <a:t>        Process abstraction &amp; Data abstraction.</a:t>
            </a:r>
          </a:p>
          <a:p>
            <a:pPr>
              <a:buNone/>
            </a:pPr>
            <a:r>
              <a:rPr lang="en-US" sz="2800" b="1" dirty="0" smtClean="0"/>
              <a:t>Abstraction</a:t>
            </a:r>
          </a:p>
          <a:p>
            <a:r>
              <a:rPr lang="en-US" sz="2400" dirty="0" smtClean="0"/>
              <a:t>A </a:t>
            </a:r>
            <a:r>
              <a:rPr lang="en-US" sz="2400" b="1" dirty="0" smtClean="0"/>
              <a:t>less detailed representation </a:t>
            </a:r>
            <a:r>
              <a:rPr lang="en-US" sz="2400" dirty="0" smtClean="0"/>
              <a:t>of an object or concept in nature.</a:t>
            </a:r>
          </a:p>
          <a:p>
            <a:r>
              <a:rPr lang="en-US" sz="2400" dirty="0" smtClean="0"/>
              <a:t>An </a:t>
            </a:r>
            <a:r>
              <a:rPr lang="en-US" sz="2400" b="1" dirty="0" smtClean="0"/>
              <a:t>abstraction </a:t>
            </a:r>
            <a:r>
              <a:rPr lang="en-US" sz="2400" dirty="0" smtClean="0"/>
              <a:t>is a view or representation of an entity that includes only the most significant attributes.</a:t>
            </a:r>
          </a:p>
          <a:p>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r>
              <a:rPr lang="en-US" sz="2400" dirty="0" smtClean="0"/>
              <a:t>Two examples of data models which are more and less detailed</a:t>
            </a:r>
          </a:p>
          <a:p>
            <a:pPr>
              <a:buNone/>
            </a:pPr>
            <a:r>
              <a:rPr lang="en-US" dirty="0" smtClean="0"/>
              <a:t/>
            </a:r>
            <a:br>
              <a:rPr lang="en-US" dirty="0" smtClean="0"/>
            </a:br>
            <a:endParaRPr lang="en-US" dirty="0" smtClean="0"/>
          </a:p>
          <a:p>
            <a:pPr marL="514350" indent="-514350">
              <a:buNone/>
            </a:pPr>
            <a:r>
              <a:rPr lang="en-US" dirty="0" smtClean="0"/>
              <a:t>                                                                            </a:t>
            </a:r>
          </a:p>
          <a:p>
            <a:pPr marL="514350" indent="-514350">
              <a:buNone/>
            </a:pPr>
            <a:r>
              <a:rPr lang="en-US" dirty="0" smtClean="0"/>
              <a:t>                                                                                   </a:t>
            </a:r>
          </a:p>
          <a:p>
            <a:pPr marL="514350" indent="-514350">
              <a:buNone/>
            </a:pPr>
            <a:endParaRPr lang="en-US" dirty="0" smtClean="0"/>
          </a:p>
          <a:p>
            <a:pPr marL="514350" indent="-514350"/>
            <a:r>
              <a:rPr lang="en-US" sz="2400" dirty="0" smtClean="0"/>
              <a:t>In the early history of high level programming languages, only process abstraction was included.</a:t>
            </a:r>
          </a:p>
          <a:p>
            <a:pPr marL="514350" indent="-514350"/>
            <a:r>
              <a:rPr lang="en-US" sz="2400" b="1" dirty="0" smtClean="0"/>
              <a:t>Process abstraction, in the form of subprograms, </a:t>
            </a:r>
            <a:r>
              <a:rPr lang="en-US" sz="2400" dirty="0" smtClean="0"/>
              <a:t>has been a central concept in all programming languages.</a:t>
            </a:r>
          </a:p>
          <a:p>
            <a:pPr marL="514350" indent="-514350"/>
            <a:endParaRPr lang="en-US" dirty="0" smtClean="0"/>
          </a:p>
          <a:p>
            <a:pPr>
              <a:buNone/>
            </a:pPr>
            <a:endParaRPr lang="en-US" b="1" dirty="0" smtClean="0"/>
          </a:p>
          <a:p>
            <a:pPr marL="514350" indent="-514350">
              <a:buNone/>
            </a:pPr>
            <a:endParaRPr lang="en-US" dirty="0"/>
          </a:p>
        </p:txBody>
      </p:sp>
      <p:pic>
        <p:nvPicPr>
          <p:cNvPr id="4" name="image1.jpeg"/>
          <p:cNvPicPr/>
          <p:nvPr/>
        </p:nvPicPr>
        <p:blipFill>
          <a:blip r:embed="rId2" cstate="print"/>
          <a:stretch>
            <a:fillRect/>
          </a:stretch>
        </p:blipFill>
        <p:spPr>
          <a:xfrm>
            <a:off x="838200" y="1752600"/>
            <a:ext cx="2438400" cy="2057400"/>
          </a:xfrm>
          <a:prstGeom prst="rect">
            <a:avLst/>
          </a:prstGeom>
        </p:spPr>
      </p:pic>
      <p:pic>
        <p:nvPicPr>
          <p:cNvPr id="5" name="image2.jpeg"/>
          <p:cNvPicPr/>
          <p:nvPr/>
        </p:nvPicPr>
        <p:blipFill>
          <a:blip r:embed="rId3" cstate="print"/>
          <a:stretch>
            <a:fillRect/>
          </a:stretch>
        </p:blipFill>
        <p:spPr>
          <a:xfrm>
            <a:off x="4724400" y="1371600"/>
            <a:ext cx="3048000" cy="228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In the 1980s, however, many people began to believe that data abstraction was equally important.</a:t>
            </a:r>
          </a:p>
          <a:p>
            <a:r>
              <a:rPr lang="en-US" sz="2400" dirty="0" smtClean="0"/>
              <a:t>Subprograms </a:t>
            </a:r>
            <a:r>
              <a:rPr lang="en-US" sz="2400" b="1" dirty="0" smtClean="0"/>
              <a:t>increases the readability of a program </a:t>
            </a:r>
            <a:r>
              <a:rPr lang="en-US" sz="2400" dirty="0" smtClean="0"/>
              <a:t>by emphasizing its logical structure while hiding the low-level details.</a:t>
            </a:r>
          </a:p>
          <a:p>
            <a:r>
              <a:rPr lang="en-US" sz="2400" dirty="0" smtClean="0"/>
              <a:t>The methods of </a:t>
            </a:r>
            <a:r>
              <a:rPr lang="en-US" sz="2400" b="1" dirty="0" smtClean="0"/>
              <a:t>object-oriented languages are closely related to the sub programs.</a:t>
            </a:r>
          </a:p>
          <a:p>
            <a:r>
              <a:rPr lang="en-US" sz="2400" dirty="0" smtClean="0"/>
              <a:t>The primary way methods differ from subprograms is</a:t>
            </a:r>
            <a:r>
              <a:rPr lang="en-US" sz="2400" b="1" dirty="0" smtClean="0"/>
              <a:t> the way they are called and their associations with classes and objects</a:t>
            </a:r>
            <a:r>
              <a:rPr lang="en-US" sz="2400" dirty="0" smtClean="0"/>
              <a:t>.</a:t>
            </a:r>
          </a:p>
          <a:p>
            <a:r>
              <a:rPr lang="en-US" sz="2400" dirty="0" smtClean="0"/>
              <a:t>In a modern programming language, such </a:t>
            </a:r>
            <a:r>
              <a:rPr lang="en-US" sz="2400" b="1" dirty="0" smtClean="0"/>
              <a:t>a collection of statements is written as a subprogram.</a:t>
            </a:r>
          </a:p>
          <a:p>
            <a:r>
              <a:rPr lang="en-US" sz="2400" dirty="0" smtClean="0"/>
              <a:t>This reuse results in several </a:t>
            </a:r>
            <a:r>
              <a:rPr lang="en-US" sz="2400" b="1" dirty="0" smtClean="0"/>
              <a:t>different kinds of savings,</a:t>
            </a:r>
          </a:p>
          <a:p>
            <a:pPr>
              <a:buNone/>
            </a:pPr>
            <a:r>
              <a:rPr lang="en-US" sz="2400" b="1" dirty="0" smtClean="0"/>
              <a:t>      primarily memory space and coding time.</a:t>
            </a:r>
          </a:p>
          <a:p>
            <a:pPr>
              <a:buNone/>
            </a:pP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lstStyle/>
          <a:p>
            <a:r>
              <a:rPr lang="en-US" sz="2400" dirty="0" smtClean="0"/>
              <a:t>Such reuse is also an </a:t>
            </a:r>
            <a:r>
              <a:rPr lang="en-US" sz="2400" b="1" dirty="0" smtClean="0"/>
              <a:t>abstraction</a:t>
            </a:r>
            <a:r>
              <a:rPr lang="en-US" sz="2400" dirty="0" smtClean="0"/>
              <a:t>, for the details of the subprograms computation are replaced in a program by a statement that calls the subprogram.</a:t>
            </a:r>
          </a:p>
          <a:p>
            <a:pPr>
              <a:buNone/>
            </a:pPr>
            <a:r>
              <a:rPr lang="en-US" sz="2400" b="1" dirty="0" smtClean="0"/>
              <a:t>General Subprogram Characteristics</a:t>
            </a:r>
          </a:p>
          <a:p>
            <a:r>
              <a:rPr lang="en-US" sz="2400" dirty="0" smtClean="0"/>
              <a:t>Each subprogram has a single entry point</a:t>
            </a:r>
          </a:p>
          <a:p>
            <a:r>
              <a:rPr lang="en-US" sz="2400" dirty="0" smtClean="0"/>
              <a:t>The </a:t>
            </a:r>
            <a:r>
              <a:rPr lang="en-US" sz="2400" b="1" dirty="0" smtClean="0"/>
              <a:t>calling program unit is suspended during the execution of the called subprogram</a:t>
            </a:r>
            <a:r>
              <a:rPr lang="en-US" sz="2400" dirty="0" smtClean="0"/>
              <a:t>, which implies that there is only one subprogram in execution at any given time.</a:t>
            </a:r>
          </a:p>
          <a:p>
            <a:r>
              <a:rPr lang="en-US" sz="2400" b="1" dirty="0" smtClean="0"/>
              <a:t>Control always returns to the caller </a:t>
            </a:r>
            <a:r>
              <a:rPr lang="en-US" sz="2400" dirty="0" smtClean="0"/>
              <a:t>when the subprogram execution terminates.</a:t>
            </a:r>
          </a:p>
          <a:p>
            <a:pPr>
              <a:buNone/>
            </a:pPr>
            <a:r>
              <a:rPr lang="en-US" sz="2400" b="1" dirty="0" smtClean="0"/>
              <a:t>Definitions:</a:t>
            </a:r>
          </a:p>
          <a:p>
            <a:r>
              <a:rPr lang="en-US" sz="2400" dirty="0" smtClean="0"/>
              <a:t>A </a:t>
            </a:r>
            <a:r>
              <a:rPr lang="en-US" sz="2400" b="1" dirty="0" smtClean="0"/>
              <a:t>subprogram </a:t>
            </a:r>
            <a:r>
              <a:rPr lang="en-US" sz="2400" dirty="0" smtClean="0"/>
              <a:t>definition describes the interface to and the actions of the sub program abstraction</a:t>
            </a:r>
          </a:p>
          <a:p>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381000" y="304800"/>
            <a:ext cx="8382000" cy="6248400"/>
          </a:xfrm>
        </p:spPr>
        <p:txBody>
          <a:bodyPr>
            <a:normAutofit/>
          </a:bodyPr>
          <a:lstStyle/>
          <a:p>
            <a:pPr>
              <a:buNone/>
            </a:pPr>
            <a:r>
              <a:rPr lang="en-US" sz="2400" dirty="0" smtClean="0"/>
              <a:t> </a:t>
            </a:r>
            <a:r>
              <a:rPr lang="en-US" sz="2400" b="1" dirty="0" smtClean="0"/>
              <a:t>subprogram call</a:t>
            </a:r>
            <a:r>
              <a:rPr lang="en-US" sz="2400" dirty="0" smtClean="0"/>
              <a:t>: A subprogram call is the explicit request that a specific subprogram be executed.</a:t>
            </a:r>
          </a:p>
          <a:p>
            <a:pPr>
              <a:buNone/>
            </a:pPr>
            <a:r>
              <a:rPr lang="en-US" sz="2400" b="1" dirty="0" smtClean="0"/>
              <a:t>subprogram header :</a:t>
            </a:r>
            <a:r>
              <a:rPr lang="en-US" sz="2400" dirty="0" smtClean="0"/>
              <a:t>A subprogram header, which is the first part of the definition, serves several purposes. It specifies that the following syntactic unit is a subprogram definition of some particular kind.</a:t>
            </a:r>
          </a:p>
          <a:p>
            <a:r>
              <a:rPr lang="en-US" sz="2400" dirty="0" smtClean="0"/>
              <a:t>Consider the following header examples:</a:t>
            </a:r>
          </a:p>
          <a:p>
            <a:r>
              <a:rPr lang="en-US" sz="2400" b="1" dirty="0" smtClean="0"/>
              <a:t>def </a:t>
            </a:r>
            <a:r>
              <a:rPr lang="en-US" sz="2400" dirty="0" smtClean="0"/>
              <a:t>adder parameters):</a:t>
            </a:r>
          </a:p>
          <a:p>
            <a:r>
              <a:rPr lang="en-US" sz="2400" dirty="0" smtClean="0"/>
              <a:t>This is the header of a Python subprogram named adder.</a:t>
            </a:r>
          </a:p>
          <a:p>
            <a:r>
              <a:rPr lang="en-US" sz="2400" dirty="0" smtClean="0"/>
              <a:t>In C, the header of a function named </a:t>
            </a:r>
            <a:r>
              <a:rPr lang="en-US" sz="2400" b="1" dirty="0" smtClean="0"/>
              <a:t>adder </a:t>
            </a:r>
            <a:r>
              <a:rPr lang="en-US" sz="2400" dirty="0" smtClean="0"/>
              <a:t>might be as follows:</a:t>
            </a:r>
          </a:p>
          <a:p>
            <a:r>
              <a:rPr lang="en-US" sz="2400" dirty="0" smtClean="0"/>
              <a:t>  </a:t>
            </a:r>
            <a:r>
              <a:rPr lang="en-US" sz="2400" b="1" dirty="0" smtClean="0"/>
              <a:t>void </a:t>
            </a:r>
            <a:r>
              <a:rPr lang="en-US" sz="2400" dirty="0" smtClean="0"/>
              <a:t>adder (parameters)</a:t>
            </a:r>
          </a:p>
          <a:p>
            <a:r>
              <a:rPr lang="en-US" sz="2400" dirty="0" smtClean="0"/>
              <a:t>The reserved word </a:t>
            </a:r>
            <a:r>
              <a:rPr lang="en-US" sz="2400" b="1" dirty="0" smtClean="0"/>
              <a:t>void </a:t>
            </a:r>
            <a:r>
              <a:rPr lang="en-US" sz="2400" dirty="0" smtClean="0"/>
              <a:t>in this header indicates that the subprogram does not return a value.</a:t>
            </a:r>
          </a:p>
          <a:p>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a:buNone/>
            </a:pPr>
            <a:r>
              <a:rPr lang="en-US" sz="2400" b="1" dirty="0" smtClean="0"/>
              <a:t>parameter profile:</a:t>
            </a:r>
            <a:r>
              <a:rPr lang="en-US" sz="2400" dirty="0" smtClean="0"/>
              <a:t> The </a:t>
            </a:r>
            <a:r>
              <a:rPr lang="en-US" sz="2400" b="1" dirty="0" smtClean="0"/>
              <a:t>parameter profile </a:t>
            </a:r>
            <a:r>
              <a:rPr lang="en-US" sz="2400" dirty="0" smtClean="0"/>
              <a:t>of a subprogram contains the number, order, and types of its formal parameters. </a:t>
            </a:r>
          </a:p>
          <a:p>
            <a:pPr>
              <a:buNone/>
            </a:pPr>
            <a:r>
              <a:rPr lang="en-US" sz="2400" b="1" dirty="0" smtClean="0"/>
              <a:t>Protocol:</a:t>
            </a:r>
            <a:r>
              <a:rPr lang="en-US" sz="2400" dirty="0" smtClean="0"/>
              <a:t> The </a:t>
            </a:r>
            <a:r>
              <a:rPr lang="en-US" sz="2400" b="1" dirty="0" smtClean="0"/>
              <a:t>protocol </a:t>
            </a:r>
            <a:r>
              <a:rPr lang="en-US" sz="2400" dirty="0" smtClean="0"/>
              <a:t>of a subprogram is its parameter profile plus, if it is a function, its return type. In languages in which subprograms have types, those types are defined by the subprogram’s protocol.</a:t>
            </a:r>
          </a:p>
          <a:p>
            <a:pPr>
              <a:buNone/>
            </a:pPr>
            <a:r>
              <a:rPr lang="en-US" sz="2400" b="1" dirty="0" smtClean="0"/>
              <a:t>Active subprogram :</a:t>
            </a:r>
            <a:r>
              <a:rPr lang="en-US" sz="2400" dirty="0" smtClean="0"/>
              <a:t> A subprogram is said to be </a:t>
            </a:r>
            <a:r>
              <a:rPr lang="en-US" sz="2400" b="1" dirty="0" smtClean="0"/>
              <a:t>active </a:t>
            </a:r>
            <a:r>
              <a:rPr lang="en-US" sz="2400" dirty="0" smtClean="0"/>
              <a:t>if, after having been called, it has begun execution but has not yet completed that execution. </a:t>
            </a:r>
          </a:p>
          <a:p>
            <a:pPr>
              <a:buNone/>
            </a:pPr>
            <a:r>
              <a:rPr lang="en-US" sz="2400" b="1" dirty="0" smtClean="0"/>
              <a:t>Body of subprogram: </a:t>
            </a:r>
            <a:r>
              <a:rPr lang="en-US" sz="2400" dirty="0" smtClean="0"/>
              <a:t>Body of subprogram defines its action.</a:t>
            </a:r>
          </a:p>
          <a:p>
            <a:r>
              <a:rPr lang="en-US" sz="2400" dirty="0" smtClean="0"/>
              <a:t>In C based languages body of sub program  is delimited by braces.</a:t>
            </a:r>
          </a:p>
          <a:p>
            <a:r>
              <a:rPr lang="en-US" sz="2400" dirty="0" smtClean="0"/>
              <a:t>In Ruby, an end statement terminates body of subprogram. </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pPr marL="342900" lvl="2" indent="-342900">
              <a:buNone/>
            </a:pPr>
            <a:r>
              <a:rPr lang="en-US" b="1" dirty="0" smtClean="0"/>
              <a:t>Parameters profile:</a:t>
            </a:r>
            <a:r>
              <a:rPr lang="en-US" dirty="0" smtClean="0"/>
              <a:t> the parameter profile of sub program contains the number , order and type of its formal parameters</a:t>
            </a:r>
          </a:p>
          <a:p>
            <a:pPr marL="342900" lvl="2" indent="-342900">
              <a:buNone/>
            </a:pPr>
            <a:r>
              <a:rPr lang="en-US" b="1" dirty="0" smtClean="0"/>
              <a:t>Subprogram declaration: </a:t>
            </a:r>
            <a:r>
              <a:rPr lang="en-US" dirty="0" smtClean="0"/>
              <a:t> subprogram declaration provide subprogram protocol but do not include their bodies</a:t>
            </a:r>
            <a:endParaRPr lang="en-US" b="1" dirty="0" smtClean="0"/>
          </a:p>
          <a:p>
            <a:pPr>
              <a:buNone/>
            </a:pPr>
            <a:r>
              <a:rPr lang="en-US" sz="2400" b="1" dirty="0" smtClean="0"/>
              <a:t>Formal parameters: </a:t>
            </a:r>
            <a:r>
              <a:rPr lang="en-US" sz="2400" dirty="0" smtClean="0"/>
              <a:t>The parameters in the subprogram header are called formal parameters.</a:t>
            </a:r>
          </a:p>
          <a:p>
            <a:pPr>
              <a:buNone/>
            </a:pPr>
            <a:r>
              <a:rPr lang="en-US" sz="2400" b="1" dirty="0" smtClean="0"/>
              <a:t>Actual parameters: </a:t>
            </a:r>
            <a:r>
              <a:rPr lang="en-US" sz="2400" dirty="0" smtClean="0"/>
              <a:t>Subprogram call statements must include the name of the subprogram and a list of parameters to be bound to the formal parameters of the subprogram. These parameters are called </a:t>
            </a:r>
            <a:r>
              <a:rPr lang="en-US" sz="2400" b="1" dirty="0" smtClean="0"/>
              <a:t>actual parameters.</a:t>
            </a:r>
          </a:p>
          <a:p>
            <a:pPr>
              <a:buNone/>
            </a:pPr>
            <a:r>
              <a:rPr lang="en-US" sz="2400" b="1" dirty="0" smtClean="0"/>
              <a:t>Positional parameters</a:t>
            </a:r>
            <a:r>
              <a:rPr lang="en-US" sz="2400" dirty="0" smtClean="0"/>
              <a:t>: The binding of actual parameters to formal parameters is done by position is called positional parameter.</a:t>
            </a:r>
          </a:p>
          <a:p>
            <a:pPr>
              <a:buNone/>
            </a:pP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a:bodyPr>
          <a:lstStyle/>
          <a:p>
            <a:pPr>
              <a:buNone/>
            </a:pPr>
            <a:r>
              <a:rPr lang="en-US" sz="2400" b="1" dirty="0" smtClean="0"/>
              <a:t>Keyword parameters: </a:t>
            </a:r>
            <a:r>
              <a:rPr lang="en-US" sz="2400" dirty="0" smtClean="0"/>
              <a:t>When parameter lists are long, however, it is easy for a programmer to make mistakes in the order of actual parameters in the list. One solution to this problem is to provide </a:t>
            </a:r>
            <a:r>
              <a:rPr lang="en-US" sz="2400" b="1" dirty="0" smtClean="0"/>
              <a:t>keyword parameters</a:t>
            </a:r>
            <a:r>
              <a:rPr lang="en-US" sz="2400" dirty="0" smtClean="0"/>
              <a:t>, in which the name of the formal parameter to which an actual parameter is to be bound is specified with the actual parameter in a call.</a:t>
            </a:r>
          </a:p>
          <a:p>
            <a:r>
              <a:rPr lang="en-US" sz="2400" dirty="0" smtClean="0"/>
              <a:t>Python functions can be called using this technique, as in</a:t>
            </a:r>
            <a:br>
              <a:rPr lang="en-US" sz="2400" dirty="0" smtClean="0"/>
            </a:br>
            <a:r>
              <a:rPr lang="en-US" sz="2400" dirty="0" err="1" smtClean="0"/>
              <a:t>sumer</a:t>
            </a:r>
            <a:r>
              <a:rPr lang="en-US" sz="2400" dirty="0" smtClean="0"/>
              <a:t>(length = </a:t>
            </a:r>
            <a:r>
              <a:rPr lang="en-US" sz="2400" dirty="0" err="1" smtClean="0"/>
              <a:t>my_length</a:t>
            </a:r>
            <a:r>
              <a:rPr lang="en-US" sz="2400" dirty="0" smtClean="0"/>
              <a:t>,</a:t>
            </a:r>
          </a:p>
          <a:p>
            <a:pPr>
              <a:buNone/>
            </a:pPr>
            <a:r>
              <a:rPr lang="en-US" sz="2400" dirty="0" smtClean="0"/>
              <a:t>                    list = </a:t>
            </a:r>
            <a:r>
              <a:rPr lang="en-US" sz="2400" dirty="0" err="1" smtClean="0"/>
              <a:t>my_array</a:t>
            </a:r>
            <a:r>
              <a:rPr lang="en-US" sz="2400" dirty="0" smtClean="0"/>
              <a:t>,</a:t>
            </a:r>
          </a:p>
          <a:p>
            <a:pPr>
              <a:buNone/>
            </a:pPr>
            <a:r>
              <a:rPr lang="en-US" sz="2400" dirty="0" smtClean="0"/>
              <a:t>                     sum = </a:t>
            </a:r>
            <a:r>
              <a:rPr lang="en-US" sz="2400" dirty="0" err="1" smtClean="0"/>
              <a:t>my_sum</a:t>
            </a:r>
            <a:r>
              <a:rPr lang="en-US" sz="2400" dirty="0" smtClean="0"/>
              <a:t>)</a:t>
            </a:r>
          </a:p>
          <a:p>
            <a:r>
              <a:rPr lang="en-US" sz="2400" dirty="0" smtClean="0"/>
              <a:t>where the definition of </a:t>
            </a:r>
            <a:r>
              <a:rPr lang="en-US" sz="2400" i="1" dirty="0" err="1" smtClean="0"/>
              <a:t>sumer</a:t>
            </a:r>
            <a:r>
              <a:rPr lang="en-US" sz="2400" dirty="0" smtClean="0"/>
              <a:t> has the formal parameters length, list, and sum.</a:t>
            </a:r>
          </a:p>
          <a:p>
            <a:r>
              <a:rPr lang="en-US" sz="2400" dirty="0" smtClean="0"/>
              <a:t>The disadvantage to keyword parameters is that the user of the subprogram must know the names of formal parameters.</a:t>
            </a:r>
          </a:p>
          <a:p>
            <a:pPr>
              <a:buNone/>
            </a:pP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228600" y="304800"/>
            <a:ext cx="8458200" cy="6248400"/>
          </a:xfrm>
        </p:spPr>
        <p:txBody>
          <a:bodyPr>
            <a:normAutofit/>
          </a:bodyPr>
          <a:lstStyle/>
          <a:p>
            <a:pPr>
              <a:buNone/>
            </a:pPr>
            <a:r>
              <a:rPr lang="en-US" b="1" dirty="0" smtClean="0"/>
              <a:t>Design issues for sub programs</a:t>
            </a:r>
          </a:p>
          <a:p>
            <a:pPr lvl="0"/>
            <a:r>
              <a:rPr lang="en-US" sz="2400" dirty="0" smtClean="0"/>
              <a:t>If subprograms can be passed as parameters and subprograms can be nested, what is the referencing environment of a passed subprogram?</a:t>
            </a:r>
          </a:p>
          <a:p>
            <a:pPr lvl="0"/>
            <a:r>
              <a:rPr lang="en-US" sz="2400" dirty="0" smtClean="0"/>
              <a:t>Can subprograms be overloaded?</a:t>
            </a:r>
          </a:p>
          <a:p>
            <a:pPr lvl="0"/>
            <a:r>
              <a:rPr lang="en-US" sz="2400" dirty="0" smtClean="0"/>
              <a:t>Can subprograms be generic?</a:t>
            </a:r>
          </a:p>
          <a:p>
            <a:pPr lvl="0"/>
            <a:r>
              <a:rPr lang="en-US" sz="2400" dirty="0" smtClean="0"/>
              <a:t>If the language allows nested subprograms, are closures supported?</a:t>
            </a:r>
            <a:r>
              <a:rPr lang="en-US" dirty="0" smtClean="0"/>
              <a:t> </a:t>
            </a:r>
          </a:p>
          <a:p>
            <a:r>
              <a:rPr lang="en-US" sz="2400" dirty="0" smtClean="0"/>
              <a:t>Are local variables statically or dynamically allocated?</a:t>
            </a:r>
          </a:p>
          <a:p>
            <a:r>
              <a:rPr lang="en-US" sz="2400" dirty="0" smtClean="0"/>
              <a:t> Can subprogram definitions appear in other subprogram definitions?  What parameter-passing method or methods are used?</a:t>
            </a:r>
          </a:p>
          <a:p>
            <a:r>
              <a:rPr lang="en-US" sz="2400" dirty="0" smtClean="0"/>
              <a:t> Are the types of the actual parameters checked against the types of the formal parameters?</a:t>
            </a:r>
          </a:p>
          <a:p>
            <a:pPr lvl="0"/>
            <a:endParaRPr lang="en-US" dirty="0" smtClean="0"/>
          </a:p>
          <a:p>
            <a:endParaRPr lang="en-US" sz="26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lstStyle/>
          <a:p>
            <a:pPr>
              <a:buNone/>
            </a:pPr>
            <a:r>
              <a:rPr lang="en-US" sz="2400" b="1" dirty="0" smtClean="0"/>
              <a:t>Subprograms can be designed by using</a:t>
            </a:r>
          </a:p>
          <a:p>
            <a:pPr lvl="0"/>
            <a:r>
              <a:rPr lang="en-US" sz="2400" dirty="0" smtClean="0"/>
              <a:t>Parameter-Passing methods,</a:t>
            </a:r>
          </a:p>
          <a:p>
            <a:pPr lvl="0"/>
            <a:r>
              <a:rPr lang="en-US" sz="2400" dirty="0" smtClean="0"/>
              <a:t>Local referencing environments,</a:t>
            </a:r>
          </a:p>
          <a:p>
            <a:pPr lvl="0"/>
            <a:r>
              <a:rPr lang="en-US" sz="2400" dirty="0" smtClean="0"/>
              <a:t>Overloaded subprograms</a:t>
            </a:r>
          </a:p>
          <a:p>
            <a:pPr lvl="0"/>
            <a:r>
              <a:rPr lang="en-US" sz="2400" dirty="0" smtClean="0"/>
              <a:t>Generic subprograms</a:t>
            </a:r>
          </a:p>
          <a:p>
            <a:pPr>
              <a:buNone/>
            </a:pPr>
            <a:r>
              <a:rPr lang="en-US" b="1" dirty="0" smtClean="0"/>
              <a:t>overloaded subprogram</a:t>
            </a:r>
          </a:p>
          <a:p>
            <a:r>
              <a:rPr lang="en-US" sz="2400" dirty="0" smtClean="0"/>
              <a:t>An </a:t>
            </a:r>
            <a:r>
              <a:rPr lang="en-US" sz="2400" b="1" dirty="0" smtClean="0"/>
              <a:t>overloaded subprogram </a:t>
            </a:r>
            <a:r>
              <a:rPr lang="en-US" sz="2400" dirty="0" smtClean="0"/>
              <a:t>is a subprogram that has the same name as another subprogram in the same referencing environment.</a:t>
            </a:r>
          </a:p>
          <a:p>
            <a:r>
              <a:rPr lang="en-US" sz="2400" dirty="0" smtClean="0"/>
              <a:t>Every version of an overloaded subprogram must have a unique protocol</a:t>
            </a:r>
          </a:p>
          <a:p>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a:bodyPr>
          <a:lstStyle/>
          <a:p>
            <a:pPr>
              <a:buNone/>
            </a:pPr>
            <a:r>
              <a:rPr lang="en-US" sz="2800" b="1" dirty="0" smtClean="0"/>
              <a:t>Local Referencing Environments</a:t>
            </a:r>
          </a:p>
          <a:p>
            <a:pPr lvl="0"/>
            <a:r>
              <a:rPr lang="en-US" sz="2400" dirty="0" smtClean="0"/>
              <a:t>Local referencing environment of sub program means scope  of component whether it is local or global or any other sub program , where component can be accessed.</a:t>
            </a:r>
          </a:p>
          <a:p>
            <a:pPr lvl="0">
              <a:buFont typeface="Wingdings" pitchFamily="2" charset="2"/>
              <a:buChar char="Ø"/>
            </a:pPr>
            <a:r>
              <a:rPr lang="en-US" sz="2400" dirty="0" smtClean="0"/>
              <a:t>       Local variable</a:t>
            </a:r>
          </a:p>
          <a:p>
            <a:pPr lvl="0">
              <a:buFont typeface="Wingdings" pitchFamily="2" charset="2"/>
              <a:buChar char="Ø"/>
            </a:pPr>
            <a:r>
              <a:rPr lang="en-US" sz="2400" dirty="0" smtClean="0"/>
              <a:t>       Nested  sub program</a:t>
            </a:r>
          </a:p>
          <a:p>
            <a:pPr>
              <a:buNone/>
            </a:pPr>
            <a:r>
              <a:rPr lang="en-US" sz="2400" b="1" dirty="0" smtClean="0"/>
              <a:t>Local Variables: </a:t>
            </a:r>
            <a:r>
              <a:rPr lang="en-US" sz="2400" dirty="0" smtClean="0"/>
              <a:t>Variables that are defined inside subprograms are called </a:t>
            </a:r>
            <a:r>
              <a:rPr lang="en-US" sz="2400" b="1" dirty="0" smtClean="0"/>
              <a:t>local variables</a:t>
            </a:r>
            <a:r>
              <a:rPr lang="en-US" sz="2400" dirty="0" smtClean="0"/>
              <a:t>, because their scope is usually the body of the subprogram in which they are defined.</a:t>
            </a:r>
          </a:p>
          <a:p>
            <a:pPr marL="514350" indent="-514350">
              <a:buFont typeface="Wingdings" pitchFamily="2" charset="2"/>
              <a:buChar char="Ø"/>
            </a:pPr>
            <a:r>
              <a:rPr lang="en-US" sz="2400" b="1" dirty="0" smtClean="0"/>
              <a:t>stack-dynamic local variables: </a:t>
            </a:r>
            <a:r>
              <a:rPr lang="en-US" sz="2400" dirty="0" smtClean="0"/>
              <a:t>At run time memory will allocated to that variable.</a:t>
            </a:r>
          </a:p>
          <a:p>
            <a:pPr marL="514350" indent="-514350">
              <a:buNone/>
            </a:pPr>
            <a:r>
              <a:rPr lang="en-US" sz="2400" b="1" dirty="0" smtClean="0"/>
              <a:t>        Advantage	</a:t>
            </a:r>
          </a:p>
          <a:p>
            <a:pPr lvl="0">
              <a:buFont typeface="Wingdings" pitchFamily="2" charset="2"/>
              <a:buChar char="ü"/>
            </a:pPr>
            <a:r>
              <a:rPr lang="en-US" sz="2400" dirty="0" smtClean="0"/>
              <a:t>     flexibility</a:t>
            </a:r>
          </a:p>
          <a:p>
            <a:pPr lvl="0">
              <a:buFont typeface="Wingdings" pitchFamily="2" charset="2"/>
              <a:buChar char="ü"/>
            </a:pPr>
            <a:r>
              <a:rPr lang="en-US" sz="2400" dirty="0" smtClean="0"/>
              <a:t>Support recursion</a:t>
            </a:r>
          </a:p>
          <a:p>
            <a:pPr lvl="0">
              <a:buFont typeface="Wingdings" pitchFamily="2" charset="2"/>
              <a:buChar char="ü"/>
            </a:pPr>
            <a:r>
              <a:rPr lang="en-US" sz="2400" dirty="0" smtClean="0"/>
              <a:t>Shared memory</a:t>
            </a:r>
          </a:p>
          <a:p>
            <a:pPr lvl="0">
              <a:buFont typeface="Wingdings" pitchFamily="2" charset="2"/>
              <a:buChar char="ü"/>
            </a:pP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pPr>
              <a:buNone/>
            </a:pPr>
            <a:r>
              <a:rPr lang="en-US" sz="2400" b="1" dirty="0" smtClean="0"/>
              <a:t>Disadvantages</a:t>
            </a:r>
          </a:p>
          <a:p>
            <a:pPr>
              <a:buFont typeface="Wingdings" pitchFamily="2" charset="2"/>
              <a:buChar char="ü"/>
            </a:pPr>
            <a:r>
              <a:rPr lang="en-US" sz="2400" dirty="0" smtClean="0"/>
              <a:t>Every time allocation and </a:t>
            </a:r>
            <a:r>
              <a:rPr lang="en-US" sz="2400" dirty="0" err="1" smtClean="0"/>
              <a:t>deallocation</a:t>
            </a:r>
            <a:endParaRPr lang="en-US" sz="2400" dirty="0" smtClean="0"/>
          </a:p>
          <a:p>
            <a:pPr>
              <a:buFont typeface="Wingdings" pitchFamily="2" charset="2"/>
              <a:buChar char="ü"/>
            </a:pPr>
            <a:r>
              <a:rPr lang="en-US" sz="2400" dirty="0" smtClean="0"/>
              <a:t>Indirect access</a:t>
            </a:r>
          </a:p>
          <a:p>
            <a:pPr>
              <a:buFont typeface="Wingdings" pitchFamily="2" charset="2"/>
              <a:buChar char="Ø"/>
            </a:pPr>
            <a:r>
              <a:rPr lang="en-US" sz="2400" b="1" dirty="0" smtClean="0"/>
              <a:t>Static local variable : </a:t>
            </a:r>
            <a:r>
              <a:rPr lang="en-US" sz="2400" dirty="0" smtClean="0"/>
              <a:t>at compile time memory is allocated.</a:t>
            </a:r>
          </a:p>
          <a:p>
            <a:pPr>
              <a:buNone/>
            </a:pPr>
            <a:r>
              <a:rPr lang="en-US" sz="2400" b="1" dirty="0" err="1" smtClean="0"/>
              <a:t>Eg</a:t>
            </a:r>
            <a:r>
              <a:rPr lang="en-US" sz="2400" b="1" dirty="0" smtClean="0"/>
              <a:t>.  </a:t>
            </a:r>
            <a:r>
              <a:rPr lang="en-US" sz="2400" dirty="0" err="1" smtClean="0"/>
              <a:t>Int</a:t>
            </a:r>
            <a:r>
              <a:rPr lang="en-US" sz="2400" dirty="0" smtClean="0"/>
              <a:t> add(</a:t>
            </a:r>
            <a:r>
              <a:rPr lang="en-US" sz="2400" dirty="0" err="1" smtClean="0"/>
              <a:t>int</a:t>
            </a:r>
            <a:r>
              <a:rPr lang="en-US" sz="2400" dirty="0" smtClean="0"/>
              <a:t> </a:t>
            </a:r>
            <a:r>
              <a:rPr lang="en-US" sz="2400" dirty="0" err="1" smtClean="0"/>
              <a:t>a,int</a:t>
            </a:r>
            <a:r>
              <a:rPr lang="en-US" sz="2400" dirty="0" smtClean="0"/>
              <a:t> b)</a:t>
            </a:r>
          </a:p>
          <a:p>
            <a:pPr>
              <a:buNone/>
            </a:pPr>
            <a:r>
              <a:rPr lang="en-US" sz="2400" b="1" dirty="0" smtClean="0"/>
              <a:t>{</a:t>
            </a:r>
          </a:p>
          <a:p>
            <a:pPr>
              <a:buNone/>
            </a:pPr>
            <a:r>
              <a:rPr lang="en-US" sz="2400" dirty="0" smtClean="0"/>
              <a:t>      </a:t>
            </a:r>
            <a:r>
              <a:rPr lang="en-US" sz="2400" dirty="0" err="1" smtClean="0"/>
              <a:t>int</a:t>
            </a:r>
            <a:r>
              <a:rPr lang="en-US" sz="2400" dirty="0" smtClean="0"/>
              <a:t>    sum;</a:t>
            </a:r>
          </a:p>
          <a:p>
            <a:pPr>
              <a:buNone/>
            </a:pPr>
            <a:r>
              <a:rPr lang="en-US" sz="2400" dirty="0" smtClean="0"/>
              <a:t>      static  </a:t>
            </a:r>
            <a:r>
              <a:rPr lang="en-US" sz="2400" dirty="0" err="1" smtClean="0"/>
              <a:t>int</a:t>
            </a:r>
            <a:r>
              <a:rPr lang="en-US" sz="2400" dirty="0" smtClean="0"/>
              <a:t> b;</a:t>
            </a:r>
          </a:p>
          <a:p>
            <a:pPr>
              <a:buNone/>
            </a:pPr>
            <a:r>
              <a:rPr lang="en-US" sz="2400" dirty="0" smtClean="0"/>
              <a:t>      sum=</a:t>
            </a:r>
            <a:r>
              <a:rPr lang="en-US" sz="2400" dirty="0" err="1" smtClean="0"/>
              <a:t>a+b</a:t>
            </a:r>
            <a:r>
              <a:rPr lang="en-US" sz="2400" dirty="0" smtClean="0"/>
              <a:t>;</a:t>
            </a:r>
          </a:p>
          <a:p>
            <a:pPr>
              <a:buNone/>
            </a:pPr>
            <a:r>
              <a:rPr lang="en-US" sz="2400" dirty="0" smtClean="0"/>
              <a:t>    return sum;</a:t>
            </a:r>
          </a:p>
          <a:p>
            <a:pPr>
              <a:buNone/>
            </a:pPr>
            <a:r>
              <a:rPr lang="en-US" sz="2400" dirty="0" smtClean="0"/>
              <a:t>}</a:t>
            </a:r>
          </a:p>
          <a:p>
            <a:pPr>
              <a:buNone/>
            </a:pPr>
            <a:r>
              <a:rPr lang="en-US" sz="2400" b="1" dirty="0" smtClean="0"/>
              <a:t>Advantages:</a:t>
            </a:r>
          </a:p>
          <a:p>
            <a:pPr>
              <a:buFont typeface="Wingdings" pitchFamily="2" charset="2"/>
              <a:buChar char="ü"/>
            </a:pPr>
            <a:r>
              <a:rPr lang="en-US" sz="2400" dirty="0" smtClean="0"/>
              <a:t>No memory wastage for allocation and </a:t>
            </a:r>
            <a:r>
              <a:rPr lang="en-US" sz="2400" dirty="0" err="1" smtClean="0"/>
              <a:t>deallocation</a:t>
            </a:r>
            <a:endParaRPr lang="en-US" sz="2400" dirty="0" smtClean="0"/>
          </a:p>
          <a:p>
            <a:pPr>
              <a:buFont typeface="Wingdings" pitchFamily="2" charset="2"/>
              <a:buChar char="ü"/>
            </a:pPr>
            <a:r>
              <a:rPr lang="en-US" sz="2400" dirty="0" smtClean="0"/>
              <a:t>Direct access</a:t>
            </a:r>
          </a:p>
          <a:p>
            <a:pPr>
              <a:buNone/>
            </a:pPr>
            <a:endParaRPr lang="en-US" sz="2400" dirty="0" smtClean="0"/>
          </a:p>
          <a:p>
            <a:pPr>
              <a:buNone/>
            </a:pP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228600" y="228600"/>
            <a:ext cx="8458200" cy="6400800"/>
          </a:xfrm>
        </p:spPr>
        <p:txBody>
          <a:bodyPr>
            <a:normAutofit/>
          </a:bodyPr>
          <a:lstStyle/>
          <a:p>
            <a:pPr>
              <a:buNone/>
            </a:pPr>
            <a:r>
              <a:rPr lang="en-US" sz="2400" b="1" dirty="0" smtClean="0"/>
              <a:t>Disadvantages:</a:t>
            </a:r>
          </a:p>
          <a:p>
            <a:pPr>
              <a:buFont typeface="Wingdings" pitchFamily="2" charset="2"/>
              <a:buChar char="ü"/>
            </a:pPr>
            <a:r>
              <a:rPr lang="en-US" sz="2400" dirty="0" smtClean="0"/>
              <a:t>Do not support recursion.</a:t>
            </a:r>
          </a:p>
          <a:p>
            <a:r>
              <a:rPr lang="en-US" sz="2400" dirty="0" smtClean="0"/>
              <a:t>For example, in the following C (or C++) function, the variable sum is static and count is stack dynamic.</a:t>
            </a:r>
          </a:p>
          <a:p>
            <a:pPr>
              <a:buNone/>
            </a:pPr>
            <a:r>
              <a:rPr lang="en-US" sz="2400" b="1" dirty="0" smtClean="0"/>
              <a:t> </a:t>
            </a:r>
            <a:r>
              <a:rPr lang="en-US" sz="2400" b="1" dirty="0" err="1" smtClean="0"/>
              <a:t>int</a:t>
            </a:r>
            <a:r>
              <a:rPr lang="en-US" sz="2400" b="1" dirty="0" smtClean="0"/>
              <a:t> </a:t>
            </a:r>
            <a:r>
              <a:rPr lang="en-US" sz="2400" dirty="0" smtClean="0"/>
              <a:t>adder(</a:t>
            </a:r>
            <a:r>
              <a:rPr lang="en-US" sz="2400" b="1" dirty="0" err="1" smtClean="0"/>
              <a:t>int</a:t>
            </a:r>
            <a:r>
              <a:rPr lang="en-US" sz="2400" b="1" dirty="0" smtClean="0"/>
              <a:t> </a:t>
            </a:r>
            <a:r>
              <a:rPr lang="en-US" sz="2400" dirty="0" smtClean="0"/>
              <a:t>list[], </a:t>
            </a:r>
            <a:r>
              <a:rPr lang="en-US" sz="2400" b="1" dirty="0" err="1" smtClean="0"/>
              <a:t>int</a:t>
            </a:r>
            <a:r>
              <a:rPr lang="en-US" sz="2400" b="1" dirty="0" smtClean="0"/>
              <a:t> </a:t>
            </a:r>
            <a:r>
              <a:rPr lang="en-US" sz="2400" dirty="0" err="1" smtClean="0"/>
              <a:t>listlen</a:t>
            </a:r>
            <a:r>
              <a:rPr lang="en-US" sz="2400" dirty="0" smtClean="0"/>
              <a:t>)</a:t>
            </a:r>
          </a:p>
          <a:p>
            <a:pPr>
              <a:buNone/>
            </a:pPr>
            <a:r>
              <a:rPr lang="en-US" sz="2400" dirty="0" smtClean="0"/>
              <a:t> {</a:t>
            </a:r>
          </a:p>
          <a:p>
            <a:pPr>
              <a:buNone/>
            </a:pPr>
            <a:r>
              <a:rPr lang="en-US" sz="2400" b="1" dirty="0" smtClean="0"/>
              <a:t>        static </a:t>
            </a:r>
            <a:r>
              <a:rPr lang="en-US" sz="2400" b="1" dirty="0" err="1" smtClean="0"/>
              <a:t>int</a:t>
            </a:r>
            <a:r>
              <a:rPr lang="en-US" sz="2400" b="1" dirty="0" smtClean="0"/>
              <a:t> </a:t>
            </a:r>
            <a:r>
              <a:rPr lang="en-US" sz="2400" dirty="0" smtClean="0"/>
              <a:t>sum = 0;</a:t>
            </a:r>
          </a:p>
          <a:p>
            <a:pPr>
              <a:buNone/>
            </a:pPr>
            <a:r>
              <a:rPr lang="en-US" sz="2400" b="1" dirty="0" smtClean="0"/>
              <a:t>        </a:t>
            </a:r>
            <a:r>
              <a:rPr lang="en-US" sz="2400" b="1" dirty="0" err="1" smtClean="0"/>
              <a:t>int</a:t>
            </a:r>
            <a:r>
              <a:rPr lang="en-US" sz="2400" b="1" dirty="0" smtClean="0"/>
              <a:t> </a:t>
            </a:r>
            <a:r>
              <a:rPr lang="en-US" sz="2400" dirty="0" smtClean="0"/>
              <a:t>count;</a:t>
            </a:r>
          </a:p>
          <a:p>
            <a:pPr>
              <a:buNone/>
            </a:pPr>
            <a:r>
              <a:rPr lang="en-US" sz="2400" b="1" dirty="0" smtClean="0"/>
              <a:t>        for </a:t>
            </a:r>
            <a:r>
              <a:rPr lang="en-US" sz="2400" dirty="0" smtClean="0"/>
              <a:t>(count = 0; count &lt; </a:t>
            </a:r>
            <a:r>
              <a:rPr lang="en-US" sz="2400" dirty="0" err="1" smtClean="0"/>
              <a:t>listlen</a:t>
            </a:r>
            <a:r>
              <a:rPr lang="en-US" sz="2400" dirty="0" smtClean="0"/>
              <a:t>; count ++)</a:t>
            </a:r>
          </a:p>
          <a:p>
            <a:pPr>
              <a:buNone/>
            </a:pPr>
            <a:r>
              <a:rPr lang="en-US" sz="2400" dirty="0" smtClean="0"/>
              <a:t>        sum += list [count];</a:t>
            </a:r>
          </a:p>
          <a:p>
            <a:pPr>
              <a:buNone/>
            </a:pPr>
            <a:r>
              <a:rPr lang="en-US" sz="2400" b="1" dirty="0" smtClean="0"/>
              <a:t>        return </a:t>
            </a:r>
            <a:r>
              <a:rPr lang="en-US" sz="2400" dirty="0" smtClean="0"/>
              <a:t>sum;</a:t>
            </a:r>
          </a:p>
          <a:p>
            <a:pPr>
              <a:buNone/>
            </a:pPr>
            <a:r>
              <a:rPr lang="en-US" sz="2400" dirty="0" smtClean="0"/>
              <a:t>}</a:t>
            </a:r>
          </a:p>
          <a:p>
            <a:pPr>
              <a:buNone/>
            </a:pPr>
            <a:endParaRPr lang="en-US" sz="24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a:buFont typeface="Wingdings" pitchFamily="2" charset="2"/>
              <a:buChar char="Ø"/>
            </a:pPr>
            <a:r>
              <a:rPr lang="en-US" sz="2400" b="1" dirty="0" smtClean="0"/>
              <a:t>External or global variable </a:t>
            </a:r>
            <a:r>
              <a:rPr lang="en-US" sz="2800" b="1" dirty="0" smtClean="0"/>
              <a:t>:</a:t>
            </a:r>
            <a:r>
              <a:rPr lang="en-US" sz="2800" dirty="0" smtClean="0"/>
              <a:t>  </a:t>
            </a:r>
            <a:r>
              <a:rPr lang="en-US" sz="2400" dirty="0" smtClean="0"/>
              <a:t>A global variable are variable define out side the sub program or method.</a:t>
            </a:r>
          </a:p>
          <a:p>
            <a:r>
              <a:rPr lang="en-US" sz="2400" dirty="0" smtClean="0"/>
              <a:t>It has global scope means it holds through out the program. so it can be accessed through out the program by function.</a:t>
            </a:r>
          </a:p>
          <a:p>
            <a:pPr marL="342900" lvl="2" indent="-342900">
              <a:buNone/>
            </a:pPr>
            <a:r>
              <a:rPr lang="en-US" b="1" dirty="0" smtClean="0"/>
              <a:t>Nested Subprograms</a:t>
            </a:r>
          </a:p>
          <a:p>
            <a:pPr marL="342900" lvl="2" indent="-342900">
              <a:buNone/>
            </a:pPr>
            <a:endParaRPr lang="en-US" b="1" dirty="0" smtClean="0"/>
          </a:p>
          <a:p>
            <a:pPr marL="342900" lvl="2" indent="-342900">
              <a:buNone/>
            </a:pPr>
            <a:r>
              <a:rPr lang="en-US" dirty="0" smtClean="0"/>
              <a:t>   void   factorial()</a:t>
            </a:r>
          </a:p>
          <a:p>
            <a:pPr marL="342900" lvl="2" indent="-342900">
              <a:buNone/>
            </a:pPr>
            <a:r>
              <a:rPr lang="en-US" dirty="0" smtClean="0"/>
              <a:t> {</a:t>
            </a:r>
          </a:p>
          <a:p>
            <a:pPr marL="342900" lvl="2" indent="-342900">
              <a:buNone/>
            </a:pPr>
            <a:r>
              <a:rPr lang="en-US" dirty="0" smtClean="0"/>
              <a:t>    void  product( )</a:t>
            </a:r>
          </a:p>
          <a:p>
            <a:pPr marL="342900" lvl="2" indent="-342900">
              <a:buNone/>
            </a:pPr>
            <a:r>
              <a:rPr lang="en-US" dirty="0" smtClean="0"/>
              <a:t>      {</a:t>
            </a:r>
          </a:p>
          <a:p>
            <a:pPr marL="342900" lvl="2" indent="-342900">
              <a:buNone/>
            </a:pPr>
            <a:r>
              <a:rPr lang="en-US" dirty="0" smtClean="0"/>
              <a:t>        ------------</a:t>
            </a:r>
          </a:p>
          <a:p>
            <a:pPr marL="342900" lvl="2" indent="-342900">
              <a:buNone/>
            </a:pPr>
            <a:r>
              <a:rPr lang="en-US" dirty="0" smtClean="0"/>
              <a:t>       }</a:t>
            </a:r>
          </a:p>
          <a:p>
            <a:pPr marL="342900" lvl="2" indent="-342900">
              <a:buNone/>
            </a:pPr>
            <a:r>
              <a:rPr lang="en-US" dirty="0" smtClean="0"/>
              <a:t>}</a:t>
            </a:r>
          </a:p>
          <a:p>
            <a:pPr marL="342900" lvl="2" indent="-342900">
              <a:buNone/>
            </a:pPr>
            <a:endParaRPr lang="en-US" b="1" dirty="0" smtClean="0"/>
          </a:p>
          <a:p>
            <a:pPr>
              <a:buNone/>
            </a:pPr>
            <a:endParaRPr lang="en-US" sz="2800"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Some language like C,C++ does not supported nested subprograms but </a:t>
            </a:r>
            <a:r>
              <a:rPr lang="en-US" sz="2400" dirty="0" err="1" smtClean="0"/>
              <a:t>javascript</a:t>
            </a:r>
            <a:r>
              <a:rPr lang="en-US" sz="2400" dirty="0" smtClean="0"/>
              <a:t> support nested subprograms.</a:t>
            </a:r>
          </a:p>
          <a:p>
            <a:r>
              <a:rPr lang="en-US" sz="2400" dirty="0" smtClean="0"/>
              <a:t>In above example for product() subprogram  can be called only when we call factorial () subprogram.</a:t>
            </a:r>
          </a:p>
          <a:p>
            <a:r>
              <a:rPr lang="en-US" sz="2400" dirty="0" smtClean="0"/>
              <a:t>So, product ()sub program has local referencing  environment of factorial() sub program.</a:t>
            </a:r>
          </a:p>
          <a:p>
            <a:pPr marL="342900" lvl="1" indent="-342900">
              <a:buNone/>
            </a:pPr>
            <a:r>
              <a:rPr lang="en-US" sz="3200" b="1" dirty="0" smtClean="0"/>
              <a:t>Parameter-Passing Methods</a:t>
            </a:r>
          </a:p>
          <a:p>
            <a:r>
              <a:rPr lang="en-US" sz="2400" dirty="0" smtClean="0"/>
              <a:t>Parameter-passing methods are the ways in which parameters are transmitted to and/or from called subprograms.</a:t>
            </a:r>
          </a:p>
          <a:p>
            <a:r>
              <a:rPr lang="en-US" sz="2400" dirty="0" smtClean="0"/>
              <a:t>Parameter passing depends on model of subprogram</a:t>
            </a:r>
          </a:p>
          <a:p>
            <a:r>
              <a:rPr lang="en-US" sz="2400" dirty="0" smtClean="0"/>
              <a:t>There two model for parameter passing</a:t>
            </a:r>
          </a:p>
          <a:p>
            <a:pPr marL="342900" lvl="2" indent="-342900">
              <a:buFont typeface="Wingdings" pitchFamily="2" charset="2"/>
              <a:buChar char="Ø"/>
            </a:pPr>
            <a:r>
              <a:rPr lang="en-US" b="1" dirty="0" smtClean="0"/>
              <a:t>Semantics Models of Parameter Passing</a:t>
            </a:r>
          </a:p>
          <a:p>
            <a:pPr marL="342900" lvl="2" indent="-342900">
              <a:buFont typeface="Wingdings" pitchFamily="2" charset="2"/>
              <a:buChar char="Ø"/>
            </a:pPr>
            <a:r>
              <a:rPr lang="en-US" b="1" dirty="0" smtClean="0"/>
              <a:t>Implementation Models of Parameter Passing</a:t>
            </a:r>
          </a:p>
          <a:p>
            <a:pPr>
              <a:buNone/>
            </a:pPr>
            <a:endParaRPr lang="en-US" sz="24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pPr marL="342900" lvl="2" indent="-342900">
              <a:buNone/>
            </a:pPr>
            <a:r>
              <a:rPr lang="en-US" b="1" dirty="0" smtClean="0"/>
              <a:t>Semantics Models of Parameter Passing: </a:t>
            </a:r>
            <a:r>
              <a:rPr lang="en-US" sz="2400" dirty="0" smtClean="0"/>
              <a:t>Formal parameters are characterized by one of three distinct semantics models:</a:t>
            </a:r>
          </a:p>
          <a:p>
            <a:r>
              <a:rPr lang="en-US" sz="2400" dirty="0" smtClean="0"/>
              <a:t> (1) They can receive data from the corresponding actual parameter;</a:t>
            </a:r>
          </a:p>
          <a:p>
            <a:r>
              <a:rPr lang="en-US" sz="2400" dirty="0" smtClean="0"/>
              <a:t>(2) they can transmit data to the actual parameter; or (3) they can do both. These models are called </a:t>
            </a:r>
            <a:r>
              <a:rPr lang="en-US" sz="2400" b="1" dirty="0" smtClean="0"/>
              <a:t>in mode</a:t>
            </a:r>
            <a:r>
              <a:rPr lang="en-US" sz="2400" dirty="0" smtClean="0"/>
              <a:t>, </a:t>
            </a:r>
            <a:r>
              <a:rPr lang="en-US" sz="2400" b="1" dirty="0" smtClean="0"/>
              <a:t>out mode</a:t>
            </a:r>
            <a:r>
              <a:rPr lang="en-US" sz="2400" dirty="0" smtClean="0"/>
              <a:t>, and </a:t>
            </a:r>
            <a:r>
              <a:rPr lang="en-US" sz="2400" b="1" dirty="0" err="1" smtClean="0"/>
              <a:t>inout</a:t>
            </a:r>
            <a:r>
              <a:rPr lang="en-US" sz="2400" b="1" dirty="0" smtClean="0"/>
              <a:t> mode</a:t>
            </a:r>
            <a:r>
              <a:rPr lang="en-US" sz="2400" dirty="0" smtClean="0"/>
              <a:t>, respectively</a:t>
            </a:r>
            <a:r>
              <a:rPr lang="en-US" dirty="0" smtClean="0"/>
              <a:t>. </a:t>
            </a:r>
            <a:endParaRPr lang="en-US" sz="2400" dirty="0" smtClean="0"/>
          </a:p>
          <a:p>
            <a:r>
              <a:rPr lang="en-US" sz="2400" dirty="0" smtClean="0"/>
              <a:t>There are two conceptual models of how data transfers take place in parameter transmission: Either an actual value is copied (to the caller, to the called, or both ways) or an access path is transmitted. Most commonly, the access path is a simple pointer or reference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575"/>
          <p:cNvPicPr>
            <a:picLocks noGrp="1"/>
          </p:cNvPicPr>
          <p:nvPr>
            <p:ph idx="1"/>
          </p:nvPr>
        </p:nvPicPr>
        <p:blipFill>
          <a:blip r:embed="rId2" cstate="print"/>
          <a:stretch>
            <a:fillRect/>
          </a:stretch>
        </p:blipFill>
        <p:spPr>
          <a:xfrm>
            <a:off x="838200" y="914400"/>
            <a:ext cx="7543800" cy="4129088"/>
          </a:xfrm>
          <a:prstGeom prst="rect">
            <a:avLst/>
          </a:prstGeom>
        </p:spPr>
      </p:pic>
      <p:sp>
        <p:nvSpPr>
          <p:cNvPr id="5" name="Rectangle 4"/>
          <p:cNvSpPr/>
          <p:nvPr/>
        </p:nvSpPr>
        <p:spPr>
          <a:xfrm>
            <a:off x="1143000" y="5181600"/>
            <a:ext cx="6781800" cy="830997"/>
          </a:xfrm>
          <a:prstGeom prst="rect">
            <a:avLst/>
          </a:prstGeom>
        </p:spPr>
        <p:txBody>
          <a:bodyPr wrap="square">
            <a:spAutoFit/>
          </a:bodyPr>
          <a:lstStyle/>
          <a:p>
            <a:r>
              <a:rPr lang="en-US" sz="2400" dirty="0" smtClean="0"/>
              <a:t>The three semantics models of parameter passing when physical moves are used</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marL="342900" lvl="2" indent="-342900">
              <a:buNone/>
            </a:pPr>
            <a:r>
              <a:rPr lang="en-US" b="1" dirty="0" smtClean="0"/>
              <a:t>Implementation Models of Parameter Passing</a:t>
            </a:r>
          </a:p>
          <a:p>
            <a:r>
              <a:rPr lang="en-US" sz="2400" dirty="0" smtClean="0"/>
              <a:t>A variety of models have been developed by language designers to guide the implementation of the three basic parameter transmission modes. </a:t>
            </a:r>
          </a:p>
          <a:p>
            <a:pPr marL="342900" lvl="3" indent="-342900">
              <a:buFont typeface="Wingdings" pitchFamily="2" charset="2"/>
              <a:buChar char="Ø"/>
            </a:pPr>
            <a:r>
              <a:rPr lang="en-US" sz="2400" dirty="0" smtClean="0"/>
              <a:t>     </a:t>
            </a:r>
            <a:r>
              <a:rPr lang="en-US" sz="2400" b="1" dirty="0" smtClean="0"/>
              <a:t>Pass-by-Value</a:t>
            </a:r>
          </a:p>
          <a:p>
            <a:pPr marL="342900" lvl="3" indent="-342900">
              <a:buFont typeface="Wingdings" pitchFamily="2" charset="2"/>
              <a:buChar char="Ø"/>
            </a:pPr>
            <a:r>
              <a:rPr lang="en-US" sz="2400" dirty="0" smtClean="0"/>
              <a:t>     </a:t>
            </a:r>
            <a:r>
              <a:rPr lang="en-US" sz="2400" b="1" dirty="0" smtClean="0"/>
              <a:t>Pass-by-Result</a:t>
            </a:r>
          </a:p>
          <a:p>
            <a:pPr marL="342900" lvl="3" indent="-342900">
              <a:buFont typeface="Wingdings" pitchFamily="2" charset="2"/>
              <a:buChar char="Ø"/>
            </a:pPr>
            <a:r>
              <a:rPr lang="en-US" sz="2400" b="1" dirty="0" smtClean="0"/>
              <a:t>     Pass-by-Value-Result</a:t>
            </a:r>
          </a:p>
          <a:p>
            <a:pPr marL="342900" lvl="3" indent="-342900">
              <a:buFont typeface="Wingdings" pitchFamily="2" charset="2"/>
              <a:buChar char="Ø"/>
            </a:pPr>
            <a:r>
              <a:rPr lang="en-US" sz="2400" b="1" dirty="0" smtClean="0"/>
              <a:t>     Pass-by-Reference</a:t>
            </a:r>
          </a:p>
          <a:p>
            <a:pPr marL="342900" lvl="3" indent="-342900">
              <a:buFont typeface="Wingdings" pitchFamily="2" charset="2"/>
              <a:buChar char="Ø"/>
            </a:pPr>
            <a:r>
              <a:rPr lang="en-US" sz="2400" b="1" dirty="0" smtClean="0"/>
              <a:t>     Pass-by-Name</a:t>
            </a:r>
          </a:p>
          <a:p>
            <a:pPr marL="342900" lvl="3" indent="-342900">
              <a:buFont typeface="Wingdings" pitchFamily="2" charset="2"/>
              <a:buChar char="Ø"/>
            </a:pPr>
            <a:endParaRPr lang="en-US" sz="2400" b="1" dirty="0" smtClean="0"/>
          </a:p>
          <a:p>
            <a:pPr>
              <a:buNone/>
            </a:pPr>
            <a:r>
              <a:rPr lang="en-US" sz="2400" dirty="0" smtClean="0"/>
              <a:t> </a:t>
            </a:r>
            <a:r>
              <a:rPr lang="en-US" sz="2400" b="1" dirty="0" smtClean="0"/>
              <a:t>Pass-by-Value: </a:t>
            </a:r>
            <a:r>
              <a:rPr lang="en-US" sz="2400" dirty="0" smtClean="0"/>
              <a:t>When a parameter is </a:t>
            </a:r>
            <a:r>
              <a:rPr lang="en-US" sz="2400" b="1" dirty="0" smtClean="0"/>
              <a:t>passed by value</a:t>
            </a:r>
            <a:r>
              <a:rPr lang="en-US" sz="2400" dirty="0" smtClean="0"/>
              <a:t>, the value of the actual parameter is used to initialize the corresponding formal parameter, which then acts as a local variable in the subprogram, thus implementing in-mode semantics.</a:t>
            </a:r>
          </a:p>
          <a:p>
            <a:pPr>
              <a:buNone/>
            </a:pP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Pass-by-value is normally implemented by copy, because accesses often are more efficient with this approach. It could be implemented by transmitting an access path to the value of the actual parameter in the caller, but that would require that the value be in a write-protected cell (one that can only be read). </a:t>
            </a:r>
          </a:p>
          <a:p>
            <a:r>
              <a:rPr lang="en-US" sz="2400" dirty="0" smtClean="0"/>
              <a:t>The advantage of pass-by-value is that for scalars it is fast, in both linkage cost and access time.</a:t>
            </a:r>
          </a:p>
          <a:p>
            <a:r>
              <a:rPr lang="en-US" sz="2400" dirty="0" smtClean="0"/>
              <a:t>The main disadvantage of the pass-by-value method if copies are used is that additional storage is required for the formal parameter, either in the called subprogram or in some area outside both the caller and the called subprogram</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lnSpcReduction="10000"/>
          </a:bodyPr>
          <a:lstStyle/>
          <a:p>
            <a:pPr marL="342900" lvl="3" indent="-342900">
              <a:buNone/>
            </a:pPr>
            <a:r>
              <a:rPr lang="en-US" sz="2400" b="1" dirty="0" smtClean="0"/>
              <a:t>Pass-by-Result: Pass-by-result </a:t>
            </a:r>
            <a:r>
              <a:rPr lang="en-US" sz="2400" dirty="0" smtClean="0"/>
              <a:t>is an implementation model for out-mode parameters</a:t>
            </a:r>
          </a:p>
          <a:p>
            <a:pPr marL="342900" lvl="3" indent="-342900">
              <a:buFont typeface="Arial" pitchFamily="34" charset="0"/>
              <a:buChar char="•"/>
            </a:pPr>
            <a:r>
              <a:rPr lang="en-US" sz="2400" dirty="0" smtClean="0"/>
              <a:t>When a parameter is passed by result, no value is transmitted to the subprogram. </a:t>
            </a:r>
          </a:p>
          <a:p>
            <a:pPr marL="342900" lvl="3" indent="-342900">
              <a:buFont typeface="Arial" pitchFamily="34" charset="0"/>
              <a:buChar char="•"/>
            </a:pPr>
            <a:r>
              <a:rPr lang="en-US" sz="2400" dirty="0" smtClean="0"/>
              <a:t>One  problem with the pass-by-result model is that there can be an actual parameter collision, such as the one created with the call</a:t>
            </a:r>
          </a:p>
          <a:p>
            <a:pPr lvl="0"/>
            <a:r>
              <a:rPr lang="en-US" sz="2400" b="1" dirty="0" err="1" smtClean="0"/>
              <a:t>Eg</a:t>
            </a:r>
            <a:r>
              <a:rPr lang="en-US" sz="2400" b="1" dirty="0" smtClean="0"/>
              <a:t>: </a:t>
            </a:r>
            <a:r>
              <a:rPr lang="en-US" sz="2400" dirty="0" smtClean="0"/>
              <a:t>The </a:t>
            </a:r>
            <a:r>
              <a:rPr lang="en-US" sz="2400" b="1" dirty="0" smtClean="0"/>
              <a:t>out </a:t>
            </a:r>
            <a:r>
              <a:rPr lang="en-US" sz="2400" dirty="0" err="1" smtClean="0"/>
              <a:t>specifier</a:t>
            </a:r>
            <a:r>
              <a:rPr lang="en-US" sz="2400" dirty="0" smtClean="0"/>
              <a:t> must also be specified on the corresponding actual parameter.</a:t>
            </a:r>
          </a:p>
          <a:p>
            <a:r>
              <a:rPr lang="en-US" sz="2400" b="1" dirty="0" smtClean="0"/>
              <a:t>void </a:t>
            </a:r>
            <a:r>
              <a:rPr lang="en-US" sz="2400" dirty="0" smtClean="0"/>
              <a:t>Fixer(</a:t>
            </a:r>
            <a:r>
              <a:rPr lang="en-US" sz="2400" b="1" dirty="0" smtClean="0"/>
              <a:t>out </a:t>
            </a:r>
            <a:r>
              <a:rPr lang="en-US" sz="2400" b="1" dirty="0" err="1" smtClean="0"/>
              <a:t>int</a:t>
            </a:r>
            <a:r>
              <a:rPr lang="en-US" sz="2400" b="1" dirty="0" smtClean="0"/>
              <a:t> </a:t>
            </a:r>
            <a:r>
              <a:rPr lang="en-US" sz="2400" dirty="0" smtClean="0"/>
              <a:t>x, </a:t>
            </a:r>
            <a:r>
              <a:rPr lang="en-US" sz="2400" b="1" dirty="0" smtClean="0"/>
              <a:t>out </a:t>
            </a:r>
            <a:r>
              <a:rPr lang="en-US" sz="2400" b="1" dirty="0" err="1" smtClean="0"/>
              <a:t>int</a:t>
            </a:r>
            <a:r>
              <a:rPr lang="en-US" sz="2400" b="1" dirty="0" smtClean="0"/>
              <a:t> </a:t>
            </a:r>
            <a:r>
              <a:rPr lang="en-US" sz="2400" dirty="0" smtClean="0"/>
              <a:t>y)</a:t>
            </a:r>
          </a:p>
          <a:p>
            <a:r>
              <a:rPr lang="en-US" sz="2400" dirty="0" smtClean="0"/>
              <a:t> {</a:t>
            </a:r>
          </a:p>
          <a:p>
            <a:r>
              <a:rPr lang="en-US" sz="2400" dirty="0" smtClean="0"/>
              <a:t> x = 17;</a:t>
            </a:r>
          </a:p>
          <a:p>
            <a:r>
              <a:rPr lang="en-US" sz="2400" dirty="0" smtClean="0"/>
              <a:t>y = 35;</a:t>
            </a:r>
          </a:p>
          <a:p>
            <a:r>
              <a:rPr lang="en-US" sz="2400" dirty="0" smtClean="0"/>
              <a:t>}</a:t>
            </a:r>
          </a:p>
          <a:p>
            <a:r>
              <a:rPr lang="en-US" sz="2400" dirty="0" smtClean="0"/>
              <a:t>. . .</a:t>
            </a:r>
          </a:p>
          <a:p>
            <a:r>
              <a:rPr lang="en-US" sz="2400" dirty="0" err="1" smtClean="0"/>
              <a:t>f.Fixer</a:t>
            </a:r>
            <a:r>
              <a:rPr lang="en-US" sz="2400" dirty="0" smtClean="0"/>
              <a:t>(</a:t>
            </a:r>
            <a:r>
              <a:rPr lang="en-US" sz="2400" b="1" dirty="0" smtClean="0"/>
              <a:t>out </a:t>
            </a:r>
            <a:r>
              <a:rPr lang="en-US" sz="2400" dirty="0" smtClean="0"/>
              <a:t>a, </a:t>
            </a:r>
            <a:r>
              <a:rPr lang="en-US" sz="2400" b="1" dirty="0" smtClean="0"/>
              <a:t>out </a:t>
            </a:r>
            <a:r>
              <a:rPr lang="en-US" sz="2400" dirty="0" smtClean="0"/>
              <a:t>a);</a:t>
            </a:r>
          </a:p>
          <a:p>
            <a:pPr marL="342900" lvl="3" indent="-342900">
              <a:buFont typeface="Arial" pitchFamily="34" charset="0"/>
              <a:buChar char="•"/>
            </a:pPr>
            <a:endParaRPr lang="en-US" sz="2400" b="1" dirty="0" smtClean="0"/>
          </a:p>
          <a:p>
            <a:pPr>
              <a:buNone/>
            </a:pP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r>
              <a:rPr lang="en-US" sz="2400" dirty="0" smtClean="0"/>
              <a:t>Another problem that can occur with pass-by-result is that the </a:t>
            </a:r>
            <a:r>
              <a:rPr lang="en-US" sz="2400" dirty="0" err="1" smtClean="0"/>
              <a:t>implementor</a:t>
            </a:r>
            <a:r>
              <a:rPr lang="en-US" sz="2400" dirty="0" smtClean="0"/>
              <a:t> may be able to choose between two different times to evaluate the addresses of the actual parameters: at the time of the call or at the time of the return. For example, consider the following C# method and following code:</a:t>
            </a:r>
          </a:p>
          <a:p>
            <a:r>
              <a:rPr lang="en-US" sz="2400" b="1" dirty="0" smtClean="0"/>
              <a:t>void </a:t>
            </a:r>
            <a:r>
              <a:rPr lang="en-US" sz="2400" dirty="0" err="1" smtClean="0"/>
              <a:t>DoIt</a:t>
            </a:r>
            <a:r>
              <a:rPr lang="en-US" sz="2400" dirty="0" smtClean="0"/>
              <a:t>(</a:t>
            </a:r>
            <a:r>
              <a:rPr lang="en-US" sz="2400" b="1" dirty="0" smtClean="0"/>
              <a:t>out </a:t>
            </a:r>
            <a:r>
              <a:rPr lang="en-US" sz="2400" b="1" dirty="0" err="1" smtClean="0"/>
              <a:t>int</a:t>
            </a:r>
            <a:r>
              <a:rPr lang="en-US" sz="2400" b="1" dirty="0" smtClean="0"/>
              <a:t> </a:t>
            </a:r>
            <a:r>
              <a:rPr lang="en-US" sz="2400" dirty="0" smtClean="0"/>
              <a:t>x, </a:t>
            </a:r>
            <a:r>
              <a:rPr lang="en-US" sz="2400" b="1" dirty="0" err="1" smtClean="0"/>
              <a:t>int</a:t>
            </a:r>
            <a:r>
              <a:rPr lang="en-US" sz="2400" b="1" dirty="0" smtClean="0"/>
              <a:t> </a:t>
            </a:r>
            <a:r>
              <a:rPr lang="en-US" sz="2400" dirty="0" smtClean="0"/>
              <a:t>index)</a:t>
            </a:r>
          </a:p>
          <a:p>
            <a:r>
              <a:rPr lang="en-US" sz="2400" dirty="0" smtClean="0"/>
              <a:t>{ </a:t>
            </a:r>
          </a:p>
          <a:p>
            <a:r>
              <a:rPr lang="en-US" sz="2400" dirty="0" smtClean="0"/>
              <a:t>x = 17;</a:t>
            </a:r>
          </a:p>
          <a:p>
            <a:r>
              <a:rPr lang="en-US" sz="2400" dirty="0" smtClean="0"/>
              <a:t>index = 42;</a:t>
            </a:r>
          </a:p>
          <a:p>
            <a:r>
              <a:rPr lang="en-US" sz="2400" dirty="0" smtClean="0"/>
              <a:t>}</a:t>
            </a:r>
          </a:p>
          <a:p>
            <a:r>
              <a:rPr lang="en-US" sz="2400" dirty="0" smtClean="0"/>
              <a:t>. . .</a:t>
            </a:r>
          </a:p>
          <a:p>
            <a:r>
              <a:rPr lang="en-US" sz="2400" dirty="0" smtClean="0"/>
              <a:t>sub = 21;</a:t>
            </a:r>
          </a:p>
          <a:p>
            <a:r>
              <a:rPr lang="en-US" sz="2400" dirty="0" smtClean="0"/>
              <a:t> </a:t>
            </a:r>
            <a:r>
              <a:rPr lang="en-US" sz="2400" dirty="0" err="1" smtClean="0"/>
              <a:t>f.DoIt</a:t>
            </a:r>
            <a:r>
              <a:rPr lang="en-US" sz="2400" dirty="0" smtClean="0"/>
              <a:t>(list[sub], sub);</a:t>
            </a:r>
          </a:p>
          <a:p>
            <a:pPr>
              <a:buNone/>
            </a:pP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marL="342900" lvl="3" indent="-342900">
              <a:buNone/>
            </a:pPr>
            <a:r>
              <a:rPr lang="en-US" sz="2400" b="1" dirty="0" smtClean="0"/>
              <a:t>Pass-by-Value-Result: Pass-by-value-result </a:t>
            </a:r>
            <a:r>
              <a:rPr lang="en-US" sz="2400" dirty="0" smtClean="0"/>
              <a:t>is an implementation model for </a:t>
            </a:r>
            <a:r>
              <a:rPr lang="en-US" sz="2400" dirty="0" err="1" smtClean="0"/>
              <a:t>inout</a:t>
            </a:r>
            <a:r>
              <a:rPr lang="en-US" sz="2400" dirty="0" smtClean="0"/>
              <a:t>-mode parameters in which actual values are copied. </a:t>
            </a:r>
          </a:p>
          <a:p>
            <a:pPr marL="342900" lvl="3" indent="-342900">
              <a:buFont typeface="Arial" pitchFamily="34" charset="0"/>
              <a:buChar char="•"/>
            </a:pPr>
            <a:r>
              <a:rPr lang="en-US" sz="2400" dirty="0" smtClean="0"/>
              <a:t>Pass-by-value-result is sometimes called </a:t>
            </a:r>
            <a:r>
              <a:rPr lang="en-US" sz="2400" b="1" dirty="0" smtClean="0"/>
              <a:t>pass-by-copy</a:t>
            </a:r>
            <a:r>
              <a:rPr lang="en-US" sz="2400" dirty="0" smtClean="0"/>
              <a:t>, because the actual parameter is copied to the formal parameter at subprogram entry and then copied back at subprogram termination.</a:t>
            </a:r>
          </a:p>
          <a:p>
            <a:pPr marL="342900" lvl="3" indent="-342900">
              <a:buNone/>
            </a:pPr>
            <a:r>
              <a:rPr lang="en-US" sz="2400" b="1" dirty="0" smtClean="0"/>
              <a:t>Pass-by-Reference: Pass-by-reference </a:t>
            </a:r>
            <a:r>
              <a:rPr lang="en-US" sz="2400" dirty="0" smtClean="0"/>
              <a:t>is a second implementation model for </a:t>
            </a:r>
            <a:r>
              <a:rPr lang="en-US" sz="2400" dirty="0" err="1" smtClean="0"/>
              <a:t>inout</a:t>
            </a:r>
            <a:r>
              <a:rPr lang="en-US" sz="2400" dirty="0" smtClean="0"/>
              <a:t>-mode parameters is passed by addresses or reference.</a:t>
            </a:r>
          </a:p>
          <a:p>
            <a:pPr marL="342900" lvl="3" indent="-342900">
              <a:buFont typeface="Arial" pitchFamily="34" charset="0"/>
              <a:buChar char="•"/>
            </a:pPr>
            <a:r>
              <a:rPr lang="en-US" sz="2400" dirty="0" smtClean="0"/>
              <a:t>The advantage of pass-by-reference is that the passing process itself is efficient, in terms of both time and space. </a:t>
            </a:r>
            <a:endParaRPr lang="en-US" sz="2400" b="1" dirty="0" smtClean="0"/>
          </a:p>
          <a:p>
            <a:r>
              <a:rPr lang="en-US" sz="2400" dirty="0" smtClean="0"/>
              <a:t>problem of pass-by-reference is that aliases can be created. </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r>
              <a:rPr lang="en-US" sz="2400" dirty="0" smtClean="0"/>
              <a:t>Consider a C++ function that has two parameters that are to be passed by reference, as in</a:t>
            </a:r>
          </a:p>
          <a:p>
            <a:r>
              <a:rPr lang="en-US" sz="2400" b="1" dirty="0" smtClean="0"/>
              <a:t>void </a:t>
            </a:r>
            <a:r>
              <a:rPr lang="en-US" sz="2400" dirty="0" smtClean="0"/>
              <a:t>fun(</a:t>
            </a:r>
            <a:r>
              <a:rPr lang="en-US" sz="2400" b="1" dirty="0" err="1" smtClean="0"/>
              <a:t>int</a:t>
            </a:r>
            <a:r>
              <a:rPr lang="en-US" sz="2400" b="1" dirty="0" smtClean="0"/>
              <a:t> </a:t>
            </a:r>
            <a:r>
              <a:rPr lang="en-US" sz="2400" dirty="0" smtClean="0"/>
              <a:t>&amp;first, </a:t>
            </a:r>
            <a:r>
              <a:rPr lang="en-US" sz="2400" b="1" dirty="0" err="1" smtClean="0"/>
              <a:t>int</a:t>
            </a:r>
            <a:r>
              <a:rPr lang="en-US" sz="2400" b="1" dirty="0" smtClean="0"/>
              <a:t> </a:t>
            </a:r>
            <a:r>
              <a:rPr lang="en-US" sz="2400" dirty="0" smtClean="0"/>
              <a:t>&amp;second)</a:t>
            </a:r>
          </a:p>
          <a:p>
            <a:r>
              <a:rPr lang="en-US" sz="2400" dirty="0" smtClean="0"/>
              <a:t>If the call to fun happens to pass the same variable twice, as in</a:t>
            </a:r>
          </a:p>
          <a:p>
            <a:r>
              <a:rPr lang="en-US" sz="2400" dirty="0" smtClean="0"/>
              <a:t>fun(total, total)</a:t>
            </a:r>
          </a:p>
          <a:p>
            <a:r>
              <a:rPr lang="en-US" sz="2400" dirty="0" smtClean="0"/>
              <a:t>then first and second in fun will be aliases.</a:t>
            </a:r>
          </a:p>
          <a:p>
            <a:pPr marL="342900" lvl="3" indent="-342900">
              <a:buNone/>
            </a:pPr>
            <a:r>
              <a:rPr lang="en-US" sz="2400" b="1" dirty="0" smtClean="0"/>
              <a:t>Pass-by-Name: Pass-by-name </a:t>
            </a:r>
            <a:r>
              <a:rPr lang="en-US" sz="2400" dirty="0" smtClean="0"/>
              <a:t>is an </a:t>
            </a:r>
            <a:r>
              <a:rPr lang="en-US" sz="2400" dirty="0" err="1" smtClean="0"/>
              <a:t>inout</a:t>
            </a:r>
            <a:r>
              <a:rPr lang="en-US" sz="2400" dirty="0" smtClean="0"/>
              <a:t>-mode parameter transmission mode When parameters are passed by name, the actual parameter is substituted by corresponding formal parameters.</a:t>
            </a:r>
          </a:p>
          <a:p>
            <a:pPr marL="342900" lvl="3" indent="-342900">
              <a:buFont typeface="Arial" pitchFamily="34" charset="0"/>
              <a:buChar char="•"/>
            </a:pPr>
            <a:r>
              <a:rPr lang="en-US" sz="2400" b="1" dirty="0" smtClean="0"/>
              <a:t>ALGOL </a:t>
            </a:r>
            <a:r>
              <a:rPr lang="en-US" sz="2400" dirty="0" smtClean="0"/>
              <a:t> is supported by pass by name.</a:t>
            </a:r>
            <a:endParaRPr lang="en-US" sz="2400" b="1" dirty="0" smtClean="0"/>
          </a:p>
          <a:p>
            <a:pPr>
              <a:buNone/>
            </a:pP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pPr lvl="2"/>
            <a:r>
              <a:rPr lang="en-US" b="1" dirty="0" smtClean="0"/>
              <a:t>Examples of Parameter Passing</a:t>
            </a:r>
          </a:p>
          <a:p>
            <a:r>
              <a:rPr lang="en-US" sz="2400" dirty="0" smtClean="0"/>
              <a:t>Consider the following C function:</a:t>
            </a:r>
          </a:p>
          <a:p>
            <a:r>
              <a:rPr lang="en-US" sz="2400" b="1" dirty="0" smtClean="0"/>
              <a:t>void </a:t>
            </a:r>
            <a:r>
              <a:rPr lang="en-US" sz="2400" dirty="0" smtClean="0"/>
              <a:t>swap1(</a:t>
            </a:r>
            <a:r>
              <a:rPr lang="en-US" sz="2400" b="1" dirty="0" err="1" smtClean="0"/>
              <a:t>int</a:t>
            </a:r>
            <a:r>
              <a:rPr lang="en-US" sz="2400" b="1" dirty="0" smtClean="0"/>
              <a:t> </a:t>
            </a:r>
            <a:r>
              <a:rPr lang="en-US" sz="2400" dirty="0" smtClean="0"/>
              <a:t>a, </a:t>
            </a:r>
            <a:r>
              <a:rPr lang="en-US" sz="2400" b="1" dirty="0" err="1" smtClean="0"/>
              <a:t>int</a:t>
            </a:r>
            <a:r>
              <a:rPr lang="en-US" sz="2400" b="1" dirty="0" smtClean="0"/>
              <a:t> </a:t>
            </a:r>
            <a:r>
              <a:rPr lang="en-US" sz="2400" dirty="0" smtClean="0"/>
              <a:t>b) {</a:t>
            </a:r>
          </a:p>
          <a:p>
            <a:r>
              <a:rPr lang="en-US" sz="2400" b="1" dirty="0" err="1" smtClean="0"/>
              <a:t>int</a:t>
            </a:r>
            <a:r>
              <a:rPr lang="en-US" sz="2400" b="1" dirty="0" smtClean="0"/>
              <a:t> </a:t>
            </a:r>
            <a:r>
              <a:rPr lang="en-US" sz="2400" dirty="0" smtClean="0"/>
              <a:t>temp = a;</a:t>
            </a:r>
          </a:p>
          <a:p>
            <a:r>
              <a:rPr lang="en-US" sz="2400" dirty="0" smtClean="0"/>
              <a:t>a = b;</a:t>
            </a:r>
          </a:p>
          <a:p>
            <a:r>
              <a:rPr lang="en-US" sz="2400" dirty="0" smtClean="0"/>
              <a:t>b = temp;</a:t>
            </a:r>
          </a:p>
          <a:p>
            <a:r>
              <a:rPr lang="en-US" sz="2400" dirty="0" smtClean="0"/>
              <a:t>}</a:t>
            </a:r>
          </a:p>
          <a:p>
            <a:r>
              <a:rPr lang="en-US" sz="2400" dirty="0" smtClean="0"/>
              <a:t> </a:t>
            </a:r>
          </a:p>
          <a:p>
            <a:r>
              <a:rPr lang="en-US" sz="2400" dirty="0" smtClean="0"/>
              <a:t>Suppose this function is called with</a:t>
            </a:r>
          </a:p>
          <a:p>
            <a:r>
              <a:rPr lang="en-US" sz="2400" dirty="0" smtClean="0"/>
              <a:t>swap1(c, d);</a:t>
            </a:r>
          </a:p>
          <a:p>
            <a:r>
              <a:rPr lang="en-US" sz="2400" dirty="0" smtClean="0"/>
              <a:t> </a:t>
            </a:r>
          </a:p>
          <a:p>
            <a:pPr>
              <a:buNone/>
            </a:pPr>
            <a:r>
              <a:rPr lang="en-US" sz="2400" dirty="0" smtClean="0"/>
              <a:t>Recall that C uses pass-by-value. The actions of swap1 can be described by the following </a:t>
            </a:r>
            <a:r>
              <a:rPr lang="en-US" sz="2400" dirty="0" err="1" smtClean="0"/>
              <a:t>pseudocode</a:t>
            </a:r>
            <a:r>
              <a:rPr lang="en-US" sz="2400" dirty="0" smtClean="0"/>
              <a:t>:</a:t>
            </a:r>
          </a:p>
          <a:p>
            <a:pPr>
              <a:buNone/>
            </a:pP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fontScale="92500" lnSpcReduction="10000"/>
          </a:bodyPr>
          <a:lstStyle/>
          <a:p>
            <a:r>
              <a:rPr lang="en-US" sz="2400" dirty="0" smtClean="0"/>
              <a:t>a = c  	- Move first parameter value in</a:t>
            </a:r>
          </a:p>
          <a:p>
            <a:r>
              <a:rPr lang="en-US" sz="2400" dirty="0" smtClean="0"/>
              <a:t>b = d	- Move second parameter value in temp = a</a:t>
            </a:r>
          </a:p>
          <a:p>
            <a:r>
              <a:rPr lang="en-US" sz="2400" dirty="0" smtClean="0"/>
              <a:t>a = b</a:t>
            </a:r>
          </a:p>
          <a:p>
            <a:r>
              <a:rPr lang="en-US" sz="2400" dirty="0" smtClean="0"/>
              <a:t>b = temp</a:t>
            </a:r>
          </a:p>
          <a:p>
            <a:r>
              <a:rPr lang="en-US" sz="2400" dirty="0" smtClean="0"/>
              <a:t> </a:t>
            </a:r>
          </a:p>
          <a:p>
            <a:r>
              <a:rPr lang="en-US" sz="2400" dirty="0" smtClean="0"/>
              <a:t>Although a ends up with </a:t>
            </a:r>
            <a:r>
              <a:rPr lang="en-US" sz="2400" dirty="0" err="1" smtClean="0"/>
              <a:t>d’s</a:t>
            </a:r>
            <a:r>
              <a:rPr lang="en-US" sz="2400" dirty="0" smtClean="0"/>
              <a:t> value and b ends up with </a:t>
            </a:r>
            <a:r>
              <a:rPr lang="en-US" sz="2400" dirty="0" err="1" smtClean="0"/>
              <a:t>c’s</a:t>
            </a:r>
            <a:r>
              <a:rPr lang="en-US" sz="2400" dirty="0" smtClean="0"/>
              <a:t> value, the values of</a:t>
            </a:r>
          </a:p>
          <a:p>
            <a:r>
              <a:rPr lang="en-US" sz="2400" dirty="0" smtClean="0"/>
              <a:t>c and d are unchanged because nothing is transmitted back to the caller.</a:t>
            </a:r>
          </a:p>
          <a:p>
            <a:r>
              <a:rPr lang="en-US" sz="2400" dirty="0" smtClean="0"/>
              <a:t>We can modify the C swap function to deal with pointer parameters to achieve the effect of pass-by-reference:</a:t>
            </a:r>
          </a:p>
          <a:p>
            <a:r>
              <a:rPr lang="en-US" sz="2400" b="1" dirty="0" smtClean="0"/>
              <a:t>void </a:t>
            </a:r>
            <a:r>
              <a:rPr lang="en-US" sz="2400" dirty="0" smtClean="0"/>
              <a:t>swap2(</a:t>
            </a:r>
            <a:r>
              <a:rPr lang="en-US" sz="2400" b="1" dirty="0" err="1" smtClean="0"/>
              <a:t>int</a:t>
            </a:r>
            <a:r>
              <a:rPr lang="en-US" sz="2400" b="1" dirty="0" smtClean="0"/>
              <a:t> </a:t>
            </a:r>
            <a:r>
              <a:rPr lang="en-US" sz="2400" dirty="0" smtClean="0"/>
              <a:t>*a, </a:t>
            </a:r>
            <a:r>
              <a:rPr lang="en-US" sz="2400" b="1" dirty="0" err="1" smtClean="0"/>
              <a:t>int</a:t>
            </a:r>
            <a:r>
              <a:rPr lang="en-US" sz="2400" b="1" dirty="0" smtClean="0"/>
              <a:t> </a:t>
            </a:r>
            <a:r>
              <a:rPr lang="en-US" sz="2400" dirty="0" smtClean="0"/>
              <a:t>*b) {</a:t>
            </a:r>
          </a:p>
          <a:p>
            <a:r>
              <a:rPr lang="en-US" sz="2400" b="1" dirty="0" err="1" smtClean="0"/>
              <a:t>int</a:t>
            </a:r>
            <a:r>
              <a:rPr lang="en-US" sz="2400" b="1" dirty="0" smtClean="0"/>
              <a:t> </a:t>
            </a:r>
            <a:r>
              <a:rPr lang="en-US" sz="2400" dirty="0" smtClean="0"/>
              <a:t>temp = *a;</a:t>
            </a:r>
          </a:p>
          <a:p>
            <a:r>
              <a:rPr lang="en-US" sz="2400" dirty="0" smtClean="0"/>
              <a:t>*a = *b;</a:t>
            </a:r>
          </a:p>
          <a:p>
            <a:r>
              <a:rPr lang="en-US" sz="2400" dirty="0" smtClean="0"/>
              <a:t>*b = temp;</a:t>
            </a:r>
          </a:p>
          <a:p>
            <a:r>
              <a:rPr lang="en-US" sz="2400" dirty="0" smtClean="0"/>
              <a:t>}</a:t>
            </a:r>
          </a:p>
          <a:p>
            <a:r>
              <a:rPr lang="en-US" sz="2400" dirty="0" smtClean="0"/>
              <a:t> </a:t>
            </a:r>
          </a:p>
          <a:p>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lstStyle/>
          <a:p>
            <a:pPr marL="342900" lvl="1" indent="-342900">
              <a:buNone/>
            </a:pPr>
            <a:r>
              <a:rPr lang="en-US" b="1" dirty="0" smtClean="0"/>
              <a:t>Parameters That Are Subprograms</a:t>
            </a:r>
          </a:p>
          <a:p>
            <a:r>
              <a:rPr lang="en-US" sz="2400" dirty="0" smtClean="0"/>
              <a:t>In programming, a number of situations occur that are most conveniently handled if subprogram names can be sent as parameters to other subprograms</a:t>
            </a:r>
          </a:p>
          <a:p>
            <a:r>
              <a:rPr lang="en-US" sz="2400" dirty="0" smtClean="0"/>
              <a:t>One common example of these occurs when a subprogram must sample some mathematical function. </a:t>
            </a:r>
          </a:p>
          <a:p>
            <a:r>
              <a:rPr lang="en-US" sz="2400" dirty="0" smtClean="0"/>
              <a:t>First, there is the matter of type checking the parameters of the activations of the subprogram that was passed as a parameter</a:t>
            </a:r>
          </a:p>
          <a:p>
            <a:r>
              <a:rPr lang="en-US" sz="2400" dirty="0" smtClean="0"/>
              <a:t>The second complication with parameters that are subprograms appears only with languages that allow nested subprograms. </a:t>
            </a:r>
          </a:p>
          <a:p>
            <a:r>
              <a:rPr lang="en-US" sz="2400" dirty="0" smtClean="0"/>
              <a:t>The issue is what referencing environment for executing the passed subprogram should be used. </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r>
              <a:rPr lang="en-US" sz="2400" dirty="0" smtClean="0"/>
              <a:t>There are three choices:</a:t>
            </a:r>
          </a:p>
          <a:p>
            <a:r>
              <a:rPr lang="en-US" sz="2400" dirty="0" smtClean="0"/>
              <a:t> The environment of the call statement that enacts the passed subprogram (</a:t>
            </a:r>
            <a:r>
              <a:rPr lang="en-US" sz="2400" b="1" dirty="0" smtClean="0"/>
              <a:t>shallow binding</a:t>
            </a:r>
            <a:r>
              <a:rPr lang="en-US" sz="2400" dirty="0" smtClean="0"/>
              <a:t>)</a:t>
            </a:r>
          </a:p>
          <a:p>
            <a:r>
              <a:rPr lang="en-US" sz="2400" dirty="0" smtClean="0"/>
              <a:t>The environment of the definition of the passed subprogram (</a:t>
            </a:r>
            <a:r>
              <a:rPr lang="en-US" sz="2400" b="1" dirty="0" smtClean="0"/>
              <a:t>deep binding</a:t>
            </a:r>
            <a:r>
              <a:rPr lang="en-US" sz="2400" dirty="0" smtClean="0"/>
              <a:t>)</a:t>
            </a:r>
          </a:p>
          <a:p>
            <a:r>
              <a:rPr lang="en-US" sz="2400" dirty="0" smtClean="0"/>
              <a:t> The environment of the call statement that passed the subprogram as an actual parameter (</a:t>
            </a:r>
            <a:r>
              <a:rPr lang="en-US" sz="2400" b="1" dirty="0" smtClean="0"/>
              <a:t>ad hoc binding</a:t>
            </a:r>
            <a:r>
              <a:rPr lang="en-US" sz="2400" dirty="0" smtClean="0"/>
              <a:t>)</a:t>
            </a:r>
          </a:p>
          <a:p>
            <a:r>
              <a:rPr lang="en-US" sz="2400" dirty="0" smtClean="0"/>
              <a:t>The following example program, written with the syntax of JavaScript, illustrates these choices:</a:t>
            </a:r>
          </a:p>
          <a:p>
            <a:r>
              <a:rPr lang="en-US" sz="2400" b="1" dirty="0" smtClean="0"/>
              <a:t>function </a:t>
            </a:r>
            <a:r>
              <a:rPr lang="en-US" sz="2400" dirty="0" smtClean="0"/>
              <a:t>sub1() {</a:t>
            </a:r>
          </a:p>
          <a:p>
            <a:r>
              <a:rPr lang="en-US" sz="2400" b="1" dirty="0" err="1" smtClean="0"/>
              <a:t>var</a:t>
            </a:r>
            <a:r>
              <a:rPr lang="en-US" sz="2400" b="1" dirty="0" smtClean="0"/>
              <a:t> </a:t>
            </a:r>
            <a:r>
              <a:rPr lang="en-US" sz="2400" dirty="0" smtClean="0"/>
              <a:t>x;</a:t>
            </a:r>
          </a:p>
          <a:p>
            <a:r>
              <a:rPr lang="en-US" sz="2400" b="1" dirty="0" smtClean="0"/>
              <a:t>function </a:t>
            </a:r>
            <a:r>
              <a:rPr lang="en-US" sz="2400" dirty="0" smtClean="0"/>
              <a:t>sub2() {</a:t>
            </a:r>
          </a:p>
          <a:p>
            <a:r>
              <a:rPr lang="en-US" sz="2400" dirty="0" smtClean="0"/>
              <a:t>alert(x); // Creates a dialog box with the value of x</a:t>
            </a:r>
          </a:p>
          <a:p>
            <a:r>
              <a:rPr lang="en-US" sz="2400" dirty="0" smtClean="0"/>
              <a:t>};</a:t>
            </a:r>
          </a:p>
          <a:p>
            <a:pPr>
              <a:buNone/>
            </a:pP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b="1" dirty="0" smtClean="0"/>
              <a:t>function </a:t>
            </a:r>
            <a:r>
              <a:rPr lang="en-US" sz="2400" dirty="0" smtClean="0"/>
              <a:t>sub3() {</a:t>
            </a:r>
          </a:p>
          <a:p>
            <a:r>
              <a:rPr lang="en-US" sz="2400" b="1" dirty="0" err="1" smtClean="0"/>
              <a:t>var</a:t>
            </a:r>
            <a:r>
              <a:rPr lang="en-US" sz="2400" b="1" dirty="0" smtClean="0"/>
              <a:t> </a:t>
            </a:r>
            <a:r>
              <a:rPr lang="en-US" sz="2400" dirty="0" smtClean="0"/>
              <a:t>x; x = 3;</a:t>
            </a:r>
          </a:p>
          <a:p>
            <a:r>
              <a:rPr lang="en-US" sz="2400" dirty="0" smtClean="0"/>
              <a:t>sub4(sub2);</a:t>
            </a:r>
          </a:p>
          <a:p>
            <a:r>
              <a:rPr lang="en-US" sz="2400" dirty="0" smtClean="0"/>
              <a:t>};</a:t>
            </a:r>
          </a:p>
          <a:p>
            <a:r>
              <a:rPr lang="en-US" sz="2400" b="1" dirty="0" smtClean="0"/>
              <a:t>function </a:t>
            </a:r>
            <a:r>
              <a:rPr lang="en-US" sz="2400" dirty="0" smtClean="0"/>
              <a:t>sub4(</a:t>
            </a:r>
            <a:r>
              <a:rPr lang="en-US" sz="2400" dirty="0" err="1" smtClean="0"/>
              <a:t>subx</a:t>
            </a:r>
            <a:r>
              <a:rPr lang="en-US" sz="2400" dirty="0" smtClean="0"/>
              <a:t>) {</a:t>
            </a:r>
          </a:p>
          <a:p>
            <a:r>
              <a:rPr lang="en-US" sz="2400" b="1" dirty="0" err="1" smtClean="0"/>
              <a:t>var</a:t>
            </a:r>
            <a:r>
              <a:rPr lang="en-US" sz="2400" b="1" dirty="0" smtClean="0"/>
              <a:t> </a:t>
            </a:r>
            <a:r>
              <a:rPr lang="en-US" sz="2400" dirty="0" smtClean="0"/>
              <a:t>x; x = 4;</a:t>
            </a:r>
          </a:p>
          <a:p>
            <a:r>
              <a:rPr lang="en-US" sz="2400" dirty="0" err="1" smtClean="0"/>
              <a:t>subx</a:t>
            </a:r>
            <a:r>
              <a:rPr lang="en-US" sz="2400" dirty="0" smtClean="0"/>
              <a:t>();</a:t>
            </a:r>
          </a:p>
          <a:p>
            <a:r>
              <a:rPr lang="en-US" sz="2400" dirty="0" smtClean="0"/>
              <a:t>}; x = 1;</a:t>
            </a:r>
          </a:p>
          <a:p>
            <a:r>
              <a:rPr lang="en-US" sz="2400" dirty="0" smtClean="0"/>
              <a:t>sub3();</a:t>
            </a:r>
          </a:p>
          <a:p>
            <a:r>
              <a:rPr lang="en-US" sz="2400" dirty="0" smtClean="0"/>
              <a:t>};</a:t>
            </a:r>
          </a:p>
          <a:p>
            <a:r>
              <a:rPr lang="en-US" sz="2400" dirty="0" smtClean="0"/>
              <a:t> </a:t>
            </a:r>
          </a:p>
          <a:p>
            <a:pPr>
              <a:buNone/>
            </a:pP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a:bodyPr>
          <a:lstStyle/>
          <a:p>
            <a:r>
              <a:rPr lang="en-US" sz="2400" dirty="0" smtClean="0"/>
              <a:t>Consider the execution of sub2 when it is called in sub4. For shallow binding, the referencing environment of that execution is that of sub4, so the reference to x in sub2 is bound to the local x in sub4, and the output of the program is 4. For deep binding, the referencing environment of sub2’s execution is that of sub1, so the reference to x in sub2 is bound to the local x in sub1, and the output is 1. For ad hoc binding, the binding is to the local x in sub3, and the output is 3.</a:t>
            </a:r>
          </a:p>
          <a:p>
            <a:r>
              <a:rPr lang="en-US" sz="2400" dirty="0" smtClean="0"/>
              <a:t>Ad hoc binding has never been used because, one might surmise, the environment in which the procedure appears as a parameter has no natural connection to the passed subprogram.</a:t>
            </a:r>
          </a:p>
          <a:p>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normAutofit/>
          </a:bodyPr>
          <a:lstStyle/>
          <a:p>
            <a:pPr marL="342900" lvl="1" indent="-342900">
              <a:buNone/>
            </a:pPr>
            <a:r>
              <a:rPr lang="en-US" b="1" dirty="0" smtClean="0"/>
              <a:t>Calling Subprograms Indirectly</a:t>
            </a:r>
          </a:p>
          <a:p>
            <a:r>
              <a:rPr lang="en-US" sz="2400" dirty="0" smtClean="0"/>
              <a:t>These most often occur when the specific subprogram to be called is not known until run time.(</a:t>
            </a:r>
            <a:r>
              <a:rPr lang="en-US" sz="2400" dirty="0" err="1" smtClean="0"/>
              <a:t>eg</a:t>
            </a:r>
            <a:r>
              <a:rPr lang="en-US" sz="2400" dirty="0" smtClean="0"/>
              <a:t>: event handling &amp; GUIs)</a:t>
            </a:r>
          </a:p>
          <a:p>
            <a:r>
              <a:rPr lang="en-US" sz="2400" dirty="0" smtClean="0"/>
              <a:t>In C, C++ ,such calls are made through the function pointers</a:t>
            </a:r>
          </a:p>
          <a:p>
            <a:r>
              <a:rPr lang="en-US" sz="2400" dirty="0" smtClean="0"/>
              <a:t>In C#, the power and flexibility of method pointers is increased by making them objects. These are called </a:t>
            </a:r>
            <a:r>
              <a:rPr lang="en-US" sz="2400" b="1" dirty="0" smtClean="0"/>
              <a:t>delegates</a:t>
            </a:r>
            <a:r>
              <a:rPr lang="en-US" sz="2400" dirty="0" smtClean="0"/>
              <a:t>, because instead of calling a method, a program delegates that action to a delegate.</a:t>
            </a:r>
          </a:p>
          <a:p>
            <a:r>
              <a:rPr lang="en-US" sz="2400" dirty="0" smtClean="0"/>
              <a:t> The syntax of a declaration of a delegate is the same as that of a method declaration, except that the reserved word </a:t>
            </a:r>
            <a:r>
              <a:rPr lang="en-US" sz="2400" b="1" dirty="0" smtClean="0"/>
              <a:t>delegate </a:t>
            </a:r>
            <a:r>
              <a:rPr lang="en-US" sz="2400" dirty="0" smtClean="0"/>
              <a:t>is inserted just before the return type. For example, we could have the following:</a:t>
            </a:r>
          </a:p>
          <a:p>
            <a:r>
              <a:rPr lang="en-US" sz="2400" b="1" dirty="0" smtClean="0"/>
              <a:t>public delegate </a:t>
            </a:r>
            <a:r>
              <a:rPr lang="en-US" sz="2400" b="1" dirty="0" err="1" smtClean="0"/>
              <a:t>int</a:t>
            </a:r>
            <a:r>
              <a:rPr lang="en-US" sz="2400" b="1" dirty="0" smtClean="0"/>
              <a:t> </a:t>
            </a:r>
            <a:r>
              <a:rPr lang="en-US" sz="2400" dirty="0" smtClean="0"/>
              <a:t>Change(</a:t>
            </a:r>
            <a:r>
              <a:rPr lang="en-US" sz="2400" b="1" dirty="0" err="1" smtClean="0"/>
              <a:t>int</a:t>
            </a:r>
            <a:r>
              <a:rPr lang="en-US" sz="2400" b="1" dirty="0" smtClean="0"/>
              <a:t> </a:t>
            </a:r>
            <a:r>
              <a:rPr lang="en-US" sz="2400" dirty="0" smtClean="0"/>
              <a:t>x);	</a:t>
            </a:r>
          </a:p>
          <a:p>
            <a:r>
              <a:rPr lang="en-US" sz="2400" dirty="0" smtClean="0"/>
              <a:t>This delegate can be instantiated with any method that takes an </a:t>
            </a:r>
            <a:r>
              <a:rPr lang="en-US" sz="2400" b="1" dirty="0" err="1" smtClean="0"/>
              <a:t>int</a:t>
            </a:r>
            <a:r>
              <a:rPr lang="en-US" sz="2400" b="1" dirty="0" smtClean="0"/>
              <a:t> </a:t>
            </a:r>
            <a:r>
              <a:rPr lang="en-US" sz="2400" dirty="0" smtClean="0"/>
              <a:t>as a parameter and returns an </a:t>
            </a:r>
            <a:r>
              <a:rPr lang="en-US" sz="2400" b="1" dirty="0" smtClean="0"/>
              <a:t>int</a:t>
            </a:r>
            <a:r>
              <a:rPr lang="en-US" sz="2400" dirty="0" smtClean="0"/>
              <a:t>. </a:t>
            </a:r>
          </a:p>
          <a:p>
            <a:endParaRPr lang="en-US" sz="2400" dirty="0" smtClean="0"/>
          </a:p>
          <a:p>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a:buNone/>
            </a:pPr>
            <a:r>
              <a:rPr lang="en-US" sz="2800" b="1" dirty="0" smtClean="0"/>
              <a:t>Overloaded subprogram:</a:t>
            </a:r>
          </a:p>
          <a:p>
            <a:r>
              <a:rPr lang="en-US" sz="2400" dirty="0" smtClean="0"/>
              <a:t> An </a:t>
            </a:r>
            <a:r>
              <a:rPr lang="en-US" sz="2400" b="1" dirty="0" smtClean="0"/>
              <a:t>overloaded subprogram </a:t>
            </a:r>
            <a:r>
              <a:rPr lang="en-US" sz="2400" dirty="0" smtClean="0"/>
              <a:t>is one that has the same name as another subprogram in the same referencing environment. </a:t>
            </a:r>
          </a:p>
          <a:p>
            <a:r>
              <a:rPr lang="en-US" sz="2400" dirty="0" smtClean="0"/>
              <a:t>Every version of overloaded subprogram has unique protocol that is it must be different from  other in  number , order or type of its parameter return type if is function.</a:t>
            </a:r>
          </a:p>
          <a:p>
            <a:r>
              <a:rPr lang="en-US" sz="2400" dirty="0" smtClean="0"/>
              <a:t>In ADA return type of overloaded function can be used to disambiguate calls(thus two overloaded function can have same parameter).</a:t>
            </a:r>
          </a:p>
          <a:p>
            <a:r>
              <a:rPr lang="en-US" sz="2400" dirty="0" smtClean="0"/>
              <a:t>ADA , Java , C++ &amp; C# allow user to write multiple versions of subprograms with the same.</a:t>
            </a:r>
          </a:p>
          <a:p>
            <a:r>
              <a:rPr lang="en-US" sz="2400" dirty="0" smtClean="0"/>
              <a:t>The meaning of call to overloaded subprograms to determined by actual parameter.</a:t>
            </a:r>
          </a:p>
          <a:p>
            <a:r>
              <a:rPr lang="en-US" sz="2400" dirty="0" smtClean="0"/>
              <a:t>Many classes in C++ , Java &amp; C# have overloaded constructor.</a:t>
            </a:r>
          </a:p>
          <a:p>
            <a:pPr>
              <a:buNone/>
            </a:pPr>
            <a:endParaRPr lang="en-US" sz="2400" dirty="0" smtClean="0"/>
          </a:p>
          <a:p>
            <a:pPr>
              <a:buNone/>
            </a:pP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228600" y="228600"/>
            <a:ext cx="8686800" cy="6324600"/>
          </a:xfrm>
        </p:spPr>
        <p:txBody>
          <a:bodyPr/>
          <a:lstStyle/>
          <a:p>
            <a:pPr>
              <a:buNone/>
            </a:pPr>
            <a:r>
              <a:rPr lang="en-US" dirty="0" err="1" smtClean="0"/>
              <a:t>Eg</a:t>
            </a:r>
            <a:r>
              <a:rPr lang="en-US" dirty="0" smtClean="0"/>
              <a:t> : </a:t>
            </a:r>
            <a:r>
              <a:rPr lang="en-US" sz="2400" dirty="0" smtClean="0"/>
              <a:t>C++ code</a:t>
            </a:r>
          </a:p>
          <a:p>
            <a:pPr>
              <a:buNone/>
            </a:pPr>
            <a:r>
              <a:rPr lang="en-US" sz="2400" dirty="0" smtClean="0"/>
              <a:t>void show</a:t>
            </a:r>
          </a:p>
          <a:p>
            <a:pPr>
              <a:buNone/>
            </a:pPr>
            <a:r>
              <a:rPr lang="en-US" sz="2400" dirty="0" smtClean="0"/>
              <a:t>{</a:t>
            </a:r>
          </a:p>
          <a:p>
            <a:pPr>
              <a:buNone/>
            </a:pPr>
            <a:r>
              <a:rPr lang="en-US" sz="2400" dirty="0" smtClean="0"/>
              <a:t>Count&lt;&lt;a;</a:t>
            </a:r>
          </a:p>
          <a:p>
            <a:pPr>
              <a:buNone/>
            </a:pPr>
            <a:r>
              <a:rPr lang="en-US" sz="2400" dirty="0" smtClean="0"/>
              <a:t>}</a:t>
            </a:r>
          </a:p>
          <a:p>
            <a:pPr>
              <a:buNone/>
            </a:pPr>
            <a:r>
              <a:rPr lang="en-US" sz="2400" dirty="0" smtClean="0"/>
              <a:t>void show(</a:t>
            </a:r>
            <a:r>
              <a:rPr lang="en-US" sz="2400" dirty="0" err="1" smtClean="0"/>
              <a:t>int</a:t>
            </a:r>
            <a:r>
              <a:rPr lang="en-US" sz="2400" dirty="0" smtClean="0"/>
              <a:t> a, </a:t>
            </a:r>
            <a:r>
              <a:rPr lang="en-US" sz="2400" dirty="0" err="1" smtClean="0"/>
              <a:t>int</a:t>
            </a:r>
            <a:r>
              <a:rPr lang="en-US" sz="2400" dirty="0" smtClean="0"/>
              <a:t> b)</a:t>
            </a:r>
          </a:p>
          <a:p>
            <a:pPr>
              <a:buNone/>
            </a:pPr>
            <a:r>
              <a:rPr lang="en-US" sz="2400" dirty="0" smtClean="0"/>
              <a:t>{</a:t>
            </a:r>
          </a:p>
          <a:p>
            <a:pPr>
              <a:buNone/>
            </a:pPr>
            <a:r>
              <a:rPr lang="en-US" sz="2400" dirty="0" smtClean="0"/>
              <a:t>Count&lt;&lt;a&lt;&lt;b;</a:t>
            </a:r>
          </a:p>
          <a:p>
            <a:pPr>
              <a:buNone/>
            </a:pPr>
            <a:r>
              <a:rPr lang="en-US" sz="2400" dirty="0" smtClean="0"/>
              <a:t>}</a:t>
            </a:r>
          </a:p>
          <a:p>
            <a:pPr>
              <a:buNone/>
            </a:pPr>
            <a:r>
              <a:rPr lang="en-US" sz="2400" dirty="0" err="1" smtClean="0"/>
              <a:t>int</a:t>
            </a:r>
            <a:r>
              <a:rPr lang="en-US" sz="2400" dirty="0" smtClean="0"/>
              <a:t> main(){</a:t>
            </a:r>
          </a:p>
          <a:p>
            <a:pPr>
              <a:buNone/>
            </a:pPr>
            <a:r>
              <a:rPr lang="en-US" sz="2400" dirty="0" err="1" smtClean="0"/>
              <a:t>int</a:t>
            </a:r>
            <a:r>
              <a:rPr lang="en-US" sz="2400" dirty="0" smtClean="0"/>
              <a:t> a=10,b=20;</a:t>
            </a:r>
          </a:p>
          <a:p>
            <a:pPr>
              <a:buNone/>
            </a:pPr>
            <a:r>
              <a:rPr lang="en-US" sz="2400" dirty="0" smtClean="0"/>
              <a:t>Show(a);</a:t>
            </a:r>
          </a:p>
          <a:p>
            <a:pPr>
              <a:buNone/>
            </a:pPr>
            <a:r>
              <a:rPr lang="en-US" sz="2400" dirty="0" smtClean="0"/>
              <a:t>Show(</a:t>
            </a:r>
            <a:r>
              <a:rPr lang="en-US" sz="2400" dirty="0" err="1" smtClean="0"/>
              <a:t>a,b</a:t>
            </a:r>
            <a:r>
              <a:rPr lang="en-US" sz="2400" dirty="0" smtClean="0"/>
              <a:t>);</a:t>
            </a:r>
          </a:p>
          <a:p>
            <a:pPr>
              <a:buNone/>
            </a:pPr>
            <a:r>
              <a:rPr lang="en-US" sz="2400" dirty="0" smtClean="0"/>
              <a:t>return 0;}</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normAutofit/>
          </a:bodyPr>
          <a:lstStyle/>
          <a:p>
            <a:pPr>
              <a:buNone/>
            </a:pPr>
            <a:r>
              <a:rPr lang="en-US" sz="2800" b="1" dirty="0" smtClean="0"/>
              <a:t>Generic subprogram:</a:t>
            </a:r>
          </a:p>
          <a:p>
            <a:r>
              <a:rPr lang="en-US" sz="2400" dirty="0" smtClean="0"/>
              <a:t>Software reuse can be an </a:t>
            </a:r>
            <a:r>
              <a:rPr lang="en-US" sz="2400" b="1" dirty="0" smtClean="0"/>
              <a:t>important contributor to software productivity.</a:t>
            </a:r>
            <a:endParaRPr lang="en-US" sz="2400" dirty="0" smtClean="0"/>
          </a:p>
          <a:p>
            <a:r>
              <a:rPr lang="en-US" sz="2400" dirty="0" smtClean="0"/>
              <a:t>To increase the reusability of software is to </a:t>
            </a:r>
            <a:r>
              <a:rPr lang="en-US" sz="2400" b="1" dirty="0" smtClean="0"/>
              <a:t>lessen the need to create different subprograms </a:t>
            </a:r>
            <a:r>
              <a:rPr lang="en-US" sz="2400" dirty="0" smtClean="0"/>
              <a:t>that implement the same algorithm on different types of data.</a:t>
            </a:r>
          </a:p>
          <a:p>
            <a:r>
              <a:rPr lang="en-US" sz="2400" dirty="0" smtClean="0"/>
              <a:t>For example, </a:t>
            </a:r>
            <a:r>
              <a:rPr lang="en-US" sz="2400" b="1" dirty="0" smtClean="0"/>
              <a:t>a programmer should not need to write four different sort subprograms to sort four arrays that differ only in element type.</a:t>
            </a:r>
          </a:p>
          <a:p>
            <a:pPr>
              <a:buNone/>
            </a:pPr>
            <a:r>
              <a:rPr lang="en-US" sz="2400" b="1" dirty="0" smtClean="0"/>
              <a:t>Polymorphism : </a:t>
            </a:r>
            <a:r>
              <a:rPr lang="en-US" sz="2400" dirty="0" smtClean="0"/>
              <a:t>subprogram takes parameter different types of different activations.</a:t>
            </a:r>
          </a:p>
          <a:p>
            <a:r>
              <a:rPr lang="en-US" sz="2400" dirty="0" smtClean="0"/>
              <a:t>Overloaded subprogram provide a particular kind polymorphisms called ad hoc polymorphism.</a:t>
            </a:r>
          </a:p>
          <a:p>
            <a:r>
              <a:rPr lang="en-US" sz="2400" dirty="0" smtClean="0"/>
              <a:t>Languages that are support object oriented programming usually support sub type polymorphism.</a:t>
            </a:r>
          </a:p>
          <a:p>
            <a:pPr>
              <a:buNone/>
            </a:pPr>
            <a:endParaRPr lang="en-US" sz="2400" b="1"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r>
              <a:rPr lang="en-US" sz="2400" dirty="0" smtClean="0"/>
              <a:t>Subtype polymorphism means that a variable of type T can be access any object of type T or any type derived from  T.</a:t>
            </a:r>
          </a:p>
          <a:p>
            <a:r>
              <a:rPr lang="en-US" sz="2400" dirty="0" smtClean="0"/>
              <a:t>Parametric polymorphism is provided by sub program  that takes generic parameter that  are used in type expression that describe types of parameter of sub program.</a:t>
            </a:r>
          </a:p>
          <a:p>
            <a:r>
              <a:rPr lang="en-US" sz="2400" dirty="0" smtClean="0"/>
              <a:t>Parametrically polymorphic sub program is called generic sub program.</a:t>
            </a:r>
          </a:p>
          <a:p>
            <a:r>
              <a:rPr lang="en-US" sz="2400" dirty="0" smtClean="0"/>
              <a:t>ADA, java5.0 +,C# 2005 +&amp; F# provide a compile time parametric polymorphism.</a:t>
            </a:r>
          </a:p>
          <a:p>
            <a:pPr marL="342900" lvl="2" indent="-342900">
              <a:buNone/>
            </a:pPr>
            <a:r>
              <a:rPr lang="en-US" b="1" dirty="0" smtClean="0"/>
              <a:t>Generic Functions in C++: </a:t>
            </a:r>
            <a:r>
              <a:rPr lang="en-US" dirty="0" smtClean="0"/>
              <a:t>version of generic subprogram created </a:t>
            </a:r>
            <a:r>
              <a:rPr lang="en-US" dirty="0" err="1" smtClean="0"/>
              <a:t>implicity</a:t>
            </a:r>
            <a:r>
              <a:rPr lang="en-US" dirty="0" smtClean="0"/>
              <a:t> when subprogram named in a call with the an operator.</a:t>
            </a:r>
          </a:p>
          <a:p>
            <a:pPr marL="342900" lvl="2" indent="-342900"/>
            <a:r>
              <a:rPr lang="en-US" dirty="0" smtClean="0"/>
              <a:t>Generic subprogram preceded by template clause that list the generic variables, which can be type name or class name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r>
              <a:rPr lang="en-US" sz="2800" dirty="0" smtClean="0"/>
              <a:t>As an example of a template function, consider the following:</a:t>
            </a:r>
          </a:p>
          <a:p>
            <a:pPr>
              <a:buNone/>
            </a:pPr>
            <a:r>
              <a:rPr lang="en-US" sz="2800" b="1" dirty="0" smtClean="0"/>
              <a:t>template </a:t>
            </a:r>
            <a:r>
              <a:rPr lang="en-US" sz="2800" dirty="0" smtClean="0"/>
              <a:t>&lt;</a:t>
            </a:r>
            <a:r>
              <a:rPr lang="en-US" sz="2800" b="1" dirty="0" smtClean="0"/>
              <a:t>class </a:t>
            </a:r>
            <a:r>
              <a:rPr lang="en-US" sz="2800" dirty="0" smtClean="0"/>
              <a:t>Type&gt;</a:t>
            </a:r>
          </a:p>
          <a:p>
            <a:pPr>
              <a:buNone/>
            </a:pPr>
            <a:r>
              <a:rPr lang="en-US" sz="2800" dirty="0" smtClean="0"/>
              <a:t>Type max(Type first, Type second) {</a:t>
            </a:r>
          </a:p>
          <a:p>
            <a:pPr>
              <a:buNone/>
            </a:pPr>
            <a:r>
              <a:rPr lang="en-US" sz="2800" b="1" dirty="0" smtClean="0"/>
              <a:t>return </a:t>
            </a:r>
            <a:r>
              <a:rPr lang="en-US" sz="2800" dirty="0" smtClean="0"/>
              <a:t>first &gt; second ? first : second;</a:t>
            </a:r>
          </a:p>
          <a:p>
            <a:pPr>
              <a:buNone/>
            </a:pPr>
            <a:r>
              <a:rPr lang="en-US" sz="2800" dirty="0" smtClean="0"/>
              <a:t>}</a:t>
            </a:r>
          </a:p>
          <a:p>
            <a:r>
              <a:rPr lang="en-US" sz="2800" dirty="0" smtClean="0"/>
              <a:t>where Type is the parameter that specifies the type of data on which the function will operate. This template function can be instantiated for any type for which the operator &gt; is defined. </a:t>
            </a:r>
          </a:p>
          <a:p>
            <a:r>
              <a:rPr lang="en-US" sz="2800" dirty="0" smtClean="0"/>
              <a:t>The following is a C++ generic sort subprogram:</a:t>
            </a:r>
          </a:p>
          <a:p>
            <a:endParaRPr lang="en-US" sz="2800" dirty="0" smtClean="0"/>
          </a:p>
          <a:p>
            <a:pPr>
              <a:buNone/>
            </a:pPr>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pPr>
              <a:buNone/>
            </a:pPr>
            <a:r>
              <a:rPr lang="en-US" sz="2400" b="1" dirty="0" smtClean="0"/>
              <a:t>template </a:t>
            </a:r>
            <a:r>
              <a:rPr lang="en-US" sz="2400" dirty="0" smtClean="0"/>
              <a:t>&lt;class Type&gt;</a:t>
            </a:r>
          </a:p>
          <a:p>
            <a:pPr>
              <a:buNone/>
            </a:pPr>
            <a:r>
              <a:rPr lang="en-US" sz="2400" b="1" dirty="0" smtClean="0"/>
              <a:t>void  </a:t>
            </a:r>
            <a:r>
              <a:rPr lang="en-US" sz="2400" dirty="0" err="1" smtClean="0"/>
              <a:t>generic_sort</a:t>
            </a:r>
            <a:r>
              <a:rPr lang="en-US" sz="2400" dirty="0" smtClean="0"/>
              <a:t>(Type list[], </a:t>
            </a:r>
            <a:r>
              <a:rPr lang="en-US" sz="2400" b="1" dirty="0" err="1" smtClean="0"/>
              <a:t>int</a:t>
            </a:r>
            <a:r>
              <a:rPr lang="en-US" sz="2400" b="1" dirty="0" smtClean="0"/>
              <a:t>  </a:t>
            </a:r>
            <a:r>
              <a:rPr lang="en-US" sz="2400" dirty="0" err="1" smtClean="0"/>
              <a:t>len</a:t>
            </a:r>
            <a:r>
              <a:rPr lang="en-US" sz="2400" dirty="0" smtClean="0"/>
              <a:t>) </a:t>
            </a:r>
          </a:p>
          <a:p>
            <a:pPr>
              <a:buNone/>
            </a:pPr>
            <a:r>
              <a:rPr lang="en-US" sz="2400" dirty="0" smtClean="0"/>
              <a:t>{</a:t>
            </a:r>
          </a:p>
          <a:p>
            <a:pPr>
              <a:buNone/>
            </a:pPr>
            <a:r>
              <a:rPr lang="en-US" sz="2400" b="1" dirty="0" err="1" smtClean="0"/>
              <a:t>int</a:t>
            </a:r>
            <a:r>
              <a:rPr lang="en-US" sz="2400" b="1" dirty="0" smtClean="0"/>
              <a:t>  </a:t>
            </a:r>
            <a:r>
              <a:rPr lang="en-US" sz="2400" dirty="0" smtClean="0"/>
              <a:t>top, bottom; Type temp;</a:t>
            </a:r>
          </a:p>
          <a:p>
            <a:pPr>
              <a:buNone/>
            </a:pPr>
            <a:r>
              <a:rPr lang="en-US" sz="2400" b="1" dirty="0" smtClean="0"/>
              <a:t>for </a:t>
            </a:r>
            <a:r>
              <a:rPr lang="en-US" sz="2400" dirty="0" smtClean="0"/>
              <a:t>(top = 0; top &lt; </a:t>
            </a:r>
            <a:r>
              <a:rPr lang="en-US" sz="2400" dirty="0" err="1" smtClean="0"/>
              <a:t>len</a:t>
            </a:r>
            <a:r>
              <a:rPr lang="en-US" sz="2400" dirty="0" smtClean="0"/>
              <a:t> - 2; top++)</a:t>
            </a:r>
          </a:p>
          <a:p>
            <a:pPr>
              <a:buNone/>
            </a:pPr>
            <a:r>
              <a:rPr lang="en-US" sz="2400" b="1" dirty="0" smtClean="0"/>
              <a:t>for </a:t>
            </a:r>
            <a:r>
              <a:rPr lang="en-US" sz="2400" dirty="0" smtClean="0"/>
              <a:t>(bottom = top + 1; bottom &lt; </a:t>
            </a:r>
            <a:r>
              <a:rPr lang="en-US" sz="2400" dirty="0" err="1" smtClean="0"/>
              <a:t>len</a:t>
            </a:r>
            <a:r>
              <a:rPr lang="en-US" sz="2400" dirty="0" smtClean="0"/>
              <a:t> - 1; bottom++)</a:t>
            </a:r>
          </a:p>
          <a:p>
            <a:pPr>
              <a:buNone/>
            </a:pPr>
            <a:r>
              <a:rPr lang="en-US" sz="2400" b="1" dirty="0" smtClean="0"/>
              <a:t>if </a:t>
            </a:r>
            <a:r>
              <a:rPr lang="en-US" sz="2400" dirty="0" smtClean="0"/>
              <a:t>(list[top] &gt; list[bottom])  </a:t>
            </a:r>
          </a:p>
          <a:p>
            <a:pPr>
              <a:buNone/>
            </a:pPr>
            <a:r>
              <a:rPr lang="en-US" sz="2400" dirty="0" smtClean="0"/>
              <a:t>{  </a:t>
            </a:r>
          </a:p>
          <a:p>
            <a:pPr>
              <a:buNone/>
            </a:pPr>
            <a:r>
              <a:rPr lang="en-US" sz="2400" dirty="0" smtClean="0"/>
              <a:t>temp = list[top];</a:t>
            </a:r>
          </a:p>
          <a:p>
            <a:pPr>
              <a:buNone/>
            </a:pPr>
            <a:r>
              <a:rPr lang="en-US" sz="2400" dirty="0" smtClean="0"/>
              <a:t>list[top] = list[bottom]; list[bottom] = temp;</a:t>
            </a:r>
          </a:p>
          <a:p>
            <a:pPr>
              <a:buNone/>
            </a:pPr>
            <a:r>
              <a:rPr lang="en-US" sz="2400" dirty="0" smtClean="0"/>
              <a:t>} //** end of if (list[top] . . .</a:t>
            </a:r>
          </a:p>
          <a:p>
            <a:pPr>
              <a:buNone/>
            </a:pPr>
            <a:r>
              <a:rPr lang="en-US" sz="2400" dirty="0" smtClean="0"/>
              <a:t>} //** end of </a:t>
            </a:r>
            <a:r>
              <a:rPr lang="en-US" sz="2400" dirty="0" err="1" smtClean="0"/>
              <a:t>generic_sort</a:t>
            </a:r>
            <a:endParaRPr lang="en-US" sz="2400" dirty="0" smtClean="0"/>
          </a:p>
          <a:p>
            <a:pPr>
              <a:buNone/>
            </a:pP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lnSpcReduction="10000"/>
          </a:bodyPr>
          <a:lstStyle/>
          <a:p>
            <a:pPr marL="342900" lvl="2" indent="-342900">
              <a:buNone/>
            </a:pPr>
            <a:r>
              <a:rPr lang="en-US" b="1" dirty="0" smtClean="0"/>
              <a:t>Generic Methods in Java 5.0:</a:t>
            </a:r>
            <a:r>
              <a:rPr lang="en-US" dirty="0" smtClean="0"/>
              <a:t>Java’s generic methods differ from the generic subprograms of C++ in several important ways</a:t>
            </a:r>
          </a:p>
          <a:p>
            <a:pPr marL="342900" lvl="2" indent="-342900"/>
            <a:r>
              <a:rPr lang="en-US" dirty="0" smtClean="0"/>
              <a:t>Generic parameters must be classes</a:t>
            </a:r>
          </a:p>
          <a:p>
            <a:pPr marL="342900" lvl="2" indent="-342900"/>
            <a:r>
              <a:rPr lang="en-US" dirty="0" smtClean="0"/>
              <a:t> Java generic methods can be instantiated any number of times, only one copy of the code is built.</a:t>
            </a:r>
          </a:p>
          <a:p>
            <a:r>
              <a:rPr lang="en-US" sz="2400" dirty="0" smtClean="0"/>
              <a:t>in Java, restrictions can be specified on the range of classes that can be passed to the generic method as generic parameters. Such restrictions are called </a:t>
            </a:r>
            <a:r>
              <a:rPr lang="en-US" sz="2400" b="1" dirty="0" smtClean="0"/>
              <a:t>bounds</a:t>
            </a:r>
            <a:r>
              <a:rPr lang="en-US" sz="2400" dirty="0" smtClean="0"/>
              <a:t>.</a:t>
            </a:r>
            <a:endParaRPr lang="en-US" sz="2400" b="1" dirty="0" smtClean="0"/>
          </a:p>
          <a:p>
            <a:pPr marL="342900" lvl="2" indent="-342900"/>
            <a:r>
              <a:rPr lang="en-US" dirty="0" smtClean="0"/>
              <a:t>Java 5.0 supports </a:t>
            </a:r>
            <a:r>
              <a:rPr lang="en-US" i="1" dirty="0" smtClean="0"/>
              <a:t>wildcard types</a:t>
            </a:r>
          </a:p>
          <a:p>
            <a:r>
              <a:rPr lang="en-US" sz="2600" b="1" dirty="0" smtClean="0"/>
              <a:t>public static </a:t>
            </a:r>
            <a:r>
              <a:rPr lang="en-US" sz="2600" dirty="0" smtClean="0"/>
              <a:t>&lt;T&gt; T </a:t>
            </a:r>
            <a:r>
              <a:rPr lang="en-US" sz="2600" dirty="0" err="1" smtClean="0"/>
              <a:t>doIt</a:t>
            </a:r>
            <a:r>
              <a:rPr lang="en-US" sz="2600" dirty="0" smtClean="0"/>
              <a:t>(T[] list) {</a:t>
            </a:r>
          </a:p>
          <a:p>
            <a:r>
              <a:rPr lang="en-US" sz="2600" dirty="0" smtClean="0"/>
              <a:t>. . .</a:t>
            </a:r>
          </a:p>
          <a:p>
            <a:r>
              <a:rPr lang="en-US" sz="2600" dirty="0" smtClean="0"/>
              <a:t>} </a:t>
            </a:r>
          </a:p>
          <a:p>
            <a:r>
              <a:rPr lang="en-US" sz="2600" dirty="0" smtClean="0"/>
              <a:t>This defines a method named </a:t>
            </a:r>
            <a:r>
              <a:rPr lang="en-US" sz="2600" dirty="0" err="1" smtClean="0"/>
              <a:t>doIt</a:t>
            </a:r>
            <a:r>
              <a:rPr lang="en-US" sz="2600" dirty="0" smtClean="0"/>
              <a:t> that takes an array of elements of a generic type. The name of the generic type is T and it must be an array. </a:t>
            </a:r>
          </a:p>
          <a:p>
            <a:pPr marL="342900" lvl="2" indent="-342900">
              <a:buNone/>
            </a:pPr>
            <a:endParaRPr lang="en-US" b="1" dirty="0" smtClean="0"/>
          </a:p>
          <a:p>
            <a:pPr>
              <a:buNone/>
            </a:pPr>
            <a:endParaRPr lang="en-US" sz="24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304800" y="381000"/>
            <a:ext cx="8382000" cy="6172200"/>
          </a:xfrm>
        </p:spPr>
        <p:txBody>
          <a:bodyPr>
            <a:normAutofit/>
          </a:bodyPr>
          <a:lstStyle/>
          <a:p>
            <a:pPr>
              <a:buNone/>
            </a:pPr>
            <a:r>
              <a:rPr lang="en-US" sz="2400" dirty="0" smtClean="0"/>
              <a:t>Following is an example call to </a:t>
            </a:r>
            <a:r>
              <a:rPr lang="en-US" sz="2400" dirty="0" err="1" smtClean="0"/>
              <a:t>doIt</a:t>
            </a:r>
            <a:r>
              <a:rPr lang="en-US" sz="2400" dirty="0" smtClean="0"/>
              <a:t>:</a:t>
            </a:r>
          </a:p>
          <a:p>
            <a:pPr>
              <a:buNone/>
            </a:pPr>
            <a:r>
              <a:rPr lang="en-US" sz="2400" b="1" dirty="0" smtClean="0"/>
              <a:t>public static </a:t>
            </a:r>
            <a:r>
              <a:rPr lang="en-US" sz="2400" dirty="0" smtClean="0"/>
              <a:t>&lt;T </a:t>
            </a:r>
            <a:r>
              <a:rPr lang="en-US" sz="2400" b="1" dirty="0" smtClean="0"/>
              <a:t>extends </a:t>
            </a:r>
            <a:r>
              <a:rPr lang="en-US" sz="2400" dirty="0" smtClean="0"/>
              <a:t>Comparable&gt; T </a:t>
            </a:r>
            <a:r>
              <a:rPr lang="en-US" sz="2400" dirty="0" err="1" smtClean="0"/>
              <a:t>doIt</a:t>
            </a:r>
            <a:r>
              <a:rPr lang="en-US" sz="2400" dirty="0" smtClean="0"/>
              <a:t>(T[] list) {</a:t>
            </a:r>
          </a:p>
          <a:p>
            <a:pPr>
              <a:buNone/>
            </a:pPr>
            <a:r>
              <a:rPr lang="en-US" sz="2400" dirty="0" smtClean="0"/>
              <a:t>. . .</a:t>
            </a:r>
          </a:p>
          <a:p>
            <a:pPr>
              <a:buNone/>
            </a:pPr>
            <a:r>
              <a:rPr lang="en-US" sz="2400" dirty="0" smtClean="0"/>
              <a:t>}</a:t>
            </a:r>
          </a:p>
          <a:p>
            <a:r>
              <a:rPr lang="en-US" sz="2400" dirty="0" smtClean="0"/>
              <a:t>For example, Collection&lt;?&gt; is a wildcard type for collection classes. </a:t>
            </a:r>
          </a:p>
          <a:p>
            <a:pPr>
              <a:buNone/>
            </a:pPr>
            <a:r>
              <a:rPr lang="en-US" sz="2400" b="1" dirty="0" smtClean="0"/>
              <a:t>void </a:t>
            </a:r>
            <a:r>
              <a:rPr lang="en-US" sz="2400" dirty="0" err="1" smtClean="0"/>
              <a:t>printCollection</a:t>
            </a:r>
            <a:r>
              <a:rPr lang="en-US" sz="2400" dirty="0" smtClean="0"/>
              <a:t>(Collection&lt;?&gt; c) </a:t>
            </a:r>
          </a:p>
          <a:p>
            <a:pPr>
              <a:buNone/>
            </a:pPr>
            <a:r>
              <a:rPr lang="en-US" sz="2400" dirty="0" smtClean="0"/>
              <a:t>{</a:t>
            </a:r>
          </a:p>
          <a:p>
            <a:pPr>
              <a:buNone/>
            </a:pPr>
            <a:r>
              <a:rPr lang="en-US" sz="2400" b="1" dirty="0" smtClean="0"/>
              <a:t>for </a:t>
            </a:r>
            <a:r>
              <a:rPr lang="en-US" sz="2400" dirty="0" smtClean="0"/>
              <a:t>(Object e: c) </a:t>
            </a:r>
          </a:p>
          <a:p>
            <a:pPr>
              <a:buNone/>
            </a:pPr>
            <a:r>
              <a:rPr lang="en-US" sz="2400" dirty="0" smtClean="0"/>
              <a:t>{ </a:t>
            </a:r>
          </a:p>
          <a:p>
            <a:pPr>
              <a:buNone/>
            </a:pPr>
            <a:r>
              <a:rPr lang="en-US" sz="2400" dirty="0" err="1" smtClean="0"/>
              <a:t>System.out.println</a:t>
            </a:r>
            <a:r>
              <a:rPr lang="en-US" sz="2400" dirty="0" smtClean="0"/>
              <a:t>(e);</a:t>
            </a:r>
          </a:p>
          <a:p>
            <a:pPr>
              <a:buNone/>
            </a:pPr>
            <a:r>
              <a:rPr lang="en-US" sz="2400" dirty="0" smtClean="0"/>
              <a:t>}</a:t>
            </a:r>
          </a:p>
          <a:p>
            <a:pPr>
              <a:buNone/>
            </a:pPr>
            <a:r>
              <a:rPr lang="en-US" sz="2400" dirty="0" smtClean="0"/>
              <a:t>}</a:t>
            </a:r>
          </a:p>
          <a:p>
            <a:pPr>
              <a:buNone/>
            </a:pP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304800" y="228600"/>
            <a:ext cx="8534400" cy="6400800"/>
          </a:xfrm>
        </p:spPr>
        <p:txBody>
          <a:bodyPr/>
          <a:lstStyle/>
          <a:p>
            <a:pPr marL="342900" lvl="2" indent="-342900">
              <a:buNone/>
            </a:pPr>
            <a:r>
              <a:rPr lang="en-US" b="1" dirty="0" smtClean="0"/>
              <a:t>Generic Methods in C# 2005 :</a:t>
            </a:r>
            <a:r>
              <a:rPr lang="en-US" dirty="0" smtClean="0"/>
              <a:t> The generic methods of C# 2005 are similar in capability to those of Java 5.0.</a:t>
            </a:r>
          </a:p>
          <a:p>
            <a:pPr marL="342900" lvl="2" indent="-342900"/>
            <a:r>
              <a:rPr lang="en-US" dirty="0" smtClean="0"/>
              <a:t>One unique feature of C# 2005 generic methods is that the actual type parameters in a call can be omitted if the compiler can infer the unspecified type</a:t>
            </a:r>
          </a:p>
          <a:p>
            <a:pPr marL="342900" lvl="2" indent="-342900"/>
            <a:r>
              <a:rPr lang="en-US" dirty="0" smtClean="0"/>
              <a:t>C# does not support wild cards.</a:t>
            </a:r>
          </a:p>
          <a:p>
            <a:r>
              <a:rPr lang="en-US" sz="2400" dirty="0" smtClean="0"/>
              <a:t>For example, consider the following skeletal class definition:</a:t>
            </a:r>
          </a:p>
          <a:p>
            <a:pPr>
              <a:buNone/>
            </a:pPr>
            <a:r>
              <a:rPr lang="en-US" sz="2400" b="1" dirty="0" smtClean="0"/>
              <a:t>class </a:t>
            </a:r>
            <a:r>
              <a:rPr lang="en-US" sz="2400" dirty="0" err="1" smtClean="0"/>
              <a:t>MyClass</a:t>
            </a:r>
            <a:r>
              <a:rPr lang="en-US" sz="2400" dirty="0" smtClean="0"/>
              <a:t> {</a:t>
            </a:r>
          </a:p>
          <a:p>
            <a:pPr>
              <a:buNone/>
            </a:pPr>
            <a:r>
              <a:rPr lang="en-US" sz="2400" b="1" dirty="0" smtClean="0"/>
              <a:t>public static </a:t>
            </a:r>
            <a:r>
              <a:rPr lang="en-US" sz="2400" dirty="0" smtClean="0"/>
              <a:t>T </a:t>
            </a:r>
            <a:r>
              <a:rPr lang="en-US" sz="2400" dirty="0" err="1" smtClean="0"/>
              <a:t>DoIt</a:t>
            </a:r>
            <a:r>
              <a:rPr lang="en-US" sz="2400" dirty="0" smtClean="0"/>
              <a:t>&lt;T&gt;(T p1) {</a:t>
            </a:r>
          </a:p>
          <a:p>
            <a:pPr>
              <a:buNone/>
            </a:pPr>
            <a:r>
              <a:rPr lang="en-US" sz="2400" dirty="0" smtClean="0"/>
              <a:t>. . .</a:t>
            </a:r>
          </a:p>
          <a:p>
            <a:pPr>
              <a:buNone/>
            </a:pPr>
            <a:r>
              <a:rPr lang="en-US" sz="2400" dirty="0" smtClean="0"/>
              <a:t>}</a:t>
            </a:r>
          </a:p>
          <a:p>
            <a:pPr>
              <a:buNone/>
            </a:pPr>
            <a:r>
              <a:rPr lang="en-US" sz="2400" dirty="0" smtClean="0"/>
              <a:t>}</a:t>
            </a:r>
          </a:p>
          <a:p>
            <a:r>
              <a:rPr lang="en-US" sz="2400" dirty="0" smtClean="0"/>
              <a:t>The method </a:t>
            </a:r>
            <a:r>
              <a:rPr lang="en-US" sz="2400" dirty="0" err="1" smtClean="0"/>
              <a:t>DoIt</a:t>
            </a:r>
            <a:r>
              <a:rPr lang="en-US" sz="2400" dirty="0" smtClean="0"/>
              <a:t> can be called without specifying the generic parameter if the compiler can infer the generic type from the actual parameter in the call. </a:t>
            </a:r>
          </a:p>
          <a:p>
            <a:pPr marL="342900" lvl="2" indent="-342900">
              <a:buNone/>
            </a:pPr>
            <a:endParaRPr lang="en-US" dirty="0" smtClean="0"/>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a:bodyPr>
          <a:lstStyle/>
          <a:p>
            <a:r>
              <a:rPr lang="en-US" b="1" dirty="0" smtClean="0"/>
              <a:t>Generic Functions in F#: </a:t>
            </a:r>
            <a:r>
              <a:rPr lang="en-US" sz="2400" dirty="0" smtClean="0"/>
              <a:t>F# infers a generic type for the parameters and the return value.</a:t>
            </a:r>
          </a:p>
          <a:p>
            <a:r>
              <a:rPr lang="en-US" sz="2400" dirty="0" smtClean="0"/>
              <a:t>This is called </a:t>
            </a:r>
            <a:r>
              <a:rPr lang="en-US" sz="2400" b="1" dirty="0" smtClean="0"/>
              <a:t>automatic generalization</a:t>
            </a:r>
            <a:r>
              <a:rPr lang="en-US" dirty="0" smtClean="0"/>
              <a:t>. </a:t>
            </a:r>
          </a:p>
          <a:p>
            <a:r>
              <a:rPr lang="en-US" sz="2400" dirty="0" smtClean="0"/>
              <a:t>Functions can be defined to have generic parameters, as in the following example:</a:t>
            </a:r>
          </a:p>
          <a:p>
            <a:r>
              <a:rPr lang="en-US" sz="2400" b="1" dirty="0" smtClean="0"/>
              <a:t>let </a:t>
            </a:r>
            <a:r>
              <a:rPr lang="en-US" sz="2400" dirty="0" err="1" smtClean="0"/>
              <a:t>printPair</a:t>
            </a:r>
            <a:r>
              <a:rPr lang="en-US" sz="2400" dirty="0" smtClean="0"/>
              <a:t> (x: 'a) (y: 'a) =</a:t>
            </a:r>
          </a:p>
          <a:p>
            <a:r>
              <a:rPr lang="en-US" sz="2400" dirty="0" smtClean="0"/>
              <a:t> </a:t>
            </a:r>
            <a:r>
              <a:rPr lang="en-US" sz="2400" dirty="0" err="1" smtClean="0"/>
              <a:t>printfn</a:t>
            </a:r>
            <a:r>
              <a:rPr lang="en-US" sz="2400" dirty="0" smtClean="0"/>
              <a:t> "%A %A" x y;;</a:t>
            </a:r>
          </a:p>
          <a:p>
            <a:r>
              <a:rPr lang="en-US" sz="2400" dirty="0" smtClean="0"/>
              <a:t>The generic type could also be specified explicitly in angle brackets, as in the following:</a:t>
            </a:r>
          </a:p>
          <a:p>
            <a:r>
              <a:rPr lang="en-US" sz="2400" b="1" dirty="0" smtClean="0"/>
              <a:t>let </a:t>
            </a:r>
            <a:r>
              <a:rPr lang="en-US" sz="2400" dirty="0" smtClean="0"/>
              <a:t>printPair2&lt;'T&gt; x y = </a:t>
            </a:r>
            <a:r>
              <a:rPr lang="en-US" sz="2400" dirty="0" err="1" smtClean="0"/>
              <a:t>printfn</a:t>
            </a:r>
            <a:r>
              <a:rPr lang="en-US" sz="2400" dirty="0" smtClean="0"/>
              <a:t> "%A %A" x y;; </a:t>
            </a:r>
          </a:p>
          <a:p>
            <a:r>
              <a:rPr lang="en-US" sz="2400" dirty="0" smtClean="0"/>
              <a:t>This function must be called with a type</a:t>
            </a:r>
          </a:p>
          <a:p>
            <a:pPr>
              <a:buNone/>
            </a:pP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pPr marL="342900" lvl="1" indent="-342900">
              <a:buNone/>
            </a:pPr>
            <a:r>
              <a:rPr lang="en-US" b="1" dirty="0" smtClean="0"/>
              <a:t>Design Issues for Functions</a:t>
            </a:r>
          </a:p>
          <a:p>
            <a:pPr>
              <a:buNone/>
            </a:pPr>
            <a:r>
              <a:rPr lang="en-US" sz="2400" dirty="0" smtClean="0"/>
              <a:t>The following design issues are specific to functions:  </a:t>
            </a:r>
          </a:p>
          <a:p>
            <a:r>
              <a:rPr lang="en-US" sz="2400" dirty="0" smtClean="0"/>
              <a:t>Are side effects allowed?</a:t>
            </a:r>
          </a:p>
          <a:p>
            <a:r>
              <a:rPr lang="en-US" sz="2400" dirty="0" smtClean="0"/>
              <a:t> What types of values can be returned?  </a:t>
            </a:r>
          </a:p>
          <a:p>
            <a:r>
              <a:rPr lang="en-US" sz="2400" dirty="0" smtClean="0"/>
              <a:t>How many values can be returned?</a:t>
            </a:r>
          </a:p>
          <a:p>
            <a:pPr marL="342900" lvl="1" indent="-342900">
              <a:buNone/>
            </a:pPr>
            <a:r>
              <a:rPr lang="en-US" sz="2400" b="1" dirty="0" smtClean="0"/>
              <a:t>Functional Side Effects : </a:t>
            </a:r>
            <a:r>
              <a:rPr lang="en-US" sz="2400" dirty="0" err="1" smtClean="0"/>
              <a:t>Ada</a:t>
            </a:r>
            <a:r>
              <a:rPr lang="en-US" sz="2400" dirty="0" smtClean="0"/>
              <a:t> functions can have only in-mode formal parameters. This requirement effectively prevents a function from causing side effects through its parameters or through aliasing of parameters and </a:t>
            </a:r>
            <a:r>
              <a:rPr lang="en-US" sz="2400" dirty="0" err="1" smtClean="0"/>
              <a:t>globals</a:t>
            </a:r>
            <a:r>
              <a:rPr lang="en-US" sz="2400" dirty="0" smtClean="0"/>
              <a:t>.</a:t>
            </a:r>
          </a:p>
          <a:p>
            <a:pPr marL="342900" lvl="1" indent="-342900">
              <a:buFont typeface="Arial" pitchFamily="34" charset="0"/>
              <a:buChar char="•"/>
            </a:pPr>
            <a:r>
              <a:rPr lang="en-US" sz="2400" dirty="0" smtClean="0"/>
              <a:t>most other imperative languages, however, functions can have either pass-by-value or pass-by- reference parameters, thus allowing functions that cause side effects and aliasing.</a:t>
            </a:r>
          </a:p>
          <a:p>
            <a:pPr marL="342900" lvl="1" indent="-342900">
              <a:buFont typeface="Arial" pitchFamily="34" charset="0"/>
              <a:buChar char="•"/>
            </a:pPr>
            <a:r>
              <a:rPr lang="en-US" sz="2400" dirty="0" smtClean="0"/>
              <a:t>Pure functional languages, such as Haskell and Ruby, do not have variables, so their functions cannot have side effects.</a:t>
            </a:r>
            <a:endParaRPr lang="en-US" sz="2400" b="1" dirty="0" smtClean="0"/>
          </a:p>
          <a:p>
            <a:pPr marL="342900" lvl="1" indent="-342900">
              <a:buNone/>
            </a:pPr>
            <a:endParaRPr lang="en-US" sz="2400" dirty="0" smtClean="0"/>
          </a:p>
          <a:p>
            <a:pPr>
              <a:buNone/>
            </a:pPr>
            <a:endParaRPr lang="en-US" dirty="0"/>
          </a:p>
        </p:txBody>
      </p:sp>
      <p:sp>
        <p:nvSpPr>
          <p:cNvPr id="4" name="Content Placeholder 2"/>
          <p:cNvSpPr txBox="1">
            <a:spLocks/>
          </p:cNvSpPr>
          <p:nvPr/>
        </p:nvSpPr>
        <p:spPr>
          <a:xfrm>
            <a:off x="609600" y="381000"/>
            <a:ext cx="8229600" cy="62484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pPr marL="342900" lvl="2" indent="-342900">
              <a:buNone/>
            </a:pPr>
            <a:r>
              <a:rPr lang="en-US" b="1" dirty="0" smtClean="0"/>
              <a:t>Types of Returned </a:t>
            </a:r>
            <a:r>
              <a:rPr lang="en-US" b="1" dirty="0" err="1" smtClean="0"/>
              <a:t>Values:</a:t>
            </a:r>
            <a:r>
              <a:rPr lang="en-US" dirty="0" err="1" smtClean="0"/>
              <a:t>Most</a:t>
            </a:r>
            <a:r>
              <a:rPr lang="en-US" dirty="0" smtClean="0"/>
              <a:t> imperative programming languages restrict the types that can be returned by their functions</a:t>
            </a:r>
          </a:p>
          <a:p>
            <a:pPr marL="342900" lvl="2" indent="-342900"/>
            <a:r>
              <a:rPr lang="en-US" dirty="0" smtClean="0"/>
              <a:t> C allows any type to be returned by its functions except arrays and functions. Both of these can be handled by pointer type return values. </a:t>
            </a:r>
            <a:endParaRPr lang="en-US" b="1" dirty="0" smtClean="0"/>
          </a:p>
          <a:p>
            <a:r>
              <a:rPr lang="en-US" sz="2400" dirty="0" smtClean="0"/>
              <a:t>. C++ is like C but also allows user-defined types, or classes, to be returned from its functions.</a:t>
            </a:r>
          </a:p>
          <a:p>
            <a:r>
              <a:rPr lang="en-US" sz="2400" dirty="0" err="1" smtClean="0"/>
              <a:t>Ada</a:t>
            </a:r>
            <a:r>
              <a:rPr lang="en-US" sz="2400" dirty="0" smtClean="0"/>
              <a:t>, </a:t>
            </a:r>
            <a:r>
              <a:rPr lang="en-US" sz="2400" dirty="0" err="1" smtClean="0"/>
              <a:t>Pamong</a:t>
            </a:r>
            <a:r>
              <a:rPr lang="en-US" sz="2400" dirty="0" smtClean="0"/>
              <a:t> current imperative languages whose functions (and/or methods) can return values of any type. In the case of </a:t>
            </a:r>
            <a:r>
              <a:rPr lang="en-US" sz="2400" dirty="0" err="1" smtClean="0"/>
              <a:t>Ada</a:t>
            </a:r>
            <a:r>
              <a:rPr lang="en-US" sz="2400" dirty="0" smtClean="0"/>
              <a:t>, however, because functions are not types in </a:t>
            </a:r>
            <a:r>
              <a:rPr lang="en-US" sz="2400" dirty="0" err="1" smtClean="0"/>
              <a:t>Ada</a:t>
            </a:r>
            <a:r>
              <a:rPr lang="en-US" sz="2400" dirty="0" smtClean="0"/>
              <a:t>, they cannot be returned from functions. Of course, pointers to functions can be returned by </a:t>
            </a:r>
            <a:r>
              <a:rPr lang="en-US" sz="2400" dirty="0" err="1" smtClean="0"/>
              <a:t>functions.ython</a:t>
            </a:r>
            <a:r>
              <a:rPr lang="en-US" sz="2400" dirty="0" smtClean="0"/>
              <a:t>, and Ruby are the only languages </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marL="342900" lvl="2" indent="-342900">
              <a:buNone/>
            </a:pPr>
            <a:r>
              <a:rPr lang="en-US" b="1" dirty="0" smtClean="0"/>
              <a:t>Number of Returned </a:t>
            </a:r>
            <a:r>
              <a:rPr lang="en-US" b="1" dirty="0" err="1" smtClean="0"/>
              <a:t>Values:</a:t>
            </a:r>
            <a:r>
              <a:rPr lang="en-US" dirty="0" err="1" smtClean="0"/>
              <a:t>In</a:t>
            </a:r>
            <a:r>
              <a:rPr lang="en-US" dirty="0" smtClean="0"/>
              <a:t> most languages, only a single value can be returned from a function. However, that is not always the case. </a:t>
            </a:r>
          </a:p>
          <a:p>
            <a:pPr marL="342900" lvl="2" indent="-342900"/>
            <a:r>
              <a:rPr lang="en-US" dirty="0" smtClean="0"/>
              <a:t>Ruby allows the return of more than one value from a method. If a </a:t>
            </a:r>
            <a:r>
              <a:rPr lang="en-US" b="1" dirty="0" smtClean="0"/>
              <a:t>return </a:t>
            </a:r>
            <a:r>
              <a:rPr lang="en-US" dirty="0" smtClean="0"/>
              <a:t>statement in a Ruby method is not followed by an expression, </a:t>
            </a:r>
            <a:r>
              <a:rPr lang="en-US" b="1" dirty="0" smtClean="0"/>
              <a:t>nil </a:t>
            </a:r>
            <a:r>
              <a:rPr lang="en-US" dirty="0" smtClean="0"/>
              <a:t>is returned. </a:t>
            </a:r>
          </a:p>
          <a:p>
            <a:pPr marL="342900" lvl="2" indent="-342900"/>
            <a:r>
              <a:rPr lang="en-US" dirty="0" smtClean="0"/>
              <a:t>If followed by one expression, the value of the expression is returned. If followed by more than one expression, an array of the values of all of the expressions is returned.</a:t>
            </a:r>
          </a:p>
          <a:p>
            <a:pPr marL="342900" lvl="2" indent="-342900"/>
            <a:r>
              <a:rPr lang="en-US" dirty="0" smtClean="0"/>
              <a:t>In ML, F#, and Python, and some other languages that include </a:t>
            </a:r>
            <a:r>
              <a:rPr lang="en-US" dirty="0" err="1" smtClean="0"/>
              <a:t>tuples</a:t>
            </a:r>
            <a:r>
              <a:rPr lang="en-US" dirty="0" smtClean="0"/>
              <a:t>, multiple values can be returned by placing them in a </a:t>
            </a:r>
            <a:r>
              <a:rPr lang="en-US" dirty="0" err="1" smtClean="0"/>
              <a:t>tuple</a:t>
            </a:r>
            <a:r>
              <a:rPr lang="en-US" dirty="0" smtClean="0"/>
              <a:t>.</a:t>
            </a:r>
            <a:endParaRPr lang="en-US" smtClean="0"/>
          </a:p>
          <a:p>
            <a:pPr marL="342900" lvl="2" indent="-342900"/>
            <a:endParaRPr lang="en-US" b="1" smtClean="0"/>
          </a:p>
          <a:p>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pPr marL="342900" lvl="1" indent="-342900">
              <a:buNone/>
            </a:pPr>
            <a:r>
              <a:rPr lang="en-US" b="1" dirty="0" smtClean="0"/>
              <a:t>User-Defined Overloaded Operators</a:t>
            </a:r>
          </a:p>
          <a:p>
            <a:r>
              <a:rPr lang="en-US" sz="2400" dirty="0" smtClean="0"/>
              <a:t>Operators can be overloaded by the user in </a:t>
            </a:r>
            <a:r>
              <a:rPr lang="en-US" sz="2400" dirty="0" err="1" smtClean="0"/>
              <a:t>Ada</a:t>
            </a:r>
            <a:r>
              <a:rPr lang="en-US" sz="2400" dirty="0" smtClean="0"/>
              <a:t>, C++, Python, and Ruby. </a:t>
            </a:r>
          </a:p>
          <a:p>
            <a:pPr>
              <a:buNone/>
            </a:pPr>
            <a:r>
              <a:rPr lang="en-US" sz="2400" dirty="0" err="1" smtClean="0"/>
              <a:t>Eg</a:t>
            </a:r>
            <a:r>
              <a:rPr lang="en-US" sz="2400" dirty="0" smtClean="0"/>
              <a:t>:</a:t>
            </a:r>
          </a:p>
          <a:p>
            <a:r>
              <a:rPr lang="en-US" sz="2400" b="1" dirty="0" smtClean="0"/>
              <a:t>def </a:t>
            </a:r>
            <a:r>
              <a:rPr lang="en-US" sz="2400" u="sng" dirty="0" smtClean="0"/>
              <a:t>	</a:t>
            </a:r>
            <a:r>
              <a:rPr lang="en-US" sz="2400" dirty="0" smtClean="0"/>
              <a:t>add</a:t>
            </a:r>
            <a:r>
              <a:rPr lang="en-US" sz="2400" u="sng" dirty="0" smtClean="0"/>
              <a:t>	</a:t>
            </a:r>
            <a:r>
              <a:rPr lang="en-US" sz="2400" dirty="0" smtClean="0"/>
              <a:t> (self, second):</a:t>
            </a:r>
          </a:p>
          <a:p>
            <a:r>
              <a:rPr lang="en-US" sz="2400" b="1" dirty="0" smtClean="0"/>
              <a:t>return </a:t>
            </a:r>
            <a:r>
              <a:rPr lang="en-US" sz="2400" dirty="0" smtClean="0"/>
              <a:t>Complex(</a:t>
            </a:r>
            <a:r>
              <a:rPr lang="en-US" sz="2400" dirty="0" err="1" smtClean="0"/>
              <a:t>self.real</a:t>
            </a:r>
            <a:r>
              <a:rPr lang="en-US" sz="2400" dirty="0" smtClean="0"/>
              <a:t> + </a:t>
            </a:r>
            <a:r>
              <a:rPr lang="en-US" sz="2400" dirty="0" err="1" smtClean="0"/>
              <a:t>second.real</a:t>
            </a:r>
            <a:r>
              <a:rPr lang="en-US" sz="2400" dirty="0" smtClean="0"/>
              <a:t>, </a:t>
            </a:r>
            <a:r>
              <a:rPr lang="en-US" sz="2400" dirty="0" err="1" smtClean="0"/>
              <a:t>self.imag</a:t>
            </a:r>
            <a:r>
              <a:rPr lang="en-US" sz="2400" dirty="0" smtClean="0"/>
              <a:t> + </a:t>
            </a:r>
            <a:r>
              <a:rPr lang="en-US" sz="2400" dirty="0" err="1" smtClean="0"/>
              <a:t>second.imag</a:t>
            </a:r>
            <a:r>
              <a:rPr lang="en-US" sz="2400" dirty="0" smtClean="0"/>
              <a:t>)</a:t>
            </a:r>
          </a:p>
          <a:p>
            <a:pPr marL="342900" lvl="1" indent="-342900">
              <a:buNone/>
            </a:pPr>
            <a:r>
              <a:rPr lang="en-US" b="1" dirty="0" smtClean="0"/>
              <a:t>Closures:</a:t>
            </a:r>
          </a:p>
          <a:p>
            <a:pPr marL="342900" lvl="1" indent="-342900">
              <a:buFont typeface="Arial" pitchFamily="34" charset="0"/>
              <a:buChar char="•"/>
            </a:pPr>
            <a:r>
              <a:rPr lang="en-US" sz="2400" dirty="0" smtClean="0"/>
              <a:t>A </a:t>
            </a:r>
            <a:r>
              <a:rPr lang="en-US" sz="2400" b="1" dirty="0" smtClean="0"/>
              <a:t>closure </a:t>
            </a:r>
            <a:r>
              <a:rPr lang="en-US" sz="2400" dirty="0" smtClean="0"/>
              <a:t>is a subprogram and the referencing environment where it was defined. The referencing environment is needed if the subprogram can be called from any arbitrary place in the program.</a:t>
            </a:r>
          </a:p>
          <a:p>
            <a:pPr marL="342900" lvl="1" indent="-342900">
              <a:buFont typeface="Arial" pitchFamily="34" charset="0"/>
              <a:buChar char="•"/>
            </a:pPr>
            <a:r>
              <a:rPr lang="en-US" sz="2400" dirty="0" smtClean="0"/>
              <a:t>static-scoped programming language does not allow nested subprograms, closures are not useful.</a:t>
            </a:r>
            <a:endParaRPr lang="en-US" sz="2400" b="1" dirty="0" smtClean="0"/>
          </a:p>
          <a:p>
            <a:pPr>
              <a:buNone/>
            </a:pP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normAutofit fontScale="92500" lnSpcReduction="20000"/>
          </a:bodyPr>
          <a:lstStyle/>
          <a:p>
            <a:r>
              <a:rPr lang="en-US" sz="2400" dirty="0" smtClean="0"/>
              <a:t>Nearly all functional programming languages, most scripting languages, and at least one primarily imperative language, C#, support closures. </a:t>
            </a:r>
          </a:p>
          <a:p>
            <a:r>
              <a:rPr lang="en-US" sz="2400" dirty="0" smtClean="0"/>
              <a:t>static-scoped, allow nested subprograms , and allow</a:t>
            </a:r>
            <a:br>
              <a:rPr lang="en-US" sz="2400" dirty="0" smtClean="0"/>
            </a:br>
            <a:r>
              <a:rPr lang="en-US" sz="2400" dirty="0" smtClean="0"/>
              <a:t>subprograms to be passed as parameters. </a:t>
            </a:r>
          </a:p>
          <a:p>
            <a:pPr>
              <a:buNone/>
            </a:pPr>
            <a:r>
              <a:rPr lang="en-US" sz="2400" dirty="0" err="1" smtClean="0"/>
              <a:t>Eg</a:t>
            </a:r>
            <a:r>
              <a:rPr lang="en-US" sz="2400" dirty="0" smtClean="0"/>
              <a:t>;</a:t>
            </a:r>
          </a:p>
          <a:p>
            <a:r>
              <a:rPr lang="en-US" sz="2400" b="1" dirty="0" smtClean="0"/>
              <a:t>function </a:t>
            </a:r>
            <a:r>
              <a:rPr lang="en-US" sz="2400" dirty="0" err="1" smtClean="0"/>
              <a:t>makeAdder</a:t>
            </a:r>
            <a:r>
              <a:rPr lang="en-US" sz="2400" dirty="0" smtClean="0"/>
              <a:t>(x) {</a:t>
            </a:r>
          </a:p>
          <a:p>
            <a:r>
              <a:rPr lang="en-US" sz="2400" b="1" dirty="0" smtClean="0"/>
              <a:t>return </a:t>
            </a:r>
            <a:r>
              <a:rPr lang="en-US" sz="2400" dirty="0" smtClean="0"/>
              <a:t>function(y) {</a:t>
            </a:r>
            <a:r>
              <a:rPr lang="en-US" sz="2400" b="1" dirty="0" smtClean="0"/>
              <a:t>return </a:t>
            </a:r>
            <a:r>
              <a:rPr lang="en-US" sz="2400" dirty="0" smtClean="0"/>
              <a:t>x + y;}</a:t>
            </a:r>
          </a:p>
          <a:p>
            <a:r>
              <a:rPr lang="en-US" sz="2400" dirty="0" smtClean="0"/>
              <a:t>}</a:t>
            </a:r>
          </a:p>
          <a:p>
            <a:r>
              <a:rPr lang="en-US" sz="2400" dirty="0" smtClean="0"/>
              <a:t>. . .</a:t>
            </a:r>
          </a:p>
          <a:p>
            <a:r>
              <a:rPr lang="en-US" sz="2400" b="1" dirty="0" err="1" smtClean="0"/>
              <a:t>var</a:t>
            </a:r>
            <a:r>
              <a:rPr lang="en-US" sz="2400" b="1" dirty="0" smtClean="0"/>
              <a:t> </a:t>
            </a:r>
            <a:r>
              <a:rPr lang="en-US" sz="2400" dirty="0" smtClean="0"/>
              <a:t>add10 = </a:t>
            </a:r>
            <a:r>
              <a:rPr lang="en-US" sz="2400" dirty="0" err="1" smtClean="0"/>
              <a:t>makeAdder</a:t>
            </a:r>
            <a:r>
              <a:rPr lang="en-US" sz="2400" dirty="0" smtClean="0"/>
              <a:t>(10);</a:t>
            </a:r>
          </a:p>
          <a:p>
            <a:r>
              <a:rPr lang="en-US" sz="2400" b="1" dirty="0" err="1" smtClean="0"/>
              <a:t>var</a:t>
            </a:r>
            <a:r>
              <a:rPr lang="en-US" sz="2400" b="1" dirty="0" smtClean="0"/>
              <a:t> </a:t>
            </a:r>
            <a:r>
              <a:rPr lang="en-US" sz="2400" dirty="0" smtClean="0"/>
              <a:t>add5 = </a:t>
            </a:r>
            <a:r>
              <a:rPr lang="en-US" sz="2400" dirty="0" err="1" smtClean="0"/>
              <a:t>makeAdder</a:t>
            </a:r>
            <a:r>
              <a:rPr lang="en-US" sz="2400" dirty="0" smtClean="0"/>
              <a:t>(5);</a:t>
            </a:r>
          </a:p>
          <a:p>
            <a:r>
              <a:rPr lang="en-US" sz="2400" dirty="0" err="1" smtClean="0"/>
              <a:t>document.write</a:t>
            </a:r>
            <a:r>
              <a:rPr lang="en-US" sz="2400" dirty="0" smtClean="0"/>
              <a:t>("Add 10 to 20: " + add10(20) + "&lt;</a:t>
            </a:r>
            <a:r>
              <a:rPr lang="en-US" sz="2400" dirty="0" err="1" smtClean="0"/>
              <a:t>br</a:t>
            </a:r>
            <a:r>
              <a:rPr lang="en-US" sz="2400" dirty="0" smtClean="0"/>
              <a:t> /&gt;");</a:t>
            </a:r>
          </a:p>
          <a:p>
            <a:r>
              <a:rPr lang="en-US" sz="2400" dirty="0" err="1" smtClean="0"/>
              <a:t>document.write</a:t>
            </a:r>
            <a:r>
              <a:rPr lang="en-US" sz="2400" dirty="0" smtClean="0"/>
              <a:t>("Add 5 to 20: " + add5(20) + "&lt;</a:t>
            </a:r>
            <a:r>
              <a:rPr lang="en-US" sz="2400" dirty="0" err="1" smtClean="0"/>
              <a:t>br</a:t>
            </a:r>
            <a:r>
              <a:rPr lang="en-US" sz="2400" dirty="0" smtClean="0"/>
              <a:t> /&gt;");</a:t>
            </a:r>
          </a:p>
          <a:p>
            <a:r>
              <a:rPr lang="en-US" sz="2400" dirty="0" smtClean="0"/>
              <a:t>The output of this code, assuming it was embedded in an HTML document and displayed with a browser, is as follows:</a:t>
            </a:r>
          </a:p>
          <a:p>
            <a:r>
              <a:rPr lang="en-US" sz="2400" dirty="0" smtClean="0"/>
              <a:t>Add 10 to 20: 30</a:t>
            </a:r>
          </a:p>
          <a:p>
            <a:r>
              <a:rPr lang="en-US" sz="2400" dirty="0" smtClean="0"/>
              <a:t>Add 5 to 20: 25 </a:t>
            </a:r>
          </a:p>
          <a:p>
            <a:pPr>
              <a:buNone/>
            </a:pP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lstStyle/>
          <a:p>
            <a:pPr marL="342900" lvl="1" indent="-342900">
              <a:buNone/>
            </a:pPr>
            <a:r>
              <a:rPr lang="en-US" b="1" dirty="0" smtClean="0"/>
              <a:t>Coroutines</a:t>
            </a:r>
          </a:p>
          <a:p>
            <a:r>
              <a:rPr lang="en-US" sz="2400" dirty="0" smtClean="0"/>
              <a:t>A </a:t>
            </a:r>
            <a:r>
              <a:rPr lang="en-US" sz="2400" b="1" dirty="0" smtClean="0"/>
              <a:t>coroutine </a:t>
            </a:r>
            <a:r>
              <a:rPr lang="en-US" sz="2400" dirty="0" smtClean="0"/>
              <a:t>is a special kind of subprogram. </a:t>
            </a:r>
          </a:p>
          <a:p>
            <a:r>
              <a:rPr lang="en-US" sz="2400" dirty="0" smtClean="0"/>
              <a:t>This also called as symmetric control.</a:t>
            </a:r>
          </a:p>
          <a:p>
            <a:r>
              <a:rPr lang="en-US" sz="2400" dirty="0" smtClean="0"/>
              <a:t>They also have the means to maintain their status between activations.</a:t>
            </a:r>
          </a:p>
          <a:p>
            <a:r>
              <a:rPr lang="en-US" sz="2400" dirty="0" err="1" smtClean="0"/>
              <a:t>Coroutines</a:t>
            </a:r>
            <a:r>
              <a:rPr lang="en-US" sz="2400" dirty="0" smtClean="0"/>
              <a:t> can have multiple entry points, which are controlled by the </a:t>
            </a:r>
            <a:r>
              <a:rPr lang="en-US" sz="2400" dirty="0" err="1" smtClean="0"/>
              <a:t>coroutines</a:t>
            </a:r>
            <a:r>
              <a:rPr lang="en-US" sz="2400" dirty="0" smtClean="0"/>
              <a:t> themselves.</a:t>
            </a:r>
          </a:p>
          <a:p>
            <a:r>
              <a:rPr lang="en-US" sz="2400" dirty="0" smtClean="0"/>
              <a:t>This means that </a:t>
            </a:r>
            <a:r>
              <a:rPr lang="en-US" sz="2400" dirty="0" err="1" smtClean="0"/>
              <a:t>coroutines</a:t>
            </a:r>
            <a:r>
              <a:rPr lang="en-US" sz="2400" dirty="0" smtClean="0"/>
              <a:t> must be history sensitive and thus have static local variables </a:t>
            </a:r>
          </a:p>
          <a:p>
            <a:r>
              <a:rPr lang="en-US" sz="2400" dirty="0" smtClean="0"/>
              <a:t>Secondary executions of a coroutine often begin at points other than its beginning. Because of this, the invocation of a coroutine is called a </a:t>
            </a:r>
            <a:r>
              <a:rPr lang="en-US" sz="2400" b="1" dirty="0" smtClean="0"/>
              <a:t>resume </a:t>
            </a:r>
            <a:r>
              <a:rPr lang="en-US" sz="2400" dirty="0" smtClean="0"/>
              <a:t>rather than a call.</a:t>
            </a:r>
          </a:p>
          <a:p>
            <a:pPr>
              <a:buNone/>
            </a:pPr>
            <a:r>
              <a:rPr lang="en-US" sz="2400" dirty="0" smtClean="0"/>
              <a:t>For example, consider the following skeletal </a:t>
            </a:r>
            <a:r>
              <a:rPr lang="en-US" sz="2400" dirty="0" err="1" smtClean="0"/>
              <a:t>coroutine</a:t>
            </a:r>
            <a:r>
              <a:rPr lang="en-US" sz="2400" dirty="0" smtClean="0"/>
              <a:t>:</a:t>
            </a:r>
          </a:p>
          <a:p>
            <a:pPr>
              <a:buNone/>
            </a:pP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a:buNone/>
            </a:pPr>
            <a:r>
              <a:rPr lang="en-US" sz="2400" b="1" dirty="0" smtClean="0"/>
              <a:t>sub </a:t>
            </a:r>
            <a:r>
              <a:rPr lang="en-US" sz="2400" dirty="0" smtClean="0"/>
              <a:t>co1(){</a:t>
            </a:r>
          </a:p>
          <a:p>
            <a:pPr>
              <a:buNone/>
            </a:pPr>
            <a:r>
              <a:rPr lang="en-US" sz="2400" dirty="0" smtClean="0"/>
              <a:t>. . .</a:t>
            </a:r>
          </a:p>
          <a:p>
            <a:pPr>
              <a:buNone/>
            </a:pPr>
            <a:r>
              <a:rPr lang="en-US" sz="2400" b="1" dirty="0" smtClean="0"/>
              <a:t>resume </a:t>
            </a:r>
            <a:r>
              <a:rPr lang="en-US" sz="2400" dirty="0" smtClean="0"/>
              <a:t>co2();</a:t>
            </a:r>
          </a:p>
          <a:p>
            <a:pPr>
              <a:buNone/>
            </a:pPr>
            <a:r>
              <a:rPr lang="en-US" sz="2400" dirty="0" smtClean="0"/>
              <a:t>. . .</a:t>
            </a:r>
          </a:p>
          <a:p>
            <a:pPr>
              <a:buNone/>
            </a:pPr>
            <a:r>
              <a:rPr lang="en-US" sz="2400" b="1" dirty="0" smtClean="0"/>
              <a:t>resume </a:t>
            </a:r>
            <a:r>
              <a:rPr lang="en-US" sz="2400" dirty="0" smtClean="0"/>
              <a:t>co3();</a:t>
            </a:r>
          </a:p>
          <a:p>
            <a:pPr>
              <a:buNone/>
            </a:pPr>
            <a:r>
              <a:rPr lang="en-US" sz="2400" dirty="0" smtClean="0"/>
              <a:t>. . .</a:t>
            </a:r>
          </a:p>
          <a:p>
            <a:pPr>
              <a:buNone/>
            </a:pPr>
            <a:r>
              <a:rPr lang="en-US" sz="2400" dirty="0" smtClean="0"/>
              <a:t>} </a:t>
            </a:r>
          </a:p>
          <a:p>
            <a:r>
              <a:rPr lang="en-US" sz="2400" dirty="0" smtClean="0"/>
              <a:t>The first time co1 is resumed, its execution begins at the first statement and executes down to and including the resume of co2, which transfers control to co2.</a:t>
            </a:r>
          </a:p>
          <a:p>
            <a:r>
              <a:rPr lang="en-US" sz="2400" dirty="0" smtClean="0"/>
              <a:t>The next time co1 is resumed, its execution begins at the first statement after its call to co2. When co1 is resumed the third time, its execution begins at the first statement after the resume of co3.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r>
              <a:rPr lang="en-US" sz="2400" dirty="0" smtClean="0"/>
              <a:t>One of the usual characteristics of subprograms is maintained in </a:t>
            </a:r>
            <a:r>
              <a:rPr lang="en-US" sz="2400" dirty="0" err="1" smtClean="0"/>
              <a:t>coroutines</a:t>
            </a:r>
            <a:r>
              <a:rPr lang="en-US" sz="2400" dirty="0" smtClean="0"/>
              <a:t>: Only one </a:t>
            </a:r>
            <a:r>
              <a:rPr lang="en-US" sz="2400" dirty="0" err="1" smtClean="0"/>
              <a:t>coroutine</a:t>
            </a:r>
            <a:r>
              <a:rPr lang="en-US" sz="2400" dirty="0" smtClean="0"/>
              <a:t> is actually in execution at a given time.</a:t>
            </a:r>
          </a:p>
          <a:p>
            <a:r>
              <a:rPr lang="en-US" sz="2400" dirty="0" smtClean="0"/>
              <a:t>The first resume f a </a:t>
            </a:r>
            <a:r>
              <a:rPr lang="en-US" sz="2400" dirty="0" err="1" smtClean="0"/>
              <a:t>coroutine</a:t>
            </a:r>
            <a:r>
              <a:rPr lang="en-US" sz="2400" dirty="0" smtClean="0"/>
              <a:t> is to its beginning  but subsequent call enter at the point just  after last executed statement in the </a:t>
            </a:r>
            <a:r>
              <a:rPr lang="en-US" sz="2400" dirty="0" err="1" smtClean="0"/>
              <a:t>coroutine</a:t>
            </a:r>
            <a:r>
              <a:rPr lang="en-US" sz="2400" dirty="0" smtClean="0"/>
              <a:t>.</a:t>
            </a:r>
          </a:p>
          <a:p>
            <a:r>
              <a:rPr lang="en-US" sz="2400" dirty="0" smtClean="0"/>
              <a:t>Sort of interleaved execution sequence is related to the way multiprogramming operating systems work.</a:t>
            </a:r>
          </a:p>
          <a:p>
            <a:r>
              <a:rPr lang="en-US" sz="2400" dirty="0" smtClean="0"/>
              <a:t>Although there may be only one processor, all of the executing programs in such a system appear to run concurrently while sharing the processor. In the case of </a:t>
            </a:r>
            <a:r>
              <a:rPr lang="en-US" sz="2400" dirty="0" err="1" smtClean="0"/>
              <a:t>coroutines</a:t>
            </a:r>
            <a:r>
              <a:rPr lang="en-US" sz="2400" dirty="0" smtClean="0"/>
              <a:t>, this is sometimes called </a:t>
            </a:r>
            <a:r>
              <a:rPr lang="en-US" sz="2400" b="1" dirty="0" smtClean="0"/>
              <a:t>quasi-concurrency</a:t>
            </a:r>
            <a:r>
              <a:rPr lang="en-US" sz="2400" dirty="0" smtClean="0"/>
              <a:t>.</a:t>
            </a:r>
          </a:p>
          <a:p>
            <a:r>
              <a:rPr lang="en-US" sz="2400" dirty="0" smtClean="0"/>
              <a:t>Typically, </a:t>
            </a:r>
            <a:r>
              <a:rPr lang="en-US" sz="2400" dirty="0" err="1" smtClean="0"/>
              <a:t>coroutines</a:t>
            </a:r>
            <a:r>
              <a:rPr lang="en-US" sz="2400" dirty="0" smtClean="0"/>
              <a:t> are created in an application by a program unit called the master unit, which is not a </a:t>
            </a:r>
            <a:r>
              <a:rPr lang="en-US" sz="2400" dirty="0" err="1" smtClean="0"/>
              <a:t>coroutine</a:t>
            </a:r>
            <a:r>
              <a:rPr lang="en-US" sz="2400" dirty="0" smtClean="0"/>
              <a:t>.  </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pPr>
              <a:buNone/>
            </a:pPr>
            <a:r>
              <a:rPr lang="en-US" sz="2000" b="1" dirty="0" smtClean="0"/>
              <a:t>Two possible execution control sequences for two </a:t>
            </a:r>
            <a:r>
              <a:rPr lang="en-US" sz="2000" b="1" dirty="0" err="1" smtClean="0"/>
              <a:t>coroutines</a:t>
            </a:r>
            <a:r>
              <a:rPr lang="en-US" sz="2000" b="1" dirty="0" smtClean="0"/>
              <a:t> without loops</a:t>
            </a:r>
            <a:endParaRPr lang="en-US" sz="2000" dirty="0" smtClean="0"/>
          </a:p>
          <a:p>
            <a:pPr>
              <a:buNone/>
            </a:pPr>
            <a:endParaRPr lang="en-US" sz="2400" b="1" dirty="0" smtClean="0"/>
          </a:p>
          <a:p>
            <a:endParaRPr lang="en-US" sz="2400" dirty="0"/>
          </a:p>
        </p:txBody>
      </p:sp>
      <p:pic>
        <p:nvPicPr>
          <p:cNvPr id="5" name="Image 587"/>
          <p:cNvPicPr/>
          <p:nvPr/>
        </p:nvPicPr>
        <p:blipFill>
          <a:blip r:embed="rId2" cstate="print"/>
          <a:stretch>
            <a:fillRect/>
          </a:stretch>
        </p:blipFill>
        <p:spPr>
          <a:xfrm>
            <a:off x="1828800" y="990600"/>
            <a:ext cx="5119687" cy="577215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pPr>
              <a:buNone/>
            </a:pPr>
            <a:r>
              <a:rPr lang="en-US" sz="2400" b="1" dirty="0" err="1" smtClean="0"/>
              <a:t>Coroutine</a:t>
            </a:r>
            <a:r>
              <a:rPr lang="en-US" sz="2400" b="1" dirty="0" smtClean="0"/>
              <a:t> execution sequence with loops</a:t>
            </a:r>
          </a:p>
          <a:p>
            <a:pPr>
              <a:buNone/>
            </a:pPr>
            <a:endParaRPr lang="en-US" sz="2400" dirty="0"/>
          </a:p>
        </p:txBody>
      </p:sp>
      <p:pic>
        <p:nvPicPr>
          <p:cNvPr id="4" name="Image 588"/>
          <p:cNvPicPr/>
          <p:nvPr/>
        </p:nvPicPr>
        <p:blipFill>
          <a:blip r:embed="rId2" cstate="print"/>
          <a:stretch>
            <a:fillRect/>
          </a:stretch>
        </p:blipFill>
        <p:spPr>
          <a:xfrm>
            <a:off x="1790700" y="1371600"/>
            <a:ext cx="5562600" cy="44958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304800" y="152400"/>
            <a:ext cx="8534400" cy="6400800"/>
          </a:xfrm>
        </p:spPr>
        <p:txBody>
          <a:bodyPr>
            <a:normAutofit/>
          </a:bodyPr>
          <a:lstStyle/>
          <a:p>
            <a:pPr>
              <a:buNone/>
            </a:pPr>
            <a:r>
              <a:rPr lang="en-US" sz="2800" b="1" dirty="0" smtClean="0"/>
              <a:t>Implementing Subprograms</a:t>
            </a:r>
          </a:p>
          <a:p>
            <a:r>
              <a:rPr lang="en-US" sz="2400" dirty="0" smtClean="0"/>
              <a:t>The simplest situation, </a:t>
            </a:r>
            <a:r>
              <a:rPr lang="en-US" sz="2400" dirty="0" err="1" smtClean="0"/>
              <a:t>nonnestable</a:t>
            </a:r>
            <a:r>
              <a:rPr lang="en-US" sz="2400" dirty="0" smtClean="0"/>
              <a:t> subprograms with static local variables, advance to more complicated subprograms with stack-dynamic local variables, and conclude with nested subprograms with stack-dynamic local variables and static scoping.</a:t>
            </a:r>
          </a:p>
          <a:p>
            <a:r>
              <a:rPr lang="en-US" sz="2400" dirty="0" smtClean="0"/>
              <a:t> The increased difficulty of implementing subprograms in languages with nested subprograms is caused by the need to include mechanisms to access nonlocal variables.</a:t>
            </a:r>
          </a:p>
          <a:p>
            <a:pPr marL="342900" lvl="1" indent="-342900">
              <a:buNone/>
            </a:pPr>
            <a:r>
              <a:rPr lang="en-US" b="1" dirty="0" smtClean="0"/>
              <a:t>The General Semantics of Calls and Returns</a:t>
            </a:r>
          </a:p>
          <a:p>
            <a:r>
              <a:rPr lang="en-US" sz="2400" dirty="0" smtClean="0"/>
              <a:t>The subprogram call and return operations are together called </a:t>
            </a:r>
            <a:r>
              <a:rPr lang="en-US" sz="2400" b="1" dirty="0" smtClean="0"/>
              <a:t>subprogram linkage</a:t>
            </a:r>
            <a:r>
              <a:rPr lang="en-US" sz="2400" dirty="0" smtClean="0"/>
              <a:t>. </a:t>
            </a:r>
          </a:p>
          <a:p>
            <a:r>
              <a:rPr lang="en-US" sz="2400" dirty="0" smtClean="0"/>
              <a:t>The implementation of subprograms must be based on the semantics of the subprogram linkage of the language being implemented.</a:t>
            </a:r>
          </a:p>
          <a:p>
            <a:endParaRPr lang="en-US" sz="2400" dirty="0" smtClean="0"/>
          </a:p>
          <a:p>
            <a:endParaRPr lang="en-US" sz="2400"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400" dirty="0" smtClean="0"/>
              <a:t>A subprogram call in a typical language has numerous actions associated with it. The call process must include the implementation of whatever - parameter-passing method is used. </a:t>
            </a:r>
          </a:p>
          <a:p>
            <a:r>
              <a:rPr lang="en-US" sz="2400" dirty="0" smtClean="0"/>
              <a:t>If local variables are not static, the call process must allocate storage for the locals declared in the called subprogram and bind those variables to that storage. It must save the execution status of the calling program unit.</a:t>
            </a:r>
          </a:p>
          <a:p>
            <a:r>
              <a:rPr lang="en-US" sz="2400" dirty="0" smtClean="0"/>
              <a:t>The execution status is everything needed to resume execution of the calling program unit.</a:t>
            </a:r>
          </a:p>
          <a:p>
            <a:r>
              <a:rPr lang="en-US" sz="2400" dirty="0" smtClean="0"/>
              <a:t>The calling process also must arrange to transfer control to the code of the subprogram and ensure that control can return to the proper place when the subprogram execution is completed.</a:t>
            </a:r>
          </a:p>
          <a:p>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r>
              <a:rPr lang="en-US" sz="2400" dirty="0" smtClean="0"/>
              <a:t>The required actions of a subprogram return are less complicated than those of a call. </a:t>
            </a:r>
          </a:p>
          <a:p>
            <a:r>
              <a:rPr lang="en-US" sz="2400" dirty="0" smtClean="0"/>
              <a:t>If the subprogram has parameters that are out mode or </a:t>
            </a:r>
            <a:r>
              <a:rPr lang="en-US" sz="2400" dirty="0" err="1" smtClean="0"/>
              <a:t>inout</a:t>
            </a:r>
            <a:r>
              <a:rPr lang="en-US" sz="2400" dirty="0" smtClean="0"/>
              <a:t> mode and are implemented by copy, the first action of the return process is to move the local values of the associated formal parameters to the actual parameters.</a:t>
            </a:r>
          </a:p>
          <a:p>
            <a:r>
              <a:rPr lang="en-US" sz="2400" dirty="0" smtClean="0"/>
              <a:t>Next, it must </a:t>
            </a:r>
            <a:r>
              <a:rPr lang="en-US" sz="2400" dirty="0" err="1" smtClean="0"/>
              <a:t>deallocate</a:t>
            </a:r>
            <a:r>
              <a:rPr lang="en-US" sz="2400" dirty="0" smtClean="0"/>
              <a:t> the storage used for local variables and restore the execution status of the calling program unit. Finally, control must be returned to the calling program unit.</a:t>
            </a:r>
          </a:p>
          <a:p>
            <a:r>
              <a:rPr lang="en-US" sz="2400" dirty="0" smtClean="0"/>
              <a:t> </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pPr marL="342900" lvl="1" indent="-342900">
              <a:buNone/>
            </a:pPr>
            <a:r>
              <a:rPr lang="en-US" b="1" dirty="0" smtClean="0"/>
              <a:t>Implementing “Simple” Subprograms</a:t>
            </a:r>
          </a:p>
          <a:p>
            <a:r>
              <a:rPr lang="en-US" sz="2400" dirty="0" smtClean="0"/>
              <a:t>We begin with the task of implementing simple subprograms. By “simple” we mean that subprograms cannot be nested and all local variables are static. </a:t>
            </a:r>
          </a:p>
          <a:p>
            <a:r>
              <a:rPr lang="en-US" sz="2400" dirty="0" smtClean="0"/>
              <a:t>The semantics of a call to a “simple” subprogram requires the following actions:</a:t>
            </a:r>
          </a:p>
          <a:p>
            <a:pPr lvl="0">
              <a:buNone/>
            </a:pPr>
            <a:r>
              <a:rPr lang="en-US" sz="2400" dirty="0" smtClean="0"/>
              <a:t>         1.Save the execution status of the current program unit.</a:t>
            </a:r>
          </a:p>
          <a:p>
            <a:pPr lvl="0">
              <a:buNone/>
            </a:pPr>
            <a:r>
              <a:rPr lang="en-US" sz="2400" dirty="0" smtClean="0"/>
              <a:t>         2.Compute and pass the parameters.</a:t>
            </a:r>
          </a:p>
          <a:p>
            <a:pPr lvl="0">
              <a:buNone/>
            </a:pPr>
            <a:r>
              <a:rPr lang="en-US" sz="2400" dirty="0" smtClean="0"/>
              <a:t>         3.Pass the return address to the called.</a:t>
            </a:r>
          </a:p>
          <a:p>
            <a:pPr lvl="0">
              <a:buNone/>
            </a:pPr>
            <a:r>
              <a:rPr lang="en-US" sz="2400" dirty="0" smtClean="0"/>
              <a:t>          4.Transfer control to the called.</a:t>
            </a:r>
          </a:p>
          <a:p>
            <a:r>
              <a:rPr lang="en-US" sz="2400" dirty="0" smtClean="0"/>
              <a:t>The semantics of a return from a simple subprogram requires the following actions:</a:t>
            </a:r>
          </a:p>
          <a:p>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pPr lvl="0">
              <a:buNone/>
            </a:pPr>
            <a:r>
              <a:rPr lang="en-US" sz="2400" dirty="0" smtClean="0"/>
              <a:t>  1.If there are pass-by-value-result or out-mode parameters, the current values of those parameters are moved to or made available to the corresponding actual parameters.</a:t>
            </a:r>
          </a:p>
          <a:p>
            <a:pPr lvl="0">
              <a:buNone/>
            </a:pPr>
            <a:r>
              <a:rPr lang="en-US" sz="2400" dirty="0" smtClean="0"/>
              <a:t>  2.If the subprogram is a function, the functional value is moved to a place accessible to the caller.</a:t>
            </a:r>
          </a:p>
          <a:p>
            <a:pPr lvl="0">
              <a:buNone/>
            </a:pPr>
            <a:r>
              <a:rPr lang="en-US" sz="2400" dirty="0" smtClean="0"/>
              <a:t>  3.The execution status of the caller is restored.</a:t>
            </a:r>
          </a:p>
          <a:p>
            <a:pPr lvl="0">
              <a:buNone/>
            </a:pPr>
            <a:r>
              <a:rPr lang="en-US" sz="2400" dirty="0" smtClean="0"/>
              <a:t>   4.Control is transferred back to the caller.</a:t>
            </a:r>
          </a:p>
          <a:p>
            <a:r>
              <a:rPr lang="en-US" sz="2400" dirty="0" smtClean="0"/>
              <a:t>The call and return actions require storage for the following:</a:t>
            </a:r>
          </a:p>
          <a:p>
            <a:pPr>
              <a:buNone/>
            </a:pPr>
            <a:r>
              <a:rPr lang="en-US" sz="2400" dirty="0" smtClean="0"/>
              <a:t>     1. Status information about the caller  Parameters</a:t>
            </a:r>
          </a:p>
          <a:p>
            <a:pPr>
              <a:buNone/>
            </a:pPr>
            <a:r>
              <a:rPr lang="en-US" sz="2400" dirty="0" smtClean="0"/>
              <a:t>    2. Return address</a:t>
            </a:r>
          </a:p>
          <a:p>
            <a:pPr>
              <a:buNone/>
            </a:pPr>
            <a:r>
              <a:rPr lang="en-US" sz="2400" dirty="0" smtClean="0"/>
              <a:t>    3. Return value for functions</a:t>
            </a:r>
          </a:p>
          <a:p>
            <a:pPr>
              <a:buNone/>
            </a:pPr>
            <a:r>
              <a:rPr lang="en-US" sz="2400" dirty="0" smtClean="0"/>
              <a:t>   4. Temporaries used by the code of the subprograms</a:t>
            </a:r>
          </a:p>
          <a:p>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867400"/>
          </a:xfrm>
        </p:spPr>
        <p:txBody>
          <a:bodyPr>
            <a:normAutofit/>
          </a:bodyPr>
          <a:lstStyle/>
          <a:p>
            <a:r>
              <a:rPr lang="en-US" sz="2400" dirty="0" smtClean="0"/>
              <a:t>In general, the linkage actions of the called can occur at two different times, either at the beginning of its execution or at the end. </a:t>
            </a:r>
          </a:p>
          <a:p>
            <a:r>
              <a:rPr lang="en-US" sz="2400" dirty="0" smtClean="0"/>
              <a:t>These are sometimes called the </a:t>
            </a:r>
            <a:r>
              <a:rPr lang="en-US" sz="2400" b="1" dirty="0" smtClean="0"/>
              <a:t>prologue </a:t>
            </a:r>
            <a:r>
              <a:rPr lang="en-US" sz="2400" dirty="0" smtClean="0"/>
              <a:t>and </a:t>
            </a:r>
            <a:r>
              <a:rPr lang="en-US" sz="2400" b="1" dirty="0" smtClean="0"/>
              <a:t>epilogue </a:t>
            </a:r>
            <a:r>
              <a:rPr lang="en-US" sz="2400" dirty="0" smtClean="0"/>
              <a:t>of the subprogram linkage. </a:t>
            </a:r>
          </a:p>
          <a:p>
            <a:r>
              <a:rPr lang="en-US" sz="2400" dirty="0" smtClean="0"/>
              <a:t>. In the case of a simple subprogram, all of the linkage actions of the </a:t>
            </a:r>
            <a:r>
              <a:rPr lang="en-US" sz="2400" dirty="0" err="1" smtClean="0"/>
              <a:t>callee</a:t>
            </a:r>
            <a:r>
              <a:rPr lang="en-US" sz="2400" dirty="0" smtClean="0"/>
              <a:t> occur at the end of its execution, so there is no need for a prologue.</a:t>
            </a:r>
          </a:p>
          <a:p>
            <a:r>
              <a:rPr lang="en-US" sz="2400" dirty="0" smtClean="0"/>
              <a:t>A simple subprogram consists of two separate parts:</a:t>
            </a:r>
          </a:p>
          <a:p>
            <a:r>
              <a:rPr lang="en-US" sz="2400" dirty="0" smtClean="0"/>
              <a:t> The actual </a:t>
            </a:r>
            <a:r>
              <a:rPr lang="en-US" sz="2400" b="1" dirty="0" smtClean="0"/>
              <a:t>code</a:t>
            </a:r>
            <a:r>
              <a:rPr lang="en-US" sz="2400" dirty="0" smtClean="0"/>
              <a:t> of the subprogram, which is constant.</a:t>
            </a:r>
          </a:p>
          <a:p>
            <a:r>
              <a:rPr lang="en-US" sz="2400" dirty="0" smtClean="0"/>
              <a:t> The </a:t>
            </a:r>
            <a:r>
              <a:rPr lang="en-US" sz="2400" b="1" dirty="0" smtClean="0"/>
              <a:t>local variables and data </a:t>
            </a:r>
            <a:r>
              <a:rPr lang="en-US" sz="2400" dirty="0" smtClean="0"/>
              <a:t>listed previously, which can change when the subprogram is executed.</a:t>
            </a:r>
          </a:p>
          <a:p>
            <a:r>
              <a:rPr lang="en-US" sz="2400" dirty="0" smtClean="0"/>
              <a:t>Both of these parts have fixed sizes.</a:t>
            </a:r>
          </a:p>
          <a:p>
            <a:pPr>
              <a:buNone/>
            </a:pP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r>
              <a:rPr lang="en-US" sz="2400" dirty="0" smtClean="0"/>
              <a:t>The format, or layout, of the </a:t>
            </a:r>
            <a:r>
              <a:rPr lang="en-US" sz="2400" dirty="0" err="1" smtClean="0"/>
              <a:t>noncode</a:t>
            </a:r>
            <a:r>
              <a:rPr lang="en-US" sz="2400" dirty="0" smtClean="0"/>
              <a:t> part of a subprogram is called an </a:t>
            </a:r>
            <a:r>
              <a:rPr lang="en-US" sz="2400" b="1" dirty="0" smtClean="0"/>
              <a:t>activation record</a:t>
            </a:r>
            <a:r>
              <a:rPr lang="en-US" sz="2400" dirty="0" smtClean="0"/>
              <a:t>,</a:t>
            </a:r>
          </a:p>
          <a:p>
            <a:r>
              <a:rPr lang="en-US" sz="2400" dirty="0" smtClean="0"/>
              <a:t> because the data it describes are relevant only during the activation or execution of the subprogram. The form of an activation record is static. </a:t>
            </a:r>
          </a:p>
          <a:p>
            <a:r>
              <a:rPr lang="en-US" sz="2400" dirty="0" smtClean="0"/>
              <a:t>An </a:t>
            </a:r>
            <a:r>
              <a:rPr lang="en-US" sz="2400" b="1" dirty="0" smtClean="0"/>
              <a:t>activation record instance </a:t>
            </a:r>
            <a:r>
              <a:rPr lang="en-US" sz="2400" dirty="0" smtClean="0"/>
              <a:t>is a concrete example of an activation record, a collection of data in the form of an activation record.</a:t>
            </a:r>
          </a:p>
          <a:p>
            <a:r>
              <a:rPr lang="en-US" sz="2400" dirty="0" smtClean="0"/>
              <a:t>Because languages with simple subprograms do not support recursion, there can be only one active version of a given subprogram at a time. Therefore, there can be only a single instance of the activation record for a subprogram. </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594"/>
          <p:cNvPicPr>
            <a:picLocks noGrp="1"/>
          </p:cNvPicPr>
          <p:nvPr>
            <p:ph idx="1"/>
          </p:nvPr>
        </p:nvPicPr>
        <p:blipFill>
          <a:blip r:embed="rId2" cstate="print"/>
          <a:stretch>
            <a:fillRect/>
          </a:stretch>
        </p:blipFill>
        <p:spPr>
          <a:xfrm>
            <a:off x="1600200" y="914400"/>
            <a:ext cx="3810000" cy="2343150"/>
          </a:xfrm>
          <a:prstGeom prst="rect">
            <a:avLst/>
          </a:prstGeom>
        </p:spPr>
      </p:pic>
      <p:sp>
        <p:nvSpPr>
          <p:cNvPr id="5" name="Rectangle 4"/>
          <p:cNvSpPr/>
          <p:nvPr/>
        </p:nvSpPr>
        <p:spPr>
          <a:xfrm>
            <a:off x="1066800" y="381000"/>
            <a:ext cx="5595763" cy="461665"/>
          </a:xfrm>
          <a:prstGeom prst="rect">
            <a:avLst/>
          </a:prstGeom>
        </p:spPr>
        <p:txBody>
          <a:bodyPr wrap="none">
            <a:spAutoFit/>
          </a:bodyPr>
          <a:lstStyle/>
          <a:p>
            <a:r>
              <a:rPr lang="en-US" sz="2400" dirty="0" smtClean="0"/>
              <a:t>An activation record for simple subprogram</a:t>
            </a:r>
            <a:endParaRPr lang="en-US" sz="2400" dirty="0"/>
          </a:p>
        </p:txBody>
      </p:sp>
      <p:sp>
        <p:nvSpPr>
          <p:cNvPr id="6" name="Rectangle 5"/>
          <p:cNvSpPr/>
          <p:nvPr/>
        </p:nvSpPr>
        <p:spPr>
          <a:xfrm>
            <a:off x="685800" y="3962400"/>
            <a:ext cx="7772400" cy="1200329"/>
          </a:xfrm>
          <a:prstGeom prst="rect">
            <a:avLst/>
          </a:prstGeom>
        </p:spPr>
        <p:txBody>
          <a:bodyPr wrap="square">
            <a:spAutoFit/>
          </a:bodyPr>
          <a:lstStyle/>
          <a:p>
            <a:r>
              <a:rPr lang="en-US" sz="2400" dirty="0" smtClean="0"/>
              <a:t>Because an activation record instance for a “simple” subprogram has fixed size, it can be statically allocated. In fact, it could be attached to the code part of the subprogram.</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r>
              <a:rPr lang="en-US" sz="2400" dirty="0" smtClean="0"/>
              <a:t>Since the activation record  instance of simple sub program  has fixed size, it can be statically allocated.</a:t>
            </a:r>
          </a:p>
          <a:p>
            <a:r>
              <a:rPr lang="en-US" sz="2400" dirty="0" smtClean="0"/>
              <a:t>Actually it could be attached to the code part of program.</a:t>
            </a:r>
          </a:p>
          <a:p>
            <a:r>
              <a:rPr lang="en-US" sz="2400" dirty="0" smtClean="0"/>
              <a:t>The code and activation of program with simple sub routine.</a:t>
            </a:r>
          </a:p>
          <a:p>
            <a:r>
              <a:rPr lang="en-US" sz="2400" dirty="0" smtClean="0"/>
              <a:t>four program  units—</a:t>
            </a:r>
            <a:r>
              <a:rPr lang="en-US" sz="2400" dirty="0" err="1" smtClean="0"/>
              <a:t>main,A,B,C</a:t>
            </a:r>
            <a:endParaRPr lang="en-US" sz="2400" dirty="0" smtClean="0"/>
          </a:p>
          <a:p>
            <a:r>
              <a:rPr lang="en-US" sz="2400" dirty="0" smtClean="0"/>
              <a:t>Main calls A,B, C</a:t>
            </a:r>
          </a:p>
          <a:p>
            <a:r>
              <a:rPr lang="en-US" sz="2400" dirty="0" smtClean="0"/>
              <a:t>Originally all four program unit compiled different times individually.</a:t>
            </a:r>
          </a:p>
          <a:p>
            <a:r>
              <a:rPr lang="en-US" sz="2400" dirty="0" smtClean="0"/>
              <a:t>When each program is compiled machine code, along with the list of reference to external sub </a:t>
            </a:r>
            <a:r>
              <a:rPr lang="en-US" sz="2400" dirty="0" err="1" smtClean="0"/>
              <a:t>rogram</a:t>
            </a:r>
            <a:r>
              <a:rPr lang="en-US" sz="2400" dirty="0" smtClean="0"/>
              <a:t> are write to file.</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r>
              <a:rPr lang="en-US" sz="2400" dirty="0" smtClean="0"/>
              <a:t>The code and - activation records of a program with simple subprograms</a:t>
            </a:r>
          </a:p>
          <a:p>
            <a:pPr>
              <a:buNone/>
            </a:pPr>
            <a:endParaRPr lang="en-US" sz="2400" dirty="0"/>
          </a:p>
        </p:txBody>
      </p:sp>
      <p:pic>
        <p:nvPicPr>
          <p:cNvPr id="4" name="Image 595"/>
          <p:cNvPicPr/>
          <p:nvPr/>
        </p:nvPicPr>
        <p:blipFill>
          <a:blip r:embed="rId2" cstate="print"/>
          <a:stretch>
            <a:fillRect/>
          </a:stretch>
        </p:blipFill>
        <p:spPr>
          <a:xfrm>
            <a:off x="2547937" y="1066800"/>
            <a:ext cx="4048125" cy="54864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943600"/>
          </a:xfrm>
        </p:spPr>
        <p:txBody>
          <a:bodyPr>
            <a:noAutofit/>
          </a:bodyPr>
          <a:lstStyle/>
          <a:p>
            <a:pPr marL="342900" lvl="1" indent="-342900">
              <a:buNone/>
            </a:pPr>
            <a:r>
              <a:rPr lang="en-US" sz="2400" b="1" dirty="0" smtClean="0"/>
              <a:t>Implementing Subprograms with Stack-Dynamic Local Variables</a:t>
            </a:r>
          </a:p>
          <a:p>
            <a:pPr marL="342900" lvl="1" indent="-342900">
              <a:buFont typeface="Arial" pitchFamily="34" charset="0"/>
              <a:buChar char="•"/>
            </a:pPr>
            <a:r>
              <a:rPr lang="en-US" sz="2400" dirty="0" smtClean="0"/>
              <a:t>One of the most important advantages of stack-dynamic local variables is support for recursion. Therefore, languages that use stack-dynamic local variables also support recursion.</a:t>
            </a:r>
          </a:p>
          <a:p>
            <a:pPr marL="342900" lvl="1" indent="-342900">
              <a:buFont typeface="Arial" pitchFamily="34" charset="0"/>
              <a:buChar char="•"/>
            </a:pPr>
            <a:r>
              <a:rPr lang="en-US" sz="2400" dirty="0" smtClean="0"/>
              <a:t>Subprogram linkage in languages that use stack-dynamic local variables are more complex than the linkage of simple subprograms for the following reasons:</a:t>
            </a:r>
          </a:p>
          <a:p>
            <a:r>
              <a:rPr lang="en-US" sz="2400" dirty="0" smtClean="0"/>
              <a:t> The compiler must generate code to cause the implicit allocation and </a:t>
            </a:r>
            <a:r>
              <a:rPr lang="en-US" sz="2400" dirty="0" err="1" smtClean="0"/>
              <a:t>deallocation</a:t>
            </a:r>
            <a:r>
              <a:rPr lang="en-US" sz="2400" dirty="0" smtClean="0"/>
              <a:t> of local variables.</a:t>
            </a:r>
          </a:p>
          <a:p>
            <a:r>
              <a:rPr lang="en-US" sz="2400" dirty="0" smtClean="0"/>
              <a:t> Recursion adds the possibility of multiple simultaneous activations of a subprogram, which means that there can be more than one instance (incomplete execution) of a subprogram at a given time, with at least one call from outside the subprogram and one or more recursive calls. </a:t>
            </a:r>
          </a:p>
          <a:p>
            <a:r>
              <a:rPr lang="en-US" sz="2400" dirty="0" smtClean="0"/>
              <a:t/>
            </a:r>
            <a:br>
              <a:rPr lang="en-US" sz="2400" dirty="0" smtClean="0"/>
            </a:br>
            <a:endParaRPr lang="en-US" sz="2400" dirty="0" smtClean="0"/>
          </a:p>
          <a:p>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Autofit/>
          </a:bodyPr>
          <a:lstStyle/>
          <a:p>
            <a:r>
              <a:rPr lang="en-US" sz="2400" b="1" dirty="0" smtClean="0">
                <a:latin typeface="Aparajita" pitchFamily="18" charset="0"/>
                <a:cs typeface="Aparajita" pitchFamily="18" charset="0"/>
              </a:rPr>
              <a:t>The number of activations is limited only by the memory size of the machine. Each activation requires its own activation record instance.</a:t>
            </a:r>
          </a:p>
          <a:p>
            <a:r>
              <a:rPr lang="en-US" sz="2400" b="1" dirty="0" smtClean="0">
                <a:latin typeface="Aparajita" pitchFamily="18" charset="0"/>
                <a:cs typeface="Aparajita" pitchFamily="18" charset="0"/>
              </a:rPr>
              <a:t>The format of an activation record for a given subprogram in most languages is known at compile time. In many cases, the size is also known for activation records because all local data are of a fixed size.</a:t>
            </a:r>
          </a:p>
          <a:p>
            <a:r>
              <a:rPr lang="en-US" sz="2400" b="1" dirty="0" smtClean="0">
                <a:latin typeface="Aparajita" pitchFamily="18" charset="0"/>
                <a:cs typeface="Aparajita" pitchFamily="18" charset="0"/>
              </a:rPr>
              <a:t>That is not the case in some other languages, such as </a:t>
            </a:r>
            <a:r>
              <a:rPr lang="en-US" sz="2400" b="1" dirty="0" err="1" smtClean="0">
                <a:latin typeface="Aparajita" pitchFamily="18" charset="0"/>
                <a:cs typeface="Aparajita" pitchFamily="18" charset="0"/>
              </a:rPr>
              <a:t>Ada</a:t>
            </a:r>
            <a:r>
              <a:rPr lang="en-US" sz="2400" b="1" dirty="0" smtClean="0">
                <a:latin typeface="Aparajita" pitchFamily="18" charset="0"/>
                <a:cs typeface="Aparajita" pitchFamily="18" charset="0"/>
              </a:rPr>
              <a:t>, in which the size of a local array can depend on the value of an actual parameter. In those cases, the format is static, but the size can be </a:t>
            </a:r>
            <a:r>
              <a:rPr lang="en-US" sz="2400" b="1" dirty="0" err="1" smtClean="0">
                <a:latin typeface="Aparajita" pitchFamily="18" charset="0"/>
                <a:cs typeface="Aparajita" pitchFamily="18" charset="0"/>
              </a:rPr>
              <a:t>dynamic.In</a:t>
            </a:r>
            <a:r>
              <a:rPr lang="en-US" sz="2400" b="1" dirty="0" smtClean="0">
                <a:latin typeface="Aparajita" pitchFamily="18" charset="0"/>
                <a:cs typeface="Aparajita" pitchFamily="18" charset="0"/>
              </a:rPr>
              <a:t> languages with stack-dynamic local variables, activation record instances must be created dynamically.</a:t>
            </a:r>
          </a:p>
          <a:p>
            <a:r>
              <a:rPr lang="en-US" sz="2400" b="1" dirty="0" smtClean="0">
                <a:latin typeface="Aparajita" pitchFamily="18" charset="0"/>
                <a:cs typeface="Aparajita" pitchFamily="18" charset="0"/>
              </a:rPr>
              <a:t>The dynamic link is a pointer to the base of the activation record instance of the caller. In static- scoped languages, this link is used to provide </a:t>
            </a:r>
            <a:r>
              <a:rPr lang="en-US" sz="2400" b="1" dirty="0" err="1" smtClean="0">
                <a:latin typeface="Aparajita" pitchFamily="18" charset="0"/>
                <a:cs typeface="Aparajita" pitchFamily="18" charset="0"/>
              </a:rPr>
              <a:t>traceback</a:t>
            </a:r>
            <a:r>
              <a:rPr lang="en-US" sz="2400" b="1" dirty="0" smtClean="0">
                <a:latin typeface="Aparajita" pitchFamily="18" charset="0"/>
                <a:cs typeface="Aparajita" pitchFamily="18" charset="0"/>
              </a:rPr>
              <a:t> information when a run-time error occurs. In dynamic-scoped languages, the dynamic link is used to access nonlocal variables.</a:t>
            </a:r>
            <a:endParaRPr lang="en-US" sz="2400" b="1" dirty="0">
              <a:latin typeface="Aparajita" pitchFamily="18" charset="0"/>
              <a:cs typeface="Aparajita"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598"/>
          <p:cNvPicPr>
            <a:picLocks noGrp="1"/>
          </p:cNvPicPr>
          <p:nvPr>
            <p:ph idx="1"/>
          </p:nvPr>
        </p:nvPicPr>
        <p:blipFill>
          <a:blip r:embed="rId2" cstate="print"/>
          <a:stretch>
            <a:fillRect/>
          </a:stretch>
        </p:blipFill>
        <p:spPr>
          <a:xfrm>
            <a:off x="1981200" y="228600"/>
            <a:ext cx="3810000" cy="2047875"/>
          </a:xfrm>
          <a:prstGeom prst="rect">
            <a:avLst/>
          </a:prstGeom>
        </p:spPr>
      </p:pic>
      <p:sp>
        <p:nvSpPr>
          <p:cNvPr id="1025" name="Rectangle 1"/>
          <p:cNvSpPr>
            <a:spLocks noChangeArrowheads="1"/>
          </p:cNvSpPr>
          <p:nvPr/>
        </p:nvSpPr>
        <p:spPr bwMode="auto">
          <a:xfrm>
            <a:off x="533400" y="3048000"/>
            <a:ext cx="8153400"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ea typeface="Times New Roman" pitchFamily="18" charset="0"/>
                <a:cs typeface="Arial" pitchFamily="34" charset="0"/>
              </a:rPr>
              <a:t>Consider the following skeletal C function:</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ea typeface="Times New Roman" pitchFamily="18" charset="0"/>
                <a:cs typeface="Courier New" pitchFamily="49" charset="0"/>
              </a:rPr>
              <a:t>void </a:t>
            </a:r>
            <a:r>
              <a:rPr kumimoji="0" lang="en-US" sz="2400" b="0" i="0" u="none" strike="noStrike" cap="none" normalizeH="0" baseline="0" dirty="0" smtClean="0">
                <a:ln>
                  <a:noFill/>
                </a:ln>
                <a:solidFill>
                  <a:schemeClr val="tx1"/>
                </a:solidFill>
                <a:effectLst/>
                <a:ea typeface="Times New Roman" pitchFamily="18" charset="0"/>
                <a:cs typeface="Courier New" pitchFamily="49" charset="0"/>
              </a:rPr>
              <a:t>sub(</a:t>
            </a:r>
            <a:r>
              <a:rPr kumimoji="0" lang="en-US" sz="2400" b="1" i="0" u="none" strike="noStrike" cap="none" normalizeH="0" baseline="0" dirty="0" smtClean="0">
                <a:ln>
                  <a:noFill/>
                </a:ln>
                <a:solidFill>
                  <a:schemeClr val="tx1"/>
                </a:solidFill>
                <a:effectLst/>
                <a:ea typeface="Times New Roman" pitchFamily="18" charset="0"/>
                <a:cs typeface="Courier New" pitchFamily="49" charset="0"/>
              </a:rPr>
              <a:t>float </a:t>
            </a:r>
            <a:r>
              <a:rPr kumimoji="0" lang="en-US" sz="2400" b="0" i="0" u="none" strike="noStrike" cap="none" normalizeH="0" baseline="0" dirty="0" smtClean="0">
                <a:ln>
                  <a:noFill/>
                </a:ln>
                <a:solidFill>
                  <a:schemeClr val="tx1"/>
                </a:solidFill>
                <a:effectLst/>
                <a:ea typeface="Times New Roman" pitchFamily="18" charset="0"/>
                <a:cs typeface="Courier New" pitchFamily="49" charset="0"/>
              </a:rPr>
              <a:t>total, </a:t>
            </a:r>
            <a:r>
              <a:rPr kumimoji="0" lang="en-US" sz="2400" b="1" i="0" u="none" strike="noStrike" cap="none" normalizeH="0" baseline="0" dirty="0" err="1" smtClean="0">
                <a:ln>
                  <a:noFill/>
                </a:ln>
                <a:solidFill>
                  <a:schemeClr val="tx1"/>
                </a:solidFill>
                <a:effectLst/>
                <a:ea typeface="Times New Roman" pitchFamily="18" charset="0"/>
                <a:cs typeface="Courier New" pitchFamily="49" charset="0"/>
              </a:rPr>
              <a:t>int</a:t>
            </a:r>
            <a:r>
              <a:rPr kumimoji="0" lang="en-US" sz="2400" b="1" i="0" u="none" strike="noStrike" cap="none" normalizeH="0" baseline="0" dirty="0" smtClean="0">
                <a:ln>
                  <a:noFill/>
                </a:ln>
                <a:solidFill>
                  <a:schemeClr val="tx1"/>
                </a:solidFill>
                <a:effectLst/>
                <a:ea typeface="Times New Roman" pitchFamily="18" charset="0"/>
                <a:cs typeface="Courier New" pitchFamily="49" charset="0"/>
              </a:rPr>
              <a:t> </a:t>
            </a:r>
            <a:r>
              <a:rPr kumimoji="0" lang="en-US" sz="2400" b="0" i="0" u="none" strike="noStrike" cap="none" normalizeH="0" baseline="0" dirty="0" smtClean="0">
                <a:ln>
                  <a:noFill/>
                </a:ln>
                <a:solidFill>
                  <a:schemeClr val="tx1"/>
                </a:solidFill>
                <a:effectLst/>
                <a:ea typeface="Times New Roman" pitchFamily="18" charset="0"/>
                <a:cs typeface="Courier New" pitchFamily="49" charset="0"/>
              </a:rPr>
              <a:t>part)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ea typeface="Times New Roman" pitchFamily="18" charset="0"/>
                <a:cs typeface="Courier New" pitchFamily="49" charset="0"/>
              </a:rPr>
              <a:t> {</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smtClean="0">
                <a:ln>
                  <a:noFill/>
                </a:ln>
                <a:solidFill>
                  <a:schemeClr val="tx1"/>
                </a:solidFill>
                <a:effectLst/>
                <a:ea typeface="Times New Roman" pitchFamily="18" charset="0"/>
                <a:cs typeface="Courier New" pitchFamily="49" charset="0"/>
              </a:rPr>
              <a:t>int</a:t>
            </a:r>
            <a:r>
              <a:rPr kumimoji="0" lang="en-US" sz="2400" b="1" i="0" u="none" strike="noStrike" cap="none" normalizeH="0" baseline="0" dirty="0" smtClean="0">
                <a:ln>
                  <a:noFill/>
                </a:ln>
                <a:solidFill>
                  <a:schemeClr val="tx1"/>
                </a:solidFill>
                <a:effectLst/>
                <a:ea typeface="Times New Roman" pitchFamily="18" charset="0"/>
                <a:cs typeface="Courier New" pitchFamily="49" charset="0"/>
              </a:rPr>
              <a:t> </a:t>
            </a:r>
            <a:r>
              <a:rPr kumimoji="0" lang="en-US" sz="2400" b="0" i="0" u="none" strike="noStrike" cap="none" normalizeH="0" baseline="0" dirty="0" smtClean="0">
                <a:ln>
                  <a:noFill/>
                </a:ln>
                <a:solidFill>
                  <a:schemeClr val="tx1"/>
                </a:solidFill>
                <a:effectLst/>
                <a:ea typeface="Times New Roman" pitchFamily="18" charset="0"/>
                <a:cs typeface="Courier New" pitchFamily="49" charset="0"/>
              </a:rPr>
              <a:t>list[5];</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ea typeface="Times New Roman" pitchFamily="18" charset="0"/>
                <a:cs typeface="Courier New" pitchFamily="49" charset="0"/>
              </a:rPr>
              <a:t>float </a:t>
            </a:r>
            <a:r>
              <a:rPr kumimoji="0" lang="en-US" sz="2400" b="0" i="0" u="none" strike="noStrike" cap="none" normalizeH="0" baseline="0" dirty="0" smtClean="0">
                <a:ln>
                  <a:noFill/>
                </a:ln>
                <a:solidFill>
                  <a:schemeClr val="tx1"/>
                </a:solidFill>
                <a:effectLst/>
                <a:ea typeface="Times New Roman" pitchFamily="18" charset="0"/>
                <a:cs typeface="Courier New" pitchFamily="49" charset="0"/>
              </a:rPr>
              <a:t>sum;</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ea typeface="Times New Roman" pitchFamily="18" charset="0"/>
                <a:cs typeface="Courier New" pitchFamily="49" charset="0"/>
              </a:rPr>
              <a:t>. . .</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ea typeface="Times New Roman" pitchFamily="18" charset="0"/>
                <a:cs typeface="Courier New" pitchFamily="49" charset="0"/>
              </a:rPr>
              <a:t>}</a:t>
            </a:r>
            <a:endParaRPr kumimoji="0" lang="en-US" sz="2400" b="0" i="0" u="none" strike="noStrike" cap="none" normalizeH="0" baseline="0" dirty="0" smtClean="0">
              <a:ln>
                <a:noFill/>
              </a:ln>
              <a:solidFill>
                <a:schemeClr val="tx1"/>
              </a:solidFill>
              <a:effectLst/>
              <a:cs typeface="Arial"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599"/>
          <p:cNvPicPr>
            <a:picLocks noGrp="1"/>
          </p:cNvPicPr>
          <p:nvPr>
            <p:ph idx="1"/>
          </p:nvPr>
        </p:nvPicPr>
        <p:blipFill>
          <a:blip r:embed="rId2" cstate="print"/>
          <a:stretch>
            <a:fillRect/>
          </a:stretch>
        </p:blipFill>
        <p:spPr>
          <a:xfrm>
            <a:off x="2534194" y="457200"/>
            <a:ext cx="4075611" cy="59436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fontScale="85000" lnSpcReduction="20000"/>
          </a:bodyPr>
          <a:lstStyle/>
          <a:p>
            <a:pPr>
              <a:buNone/>
            </a:pPr>
            <a:r>
              <a:rPr lang="en-US" sz="2400" b="1" dirty="0" smtClean="0"/>
              <a:t>The caller actions are as follows:</a:t>
            </a:r>
          </a:p>
          <a:p>
            <a:pPr lvl="0"/>
            <a:r>
              <a:rPr lang="en-US" sz="2400" b="1" dirty="0" smtClean="0"/>
              <a:t>Create an activation record instance.</a:t>
            </a:r>
          </a:p>
          <a:p>
            <a:pPr lvl="0"/>
            <a:r>
              <a:rPr lang="en-US" sz="2400" b="1" dirty="0" smtClean="0"/>
              <a:t>Save the execution status of the current program unit.</a:t>
            </a:r>
          </a:p>
          <a:p>
            <a:pPr lvl="0"/>
            <a:r>
              <a:rPr lang="en-US" sz="2400" b="1" dirty="0" smtClean="0"/>
              <a:t>Compute and pass the parameters.</a:t>
            </a:r>
          </a:p>
          <a:p>
            <a:pPr lvl="0"/>
            <a:r>
              <a:rPr lang="en-US" sz="2400" b="1" dirty="0" smtClean="0"/>
              <a:t>Pass the return address to the called.</a:t>
            </a:r>
          </a:p>
          <a:p>
            <a:pPr lvl="0"/>
            <a:r>
              <a:rPr lang="en-US" sz="2400" b="1" dirty="0" smtClean="0"/>
              <a:t>Transfer control to the called.</a:t>
            </a:r>
          </a:p>
          <a:p>
            <a:pPr>
              <a:buNone/>
            </a:pPr>
            <a:r>
              <a:rPr lang="en-US" sz="2400" b="1" dirty="0" smtClean="0"/>
              <a:t>The prologue actions of the called are as follows:</a:t>
            </a:r>
          </a:p>
          <a:p>
            <a:pPr lvl="0"/>
            <a:r>
              <a:rPr lang="en-US" sz="2400" b="1" dirty="0" smtClean="0"/>
              <a:t>Save the old EP in the stack as the dynamic link and create the new value.</a:t>
            </a:r>
          </a:p>
          <a:p>
            <a:pPr lvl="0"/>
            <a:r>
              <a:rPr lang="en-US" sz="2400" b="1" dirty="0" smtClean="0"/>
              <a:t>Allocate local variables.</a:t>
            </a:r>
          </a:p>
          <a:p>
            <a:pPr>
              <a:buNone/>
            </a:pPr>
            <a:r>
              <a:rPr lang="en-US" sz="2400" b="1" dirty="0" smtClean="0"/>
              <a:t>The epilogue actions of the called are as follows:</a:t>
            </a:r>
          </a:p>
          <a:p>
            <a:pPr lvl="0"/>
            <a:r>
              <a:rPr lang="en-US" sz="2400" b="1" dirty="0" smtClean="0"/>
              <a:t>If there are pass-by-value-result or out-mode parameters, the current values of those parameters are moved to the corresponding actual parameters.</a:t>
            </a:r>
          </a:p>
          <a:p>
            <a:pPr lvl="0"/>
            <a:r>
              <a:rPr lang="en-US" sz="2400" b="1" dirty="0" smtClean="0"/>
              <a:t>If the subprogram is a function, the functional value is moved to a place accessible to the caller.</a:t>
            </a:r>
          </a:p>
          <a:p>
            <a:pPr lvl="0"/>
            <a:r>
              <a:rPr lang="en-US" sz="2400" b="1" dirty="0" smtClean="0"/>
              <a:t>Restore the stack pointer by setting it to the value of the current EP minus one and set the EP to the old dynamic link.</a:t>
            </a:r>
          </a:p>
          <a:p>
            <a:pPr lvl="0"/>
            <a:r>
              <a:rPr lang="en-US" sz="2400" b="1" dirty="0" smtClean="0"/>
              <a:t>Restore the execution status of the caller.</a:t>
            </a:r>
          </a:p>
          <a:p>
            <a:pPr lvl="0"/>
            <a:r>
              <a:rPr lang="en-US" sz="2400" b="1" dirty="0" smtClean="0"/>
              <a:t>Transfer control back to the caller.</a:t>
            </a:r>
          </a:p>
          <a:p>
            <a:endParaRPr lang="en-US" sz="2400"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Autofit/>
          </a:bodyPr>
          <a:lstStyle/>
          <a:p>
            <a:pPr marL="342900" lvl="2" indent="-342900">
              <a:buNone/>
            </a:pPr>
            <a:r>
              <a:rPr lang="en-US" b="1" dirty="0" smtClean="0"/>
              <a:t>An Example without Recursion</a:t>
            </a:r>
          </a:p>
          <a:p>
            <a:pPr>
              <a:buNone/>
            </a:pPr>
            <a:r>
              <a:rPr lang="en-US" sz="2400" dirty="0" smtClean="0"/>
              <a:t>  Consider the following skeletal C program:</a:t>
            </a:r>
          </a:p>
          <a:p>
            <a:pPr>
              <a:buNone/>
            </a:pPr>
            <a:r>
              <a:rPr lang="en-US" sz="2400" b="1" dirty="0" smtClean="0"/>
              <a:t>void </a:t>
            </a:r>
            <a:r>
              <a:rPr lang="en-US" sz="2400" dirty="0" smtClean="0"/>
              <a:t>fun1(</a:t>
            </a:r>
            <a:r>
              <a:rPr lang="en-US" sz="2400" b="1" dirty="0" smtClean="0"/>
              <a:t>float </a:t>
            </a:r>
            <a:r>
              <a:rPr lang="en-US" sz="2400" dirty="0" smtClean="0"/>
              <a:t>r) {</a:t>
            </a:r>
          </a:p>
          <a:p>
            <a:pPr>
              <a:buNone/>
            </a:pPr>
            <a:r>
              <a:rPr lang="en-US" sz="2400" b="1" dirty="0" err="1" smtClean="0"/>
              <a:t>int</a:t>
            </a:r>
            <a:r>
              <a:rPr lang="en-US" sz="2400" b="1" dirty="0" smtClean="0"/>
              <a:t> </a:t>
            </a:r>
            <a:r>
              <a:rPr lang="en-US" sz="2400" dirty="0" smtClean="0"/>
              <a:t>s, t;</a:t>
            </a:r>
          </a:p>
          <a:p>
            <a:pPr>
              <a:buNone/>
            </a:pPr>
            <a:r>
              <a:rPr lang="en-US" sz="2400" dirty="0" smtClean="0"/>
              <a:t>. . .	&lt;	1</a:t>
            </a:r>
          </a:p>
          <a:p>
            <a:pPr>
              <a:buNone/>
            </a:pPr>
            <a:r>
              <a:rPr lang="en-US" sz="2400" dirty="0" smtClean="0"/>
              <a:t>fun2(s);</a:t>
            </a:r>
          </a:p>
          <a:p>
            <a:pPr>
              <a:buNone/>
            </a:pPr>
            <a:r>
              <a:rPr lang="en-US" sz="2400" dirty="0" smtClean="0"/>
              <a:t>. . .</a:t>
            </a:r>
          </a:p>
          <a:p>
            <a:pPr>
              <a:buNone/>
            </a:pPr>
            <a:r>
              <a:rPr lang="en-US" sz="2400" dirty="0" smtClean="0"/>
              <a:t>}</a:t>
            </a:r>
          </a:p>
          <a:p>
            <a:pPr>
              <a:buNone/>
            </a:pPr>
            <a:r>
              <a:rPr lang="en-US" sz="2400" b="1" dirty="0" smtClean="0"/>
              <a:t>void </a:t>
            </a:r>
            <a:r>
              <a:rPr lang="en-US" sz="2400" dirty="0" smtClean="0"/>
              <a:t>fun2(</a:t>
            </a:r>
            <a:r>
              <a:rPr lang="en-US" sz="2400" b="1" dirty="0" err="1" smtClean="0"/>
              <a:t>int</a:t>
            </a:r>
            <a:r>
              <a:rPr lang="en-US" sz="2400" b="1" dirty="0" smtClean="0"/>
              <a:t> </a:t>
            </a:r>
            <a:r>
              <a:rPr lang="en-US" sz="2400" dirty="0" smtClean="0"/>
              <a:t>x) {</a:t>
            </a:r>
          </a:p>
          <a:p>
            <a:pPr>
              <a:buNone/>
            </a:pPr>
            <a:r>
              <a:rPr lang="en-US" sz="2400" b="1" dirty="0" err="1" smtClean="0"/>
              <a:t>int</a:t>
            </a:r>
            <a:r>
              <a:rPr lang="en-US" sz="2400" b="1" dirty="0" smtClean="0"/>
              <a:t> </a:t>
            </a:r>
            <a:r>
              <a:rPr lang="en-US" sz="2400" dirty="0" smtClean="0"/>
              <a:t>y;</a:t>
            </a:r>
          </a:p>
          <a:p>
            <a:pPr>
              <a:buNone/>
            </a:pPr>
            <a:r>
              <a:rPr lang="en-US" sz="2400" dirty="0" smtClean="0"/>
              <a:t>. . .	&lt;	2</a:t>
            </a:r>
          </a:p>
          <a:p>
            <a:pPr>
              <a:buNone/>
            </a:pPr>
            <a:r>
              <a:rPr lang="en-US" sz="2400" dirty="0" smtClean="0"/>
              <a:t>fun3(y);</a:t>
            </a:r>
          </a:p>
          <a:p>
            <a:pPr>
              <a:buNone/>
            </a:pPr>
            <a:r>
              <a:rPr lang="en-US" sz="2400" dirty="0" smtClean="0"/>
              <a:t>. .</a:t>
            </a:r>
          </a:p>
          <a:p>
            <a:pPr>
              <a:buNone/>
            </a:pPr>
            <a:r>
              <a:rPr lang="en-US" sz="2400" dirty="0" smtClean="0"/>
              <a:t>}</a:t>
            </a:r>
          </a:p>
          <a:p>
            <a:pPr>
              <a:buNone/>
            </a:pPr>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Autofit/>
          </a:bodyPr>
          <a:lstStyle/>
          <a:p>
            <a:pPr>
              <a:buNone/>
            </a:pPr>
            <a:r>
              <a:rPr lang="en-US" sz="2400" b="1" dirty="0" smtClean="0"/>
              <a:t>void </a:t>
            </a:r>
            <a:r>
              <a:rPr lang="en-US" sz="2400" dirty="0" smtClean="0"/>
              <a:t>fun3(</a:t>
            </a:r>
            <a:r>
              <a:rPr lang="en-US" sz="2400" b="1" dirty="0" err="1" smtClean="0"/>
              <a:t>int</a:t>
            </a:r>
            <a:r>
              <a:rPr lang="en-US" sz="2400" b="1" dirty="0" smtClean="0"/>
              <a:t> </a:t>
            </a:r>
            <a:r>
              <a:rPr lang="en-US" sz="2400" dirty="0" smtClean="0"/>
              <a:t>q) {</a:t>
            </a:r>
          </a:p>
          <a:p>
            <a:pPr>
              <a:buNone/>
            </a:pPr>
            <a:r>
              <a:rPr lang="en-US" sz="2400" dirty="0" smtClean="0"/>
              <a:t>. . .	&lt;	3</a:t>
            </a:r>
          </a:p>
          <a:p>
            <a:pPr>
              <a:buNone/>
            </a:pPr>
            <a:r>
              <a:rPr lang="en-US" sz="2400" dirty="0" smtClean="0"/>
              <a:t>}</a:t>
            </a:r>
          </a:p>
          <a:p>
            <a:pPr>
              <a:buNone/>
            </a:pPr>
            <a:r>
              <a:rPr lang="en-US" sz="2400" b="1" dirty="0" smtClean="0"/>
              <a:t>void </a:t>
            </a:r>
            <a:r>
              <a:rPr lang="en-US" sz="2400" dirty="0" smtClean="0"/>
              <a:t>main() {</a:t>
            </a:r>
          </a:p>
          <a:p>
            <a:pPr>
              <a:buNone/>
            </a:pPr>
            <a:r>
              <a:rPr lang="en-US" sz="2400" b="1" dirty="0" smtClean="0"/>
              <a:t>float </a:t>
            </a:r>
            <a:r>
              <a:rPr lang="en-US" sz="2400" dirty="0" smtClean="0"/>
              <a:t>p;</a:t>
            </a:r>
          </a:p>
          <a:p>
            <a:pPr>
              <a:buNone/>
            </a:pPr>
            <a:r>
              <a:rPr lang="en-US" sz="2400" dirty="0" smtClean="0"/>
              <a:t>. . .</a:t>
            </a:r>
          </a:p>
          <a:p>
            <a:pPr>
              <a:buNone/>
            </a:pPr>
            <a:r>
              <a:rPr lang="en-US" sz="2400" dirty="0" smtClean="0"/>
              <a:t>fun1(p);</a:t>
            </a:r>
          </a:p>
          <a:p>
            <a:pPr>
              <a:buNone/>
            </a:pPr>
            <a:r>
              <a:rPr lang="en-US" sz="2400" dirty="0" smtClean="0"/>
              <a:t>. . .</a:t>
            </a:r>
          </a:p>
          <a:p>
            <a:pPr>
              <a:buNone/>
            </a:pPr>
            <a:r>
              <a:rPr lang="en-US" sz="2400" dirty="0" smtClean="0"/>
              <a:t>}</a:t>
            </a:r>
          </a:p>
          <a:p>
            <a:pPr>
              <a:buNone/>
            </a:pPr>
            <a:r>
              <a:rPr lang="en-US" sz="2400" dirty="0" smtClean="0"/>
              <a:t> </a:t>
            </a:r>
          </a:p>
          <a:p>
            <a:pPr>
              <a:buNone/>
            </a:pPr>
            <a:r>
              <a:rPr lang="en-US" sz="2400" dirty="0" smtClean="0"/>
              <a:t>The sequence of function calls in this program is</a:t>
            </a:r>
          </a:p>
          <a:p>
            <a:pPr>
              <a:buNone/>
            </a:pPr>
            <a:r>
              <a:rPr lang="en-US" sz="2400" dirty="0" smtClean="0"/>
              <a:t>main calls  fun1 </a:t>
            </a:r>
          </a:p>
          <a:p>
            <a:pPr>
              <a:buNone/>
            </a:pPr>
            <a:r>
              <a:rPr lang="en-US" sz="2400" dirty="0" smtClean="0"/>
              <a:t>fun1 calls fun2 </a:t>
            </a:r>
          </a:p>
          <a:p>
            <a:pPr>
              <a:buNone/>
            </a:pPr>
            <a:r>
              <a:rPr lang="en-US" sz="2400" dirty="0" smtClean="0"/>
              <a:t>fun2 calls fun3</a:t>
            </a:r>
          </a:p>
          <a:p>
            <a:pPr>
              <a:buNone/>
            </a:pPr>
            <a:r>
              <a:rPr lang="en-US" sz="2400" dirty="0" smtClean="0"/>
              <a:t/>
            </a:r>
            <a:br>
              <a:rPr lang="en-US" sz="2400" dirty="0" smtClean="0"/>
            </a:br>
            <a:endParaRPr 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Autofit/>
          </a:bodyPr>
          <a:lstStyle/>
          <a:p>
            <a:r>
              <a:rPr lang="en-US" sz="2400" dirty="0" smtClean="0"/>
              <a:t>The collection of dynamic links present in the stack at a given time is called the </a:t>
            </a:r>
            <a:r>
              <a:rPr lang="en-US" sz="2400" b="1" dirty="0" smtClean="0"/>
              <a:t>dynamic chain</a:t>
            </a:r>
            <a:r>
              <a:rPr lang="en-US" sz="2400" dirty="0" smtClean="0"/>
              <a:t>, or </a:t>
            </a:r>
            <a:r>
              <a:rPr lang="en-US" sz="2400" b="1" dirty="0" smtClean="0"/>
              <a:t>call chain</a:t>
            </a:r>
            <a:r>
              <a:rPr lang="en-US" sz="2400" dirty="0" smtClean="0"/>
              <a:t>.</a:t>
            </a:r>
          </a:p>
          <a:p>
            <a:r>
              <a:rPr lang="en-US" sz="2400" dirty="0" smtClean="0"/>
              <a:t>It represents the dynamic history of how execution got to its current position, which is always in the subprogram code whose activation record instance is on top of the stack</a:t>
            </a:r>
          </a:p>
          <a:p>
            <a:pPr>
              <a:buNone/>
            </a:pPr>
            <a:r>
              <a:rPr lang="en-US" sz="2400" b="1" dirty="0" smtClean="0"/>
              <a:t>Recursion</a:t>
            </a:r>
          </a:p>
          <a:p>
            <a:pPr>
              <a:buNone/>
            </a:pPr>
            <a:r>
              <a:rPr lang="en-US" sz="2400" dirty="0" smtClean="0"/>
              <a:t>Consider the following example C program, which uses recursion to compute the factorial function:</a:t>
            </a:r>
          </a:p>
          <a:p>
            <a:pPr>
              <a:buNone/>
            </a:pPr>
            <a:r>
              <a:rPr lang="en-US" sz="2400" b="1" dirty="0" err="1" smtClean="0"/>
              <a:t>int</a:t>
            </a:r>
            <a:r>
              <a:rPr lang="en-US" sz="2400" b="1" dirty="0" smtClean="0"/>
              <a:t> </a:t>
            </a:r>
            <a:r>
              <a:rPr lang="en-US" sz="2400" dirty="0" smtClean="0"/>
              <a:t>factorial(</a:t>
            </a:r>
            <a:r>
              <a:rPr lang="en-US" sz="2400" b="1" dirty="0" err="1" smtClean="0"/>
              <a:t>int</a:t>
            </a:r>
            <a:r>
              <a:rPr lang="en-US" sz="2400" b="1" dirty="0" smtClean="0"/>
              <a:t> </a:t>
            </a:r>
            <a:r>
              <a:rPr lang="en-US" sz="2400" dirty="0" smtClean="0"/>
              <a:t>n) {</a:t>
            </a:r>
          </a:p>
          <a:p>
            <a:pPr>
              <a:buNone/>
            </a:pPr>
            <a:r>
              <a:rPr lang="en-US" sz="2400" dirty="0" smtClean="0"/>
              <a:t>&lt;	1</a:t>
            </a:r>
          </a:p>
          <a:p>
            <a:pPr>
              <a:buNone/>
            </a:pPr>
            <a:r>
              <a:rPr lang="en-US" sz="2400" b="1" dirty="0" smtClean="0"/>
              <a:t>if </a:t>
            </a:r>
            <a:r>
              <a:rPr lang="en-US" sz="2400" dirty="0" smtClean="0"/>
              <a:t>(n &lt;= 1)</a:t>
            </a:r>
          </a:p>
          <a:p>
            <a:pPr>
              <a:buNone/>
            </a:pPr>
            <a:r>
              <a:rPr lang="en-US" sz="2400" b="1" dirty="0" smtClean="0"/>
              <a:t>return </a:t>
            </a:r>
            <a:r>
              <a:rPr lang="en-US" sz="2400" dirty="0" smtClean="0"/>
              <a:t>1;</a:t>
            </a:r>
          </a:p>
          <a:p>
            <a:pPr>
              <a:buNone/>
            </a:pPr>
            <a:r>
              <a:rPr lang="en-US" sz="2400" b="1" dirty="0" smtClean="0"/>
              <a:t>else return </a:t>
            </a:r>
            <a:r>
              <a:rPr lang="en-US" sz="2400" dirty="0" smtClean="0"/>
              <a:t>(n * factorial(n - 1));</a:t>
            </a:r>
          </a:p>
          <a:p>
            <a:pPr>
              <a:buNone/>
            </a:pPr>
            <a:r>
              <a:rPr lang="en-US" sz="2400" dirty="0" smtClean="0"/>
              <a:t>&lt;	2</a:t>
            </a:r>
          </a:p>
          <a:p>
            <a:pPr>
              <a:buNone/>
            </a:pPr>
            <a:r>
              <a:rPr lang="en-US" sz="2400" dirty="0" smtClean="0"/>
              <a:t>}</a:t>
            </a:r>
          </a:p>
          <a:p>
            <a:pPr>
              <a:buNone/>
            </a:pP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400800"/>
          </a:xfrm>
        </p:spPr>
        <p:txBody>
          <a:bodyPr>
            <a:normAutofit/>
          </a:bodyPr>
          <a:lstStyle/>
          <a:p>
            <a:pPr>
              <a:buNone/>
            </a:pPr>
            <a:r>
              <a:rPr lang="en-US" sz="2400" b="1" dirty="0" smtClean="0"/>
              <a:t>void </a:t>
            </a:r>
            <a:r>
              <a:rPr lang="en-US" sz="2400" dirty="0" smtClean="0"/>
              <a:t>main() {</a:t>
            </a:r>
          </a:p>
          <a:p>
            <a:pPr>
              <a:buNone/>
            </a:pPr>
            <a:r>
              <a:rPr lang="en-US" sz="2400" b="1" dirty="0" err="1" smtClean="0"/>
              <a:t>int</a:t>
            </a:r>
            <a:r>
              <a:rPr lang="en-US" sz="2400" b="1" dirty="0" smtClean="0"/>
              <a:t> </a:t>
            </a:r>
            <a:r>
              <a:rPr lang="en-US" sz="2400" dirty="0" smtClean="0"/>
              <a:t>value;</a:t>
            </a:r>
          </a:p>
          <a:p>
            <a:pPr>
              <a:buNone/>
            </a:pPr>
            <a:r>
              <a:rPr lang="en-US" sz="2400" dirty="0" smtClean="0"/>
              <a:t>value = factorial(3);</a:t>
            </a:r>
          </a:p>
          <a:p>
            <a:pPr>
              <a:buNone/>
            </a:pPr>
            <a:r>
              <a:rPr lang="en-US" sz="2400" dirty="0" smtClean="0"/>
              <a:t>&lt;	3</a:t>
            </a:r>
          </a:p>
          <a:p>
            <a:pPr>
              <a:buNone/>
            </a:pPr>
            <a:r>
              <a:rPr lang="en-US" sz="2400" dirty="0" smtClean="0"/>
              <a:t>}</a:t>
            </a:r>
          </a:p>
          <a:p>
            <a:pPr marL="342900" lvl="1" indent="-342900">
              <a:buNone/>
            </a:pPr>
            <a:r>
              <a:rPr lang="en-US" b="1" dirty="0" smtClean="0"/>
              <a:t>Implementing Nested Subprograms</a:t>
            </a:r>
          </a:p>
          <a:p>
            <a:r>
              <a:rPr lang="en-US" sz="2400" dirty="0" smtClean="0"/>
              <a:t>All </a:t>
            </a:r>
            <a:r>
              <a:rPr lang="en-US" sz="2400" dirty="0" err="1" smtClean="0"/>
              <a:t>nonstatic</a:t>
            </a:r>
            <a:r>
              <a:rPr lang="en-US" sz="2400" dirty="0" smtClean="0"/>
              <a:t> variables that can be </a:t>
            </a:r>
            <a:r>
              <a:rPr lang="en-US" sz="2400" dirty="0" err="1" smtClean="0"/>
              <a:t>nonlocally</a:t>
            </a:r>
            <a:r>
              <a:rPr lang="en-US" sz="2400" dirty="0" smtClean="0"/>
              <a:t> accessed are in existing activation record instances and therefore are somewhere in the stack.</a:t>
            </a:r>
          </a:p>
          <a:p>
            <a:r>
              <a:rPr lang="en-US" sz="2400" dirty="0" smtClean="0"/>
              <a:t>A reference to a nonlocal variable in a static-scoped language with nested subprograms requires a two-step access process.</a:t>
            </a:r>
          </a:p>
          <a:p>
            <a:pPr>
              <a:buFont typeface="Wingdings" pitchFamily="2" charset="2"/>
              <a:buChar char="Ø"/>
            </a:pPr>
            <a:r>
              <a:rPr lang="en-US" sz="2400" dirty="0" smtClean="0"/>
              <a:t> The first step of the access process is to find the instance of the activation record in the stack in which the variable was allocated.</a:t>
            </a:r>
            <a:endParaRPr 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a:buFont typeface="Wingdings" pitchFamily="2" charset="2"/>
              <a:buChar char="Ø"/>
            </a:pPr>
            <a:r>
              <a:rPr lang="en-US" sz="2400" dirty="0" smtClean="0"/>
              <a:t>The second part is to use the </a:t>
            </a:r>
            <a:r>
              <a:rPr lang="en-US" sz="2400" dirty="0" err="1" smtClean="0"/>
              <a:t>local_offset</a:t>
            </a:r>
            <a:r>
              <a:rPr lang="en-US" sz="2400" dirty="0" smtClean="0"/>
              <a:t> of the variable (within the activation record instance) to access it.</a:t>
            </a:r>
          </a:p>
          <a:p>
            <a:pPr marL="342900" lvl="2" indent="-342900">
              <a:buNone/>
            </a:pPr>
            <a:r>
              <a:rPr lang="en-US" b="1" dirty="0" smtClean="0"/>
              <a:t>Static Chains</a:t>
            </a:r>
          </a:p>
          <a:p>
            <a:r>
              <a:rPr lang="en-US" sz="2400" dirty="0" smtClean="0"/>
              <a:t>A </a:t>
            </a:r>
            <a:r>
              <a:rPr lang="en-US" sz="2400" b="1" dirty="0" smtClean="0"/>
              <a:t>static chain </a:t>
            </a:r>
            <a:r>
              <a:rPr lang="en-US" sz="2400" dirty="0" smtClean="0"/>
              <a:t>is a chain of static links that connect certain activation record instances in the stack.</a:t>
            </a:r>
          </a:p>
          <a:p>
            <a:pPr>
              <a:buNone/>
            </a:pPr>
            <a:r>
              <a:rPr lang="en-US" sz="2400" b="1" dirty="0" smtClean="0"/>
              <a:t>Static link</a:t>
            </a:r>
            <a:endParaRPr lang="en-US" sz="2400" dirty="0" smtClean="0"/>
          </a:p>
          <a:p>
            <a:r>
              <a:rPr lang="en-US" sz="2400" dirty="0" smtClean="0"/>
              <a:t>The </a:t>
            </a:r>
            <a:r>
              <a:rPr lang="en-US" sz="2400" b="1" dirty="0" smtClean="0"/>
              <a:t>static link</a:t>
            </a:r>
            <a:r>
              <a:rPr lang="en-US" sz="2400" dirty="0" smtClean="0"/>
              <a:t>, which is sometimes called a </a:t>
            </a:r>
            <a:r>
              <a:rPr lang="en-US" sz="2400" i="1" dirty="0" smtClean="0"/>
              <a:t>static scope pointer</a:t>
            </a:r>
            <a:r>
              <a:rPr lang="en-US" sz="2400" dirty="0" smtClean="0"/>
              <a:t>, points to the bottom of the activation record instance of an activation of the static parent. It is used for accesses to nonlocal variables.</a:t>
            </a:r>
          </a:p>
          <a:p>
            <a:pPr>
              <a:buNone/>
            </a:pPr>
            <a:r>
              <a:rPr lang="en-US" sz="2400" b="1" dirty="0" err="1" smtClean="0"/>
              <a:t>Static_depth</a:t>
            </a:r>
            <a:endParaRPr lang="en-US" sz="2400" b="1" dirty="0" smtClean="0"/>
          </a:p>
          <a:p>
            <a:r>
              <a:rPr lang="en-US" sz="2400" b="1" dirty="0" err="1" smtClean="0"/>
              <a:t>static_depth</a:t>
            </a:r>
            <a:r>
              <a:rPr lang="en-US" sz="2400" b="1" dirty="0" smtClean="0"/>
              <a:t> </a:t>
            </a:r>
            <a:r>
              <a:rPr lang="en-US" sz="2400" dirty="0" smtClean="0"/>
              <a:t>be an integer associated with a static scope that indicates how deeply it is nested in the outermost scope. A program unit that is not nested inside any other unit has a </a:t>
            </a:r>
            <a:r>
              <a:rPr lang="en-US" sz="2400" dirty="0" err="1" smtClean="0"/>
              <a:t>static_depth</a:t>
            </a:r>
            <a:r>
              <a:rPr lang="en-US" sz="2400" dirty="0" smtClean="0"/>
              <a:t> of 0.</a:t>
            </a:r>
            <a:endParaRPr lang="en-US" sz="2400" b="1" dirty="0" smtClean="0"/>
          </a:p>
          <a:p>
            <a:pPr>
              <a:buNone/>
            </a:pP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normAutofit lnSpcReduction="10000"/>
          </a:bodyPr>
          <a:lstStyle/>
          <a:p>
            <a:pPr>
              <a:buNone/>
            </a:pPr>
            <a:r>
              <a:rPr lang="en-US" sz="2400" b="1" dirty="0" err="1" smtClean="0"/>
              <a:t>nesting_depth</a:t>
            </a:r>
            <a:r>
              <a:rPr lang="en-US" sz="2400" dirty="0" smtClean="0"/>
              <a:t>, or </a:t>
            </a:r>
            <a:r>
              <a:rPr lang="en-US" sz="2400" b="1" dirty="0" err="1" smtClean="0"/>
              <a:t>chain_offset</a:t>
            </a:r>
            <a:endParaRPr lang="en-US" sz="2400" b="1" dirty="0" smtClean="0"/>
          </a:p>
          <a:p>
            <a:r>
              <a:rPr lang="en-US" sz="2400" dirty="0" smtClean="0"/>
              <a:t>It is  difference between static depth and that of scope when it is declared.</a:t>
            </a:r>
          </a:p>
          <a:p>
            <a:r>
              <a:rPr lang="en-US" sz="2400" dirty="0" smtClean="0"/>
              <a:t>A reference variable represented by chain _</a:t>
            </a:r>
            <a:r>
              <a:rPr lang="en-US" sz="2400" dirty="0" err="1" smtClean="0"/>
              <a:t>ffset,local_offset</a:t>
            </a:r>
            <a:r>
              <a:rPr lang="en-US" sz="2400" dirty="0" smtClean="0"/>
              <a:t>.</a:t>
            </a:r>
          </a:p>
          <a:p>
            <a:r>
              <a:rPr lang="en-US" sz="2400" dirty="0" smtClean="0"/>
              <a:t>To illustrate the complete process of nonlocal accesses, consider the - following skeletal JavaScript program:</a:t>
            </a:r>
          </a:p>
          <a:p>
            <a:pPr>
              <a:buNone/>
            </a:pPr>
            <a:r>
              <a:rPr lang="en-US" sz="2400" b="1" dirty="0" smtClean="0"/>
              <a:t>function </a:t>
            </a:r>
            <a:r>
              <a:rPr lang="en-US" sz="2400" dirty="0" smtClean="0"/>
              <a:t>main(){</a:t>
            </a:r>
          </a:p>
          <a:p>
            <a:pPr>
              <a:buNone/>
            </a:pPr>
            <a:r>
              <a:rPr lang="en-US" sz="2400" b="1" dirty="0" err="1" smtClean="0"/>
              <a:t>var</a:t>
            </a:r>
            <a:r>
              <a:rPr lang="en-US" sz="2400" b="1" dirty="0" smtClean="0"/>
              <a:t> </a:t>
            </a:r>
            <a:r>
              <a:rPr lang="en-US" sz="2400" dirty="0" smtClean="0"/>
              <a:t>x;</a:t>
            </a:r>
          </a:p>
          <a:p>
            <a:pPr>
              <a:buNone/>
            </a:pPr>
            <a:r>
              <a:rPr lang="en-US" sz="2400" b="1" dirty="0" smtClean="0"/>
              <a:t>function </a:t>
            </a:r>
            <a:r>
              <a:rPr lang="en-US" sz="2400" dirty="0" err="1" smtClean="0"/>
              <a:t>bigsub</a:t>
            </a:r>
            <a:r>
              <a:rPr lang="en-US" sz="2400" dirty="0" smtClean="0"/>
              <a:t>() { </a:t>
            </a:r>
            <a:r>
              <a:rPr lang="en-US" sz="2400" b="1" dirty="0" err="1" smtClean="0"/>
              <a:t>var</a:t>
            </a:r>
            <a:r>
              <a:rPr lang="en-US" sz="2400" b="1" dirty="0" smtClean="0"/>
              <a:t> </a:t>
            </a:r>
            <a:r>
              <a:rPr lang="en-US" sz="2400" dirty="0" smtClean="0"/>
              <a:t>a, b, c; </a:t>
            </a:r>
            <a:r>
              <a:rPr lang="en-US" sz="2400" b="1" dirty="0" smtClean="0"/>
              <a:t>function </a:t>
            </a:r>
            <a:r>
              <a:rPr lang="en-US" sz="2400" dirty="0" smtClean="0"/>
              <a:t>sub1 {</a:t>
            </a:r>
          </a:p>
          <a:p>
            <a:pPr>
              <a:buNone/>
            </a:pPr>
            <a:r>
              <a:rPr lang="en-US" sz="2400" b="1" dirty="0" err="1" smtClean="0"/>
              <a:t>var</a:t>
            </a:r>
            <a:r>
              <a:rPr lang="en-US" sz="2400" b="1" dirty="0" smtClean="0"/>
              <a:t> </a:t>
            </a:r>
            <a:r>
              <a:rPr lang="en-US" sz="2400" dirty="0" smtClean="0"/>
              <a:t>a, d;</a:t>
            </a:r>
          </a:p>
          <a:p>
            <a:pPr>
              <a:buNone/>
            </a:pPr>
            <a:r>
              <a:rPr lang="en-US" sz="2400" dirty="0" smtClean="0"/>
              <a:t>...</a:t>
            </a:r>
          </a:p>
          <a:p>
            <a:pPr>
              <a:buNone/>
            </a:pPr>
            <a:r>
              <a:rPr lang="en-US" sz="2400" dirty="0" smtClean="0"/>
              <a:t>a = b + c; &lt;	1</a:t>
            </a:r>
          </a:p>
          <a:p>
            <a:pPr>
              <a:buNone/>
            </a:pPr>
            <a:r>
              <a:rPr lang="en-US" sz="2400" dirty="0" smtClean="0"/>
              <a:t>...</a:t>
            </a:r>
          </a:p>
          <a:p>
            <a:pPr>
              <a:buNone/>
            </a:pPr>
            <a:r>
              <a:rPr lang="en-US" sz="2400" dirty="0" smtClean="0"/>
              <a:t>} // end of sub1</a:t>
            </a:r>
          </a:p>
          <a:p>
            <a:pPr>
              <a:buNone/>
            </a:pPr>
            <a:r>
              <a:rPr lang="en-US" sz="2400" dirty="0" smtClean="0"/>
              <a:t> </a:t>
            </a:r>
            <a:endParaRPr 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fontScale="92500" lnSpcReduction="20000"/>
          </a:bodyPr>
          <a:lstStyle/>
          <a:p>
            <a:pPr>
              <a:buNone/>
            </a:pPr>
            <a:r>
              <a:rPr lang="en-US" sz="2400" b="1" dirty="0" smtClean="0"/>
              <a:t>function </a:t>
            </a:r>
            <a:r>
              <a:rPr lang="en-US" sz="2400" dirty="0" smtClean="0"/>
              <a:t>sub2(x) {</a:t>
            </a:r>
          </a:p>
          <a:p>
            <a:pPr>
              <a:buNone/>
            </a:pPr>
            <a:r>
              <a:rPr lang="en-US" sz="2400" dirty="0" smtClean="0"/>
              <a:t> </a:t>
            </a:r>
            <a:r>
              <a:rPr lang="en-US" sz="2400" b="1" dirty="0" err="1" smtClean="0"/>
              <a:t>var</a:t>
            </a:r>
            <a:r>
              <a:rPr lang="en-US" sz="2400" b="1" dirty="0" smtClean="0"/>
              <a:t> </a:t>
            </a:r>
            <a:r>
              <a:rPr lang="en-US" sz="2400" dirty="0" smtClean="0"/>
              <a:t>b, e; </a:t>
            </a:r>
          </a:p>
          <a:p>
            <a:pPr>
              <a:buNone/>
            </a:pPr>
            <a:r>
              <a:rPr lang="en-US" sz="2400" b="1" dirty="0" smtClean="0"/>
              <a:t>function </a:t>
            </a:r>
            <a:r>
              <a:rPr lang="en-US" sz="2400" dirty="0" smtClean="0"/>
              <a:t>sub3() {</a:t>
            </a:r>
          </a:p>
          <a:p>
            <a:pPr>
              <a:buNone/>
            </a:pPr>
            <a:r>
              <a:rPr lang="en-US" sz="2400" b="1" dirty="0" err="1" smtClean="0"/>
              <a:t>var</a:t>
            </a:r>
            <a:r>
              <a:rPr lang="en-US" sz="2400" b="1" dirty="0" smtClean="0"/>
              <a:t> </a:t>
            </a:r>
            <a:r>
              <a:rPr lang="en-US" sz="2400" dirty="0" smtClean="0"/>
              <a:t>c, e;</a:t>
            </a:r>
          </a:p>
          <a:p>
            <a:pPr>
              <a:buNone/>
            </a:pPr>
            <a:r>
              <a:rPr lang="en-US" sz="2400" dirty="0" smtClean="0"/>
              <a:t>...</a:t>
            </a:r>
          </a:p>
          <a:p>
            <a:pPr>
              <a:buNone/>
            </a:pPr>
            <a:r>
              <a:rPr lang="en-US" sz="2400" dirty="0" smtClean="0"/>
              <a:t>sub1();</a:t>
            </a:r>
          </a:p>
          <a:p>
            <a:pPr>
              <a:buNone/>
            </a:pPr>
            <a:r>
              <a:rPr lang="en-US" sz="2400" dirty="0" smtClean="0"/>
              <a:t>...</a:t>
            </a:r>
          </a:p>
          <a:p>
            <a:pPr>
              <a:buNone/>
            </a:pPr>
            <a:r>
              <a:rPr lang="en-US" sz="2400" dirty="0" smtClean="0"/>
              <a:t>e = b + a; &lt;	2</a:t>
            </a:r>
          </a:p>
          <a:p>
            <a:pPr>
              <a:buNone/>
            </a:pPr>
            <a:r>
              <a:rPr lang="en-US" sz="2400" dirty="0" smtClean="0"/>
              <a:t>} // end of sub3</a:t>
            </a:r>
          </a:p>
          <a:p>
            <a:pPr>
              <a:buNone/>
            </a:pPr>
            <a:r>
              <a:rPr lang="en-US" sz="2400" dirty="0" smtClean="0"/>
              <a:t>...</a:t>
            </a:r>
          </a:p>
          <a:p>
            <a:pPr>
              <a:buNone/>
            </a:pPr>
            <a:r>
              <a:rPr lang="en-US" sz="2400" dirty="0" smtClean="0"/>
              <a:t>sub3();</a:t>
            </a:r>
          </a:p>
          <a:p>
            <a:pPr>
              <a:buNone/>
            </a:pPr>
            <a:r>
              <a:rPr lang="en-US" sz="2400" dirty="0" smtClean="0"/>
              <a:t>...</a:t>
            </a:r>
          </a:p>
          <a:p>
            <a:pPr>
              <a:buNone/>
            </a:pPr>
            <a:r>
              <a:rPr lang="en-US" sz="2400" dirty="0" smtClean="0"/>
              <a:t>a = d + e; &lt;	3</a:t>
            </a:r>
          </a:p>
          <a:p>
            <a:pPr>
              <a:buNone/>
            </a:pPr>
            <a:r>
              <a:rPr lang="en-US" sz="2400" dirty="0" smtClean="0"/>
              <a:t>} // end of sub2</a:t>
            </a:r>
          </a:p>
          <a:p>
            <a:pPr>
              <a:buNone/>
            </a:pPr>
            <a:r>
              <a:rPr lang="en-US" sz="2400" dirty="0" smtClean="0"/>
              <a:t>...</a:t>
            </a:r>
          </a:p>
          <a:p>
            <a:pPr>
              <a:buNone/>
            </a:pPr>
            <a:r>
              <a:rPr lang="en-US" sz="2400" dirty="0" smtClean="0"/>
              <a:t>sub2(7);</a:t>
            </a:r>
          </a:p>
          <a:p>
            <a:pPr>
              <a:buNone/>
            </a:pPr>
            <a:r>
              <a:rPr lang="en-US" sz="2400" dirty="0" smtClean="0"/>
              <a:t>...</a:t>
            </a:r>
          </a:p>
          <a:p>
            <a:pPr>
              <a:buNone/>
            </a:pPr>
            <a:r>
              <a:rPr lang="en-US" sz="2400" dirty="0" smtClean="0"/>
              <a:t>} // end of </a:t>
            </a:r>
            <a:r>
              <a:rPr lang="en-US" sz="2400" dirty="0" err="1" smtClean="0"/>
              <a:t>bigsub</a:t>
            </a:r>
            <a:endParaRPr lang="en-US" sz="2400" dirty="0" smtClean="0"/>
          </a:p>
          <a:p>
            <a:pPr>
              <a:buNone/>
            </a:pPr>
            <a:endParaRPr lang="en-US"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a:buNone/>
            </a:pPr>
            <a:r>
              <a:rPr lang="en-US" sz="2400" dirty="0" smtClean="0"/>
              <a:t>...</a:t>
            </a:r>
          </a:p>
          <a:p>
            <a:pPr>
              <a:buNone/>
            </a:pPr>
            <a:r>
              <a:rPr lang="en-US" sz="2400" dirty="0" err="1" smtClean="0"/>
              <a:t>bigsub</a:t>
            </a:r>
            <a:r>
              <a:rPr lang="en-US" sz="2400" dirty="0" smtClean="0"/>
              <a:t>();</a:t>
            </a:r>
          </a:p>
          <a:p>
            <a:pPr>
              <a:buNone/>
            </a:pPr>
            <a:r>
              <a:rPr lang="en-US" sz="2400" dirty="0" smtClean="0"/>
              <a:t>...</a:t>
            </a:r>
          </a:p>
          <a:p>
            <a:pPr>
              <a:buNone/>
            </a:pPr>
            <a:r>
              <a:rPr lang="en-US" sz="2400" dirty="0" smtClean="0"/>
              <a:t>} // end of main</a:t>
            </a:r>
          </a:p>
          <a:p>
            <a:pPr>
              <a:buNone/>
            </a:pPr>
            <a:r>
              <a:rPr lang="en-US" sz="2400" dirty="0" smtClean="0"/>
              <a:t>The sequence of procedure calls is</a:t>
            </a:r>
          </a:p>
          <a:p>
            <a:pPr>
              <a:buNone/>
            </a:pPr>
            <a:r>
              <a:rPr lang="en-US" sz="2400" dirty="0" smtClean="0"/>
              <a:t> main calls </a:t>
            </a:r>
            <a:r>
              <a:rPr lang="en-US" sz="2400" dirty="0" err="1" smtClean="0"/>
              <a:t>bigsub</a:t>
            </a:r>
            <a:r>
              <a:rPr lang="en-US" sz="2400" dirty="0" smtClean="0"/>
              <a:t>  </a:t>
            </a:r>
          </a:p>
          <a:p>
            <a:pPr>
              <a:buNone/>
            </a:pPr>
            <a:r>
              <a:rPr lang="en-US" sz="2400" dirty="0" err="1" smtClean="0"/>
              <a:t>bigsub</a:t>
            </a:r>
            <a:r>
              <a:rPr lang="en-US" sz="2400" dirty="0" smtClean="0"/>
              <a:t> calls sub2</a:t>
            </a:r>
          </a:p>
          <a:p>
            <a:pPr>
              <a:buNone/>
            </a:pPr>
            <a:r>
              <a:rPr lang="en-US" sz="2400" dirty="0" smtClean="0"/>
              <a:t> sub2 calls sub3  </a:t>
            </a:r>
          </a:p>
          <a:p>
            <a:pPr>
              <a:buNone/>
            </a:pPr>
            <a:r>
              <a:rPr lang="en-US" sz="2400" dirty="0" smtClean="0"/>
              <a:t>sub3 calls sub1</a:t>
            </a:r>
          </a:p>
          <a:p>
            <a:pPr>
              <a:buNone/>
            </a:pPr>
            <a:endParaRPr 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228600" y="228600"/>
            <a:ext cx="8686800" cy="6324600"/>
          </a:xfrm>
        </p:spPr>
        <p:txBody>
          <a:bodyPr>
            <a:normAutofit/>
          </a:bodyPr>
          <a:lstStyle/>
          <a:p>
            <a:pPr marL="342900" lvl="1" indent="-342900">
              <a:buNone/>
            </a:pPr>
            <a:r>
              <a:rPr lang="en-US" sz="2400" b="1" dirty="0" smtClean="0"/>
              <a:t>Blocks</a:t>
            </a:r>
          </a:p>
          <a:p>
            <a:r>
              <a:rPr lang="en-US" sz="2400" dirty="0" smtClean="0"/>
              <a:t>a number of languages, including the C-based languages, provide for user-specified local scopes for variables called </a:t>
            </a:r>
            <a:r>
              <a:rPr lang="en-US" sz="2400" b="1" dirty="0" smtClean="0"/>
              <a:t>blocks</a:t>
            </a:r>
            <a:r>
              <a:rPr lang="en-US" sz="2400" dirty="0" smtClean="0"/>
              <a:t>. As an example of a block, consider the following code segment:</a:t>
            </a:r>
          </a:p>
          <a:p>
            <a:pPr>
              <a:buNone/>
            </a:pPr>
            <a:r>
              <a:rPr lang="en-US" sz="2400" dirty="0" smtClean="0"/>
              <a:t>{</a:t>
            </a:r>
          </a:p>
          <a:p>
            <a:pPr>
              <a:buNone/>
            </a:pPr>
            <a:r>
              <a:rPr lang="en-US" sz="2400" dirty="0" smtClean="0"/>
              <a:t> </a:t>
            </a:r>
            <a:r>
              <a:rPr lang="en-US" sz="2400" b="1" dirty="0" err="1" smtClean="0"/>
              <a:t>int</a:t>
            </a:r>
            <a:r>
              <a:rPr lang="en-US" sz="2400" b="1" dirty="0" smtClean="0"/>
              <a:t> </a:t>
            </a:r>
            <a:r>
              <a:rPr lang="en-US" sz="2400" dirty="0" smtClean="0"/>
              <a:t>temp;</a:t>
            </a:r>
          </a:p>
          <a:p>
            <a:pPr>
              <a:buNone/>
            </a:pPr>
            <a:r>
              <a:rPr lang="en-US" sz="2400" dirty="0" smtClean="0"/>
              <a:t>temp = list[upper]; l</a:t>
            </a:r>
          </a:p>
          <a:p>
            <a:pPr>
              <a:buNone/>
            </a:pPr>
            <a:r>
              <a:rPr lang="en-US" sz="2400" dirty="0" err="1" smtClean="0"/>
              <a:t>ist</a:t>
            </a:r>
            <a:r>
              <a:rPr lang="en-US" sz="2400" dirty="0" smtClean="0"/>
              <a:t>[upper] = list[lower];</a:t>
            </a:r>
          </a:p>
          <a:p>
            <a:pPr>
              <a:buNone/>
            </a:pPr>
            <a:r>
              <a:rPr lang="en-US" sz="2400" dirty="0" smtClean="0"/>
              <a:t> list[lower] = temp;</a:t>
            </a:r>
          </a:p>
          <a:p>
            <a:pPr>
              <a:buNone/>
            </a:pPr>
            <a:r>
              <a:rPr lang="en-US" sz="2400" dirty="0" smtClean="0"/>
              <a:t>}</a:t>
            </a:r>
          </a:p>
          <a:p>
            <a:pPr marL="342900" lvl="1" indent="-342900">
              <a:buFont typeface="Arial" pitchFamily="34" charset="0"/>
              <a:buChar char="•"/>
            </a:pPr>
            <a:r>
              <a:rPr lang="en-US" sz="2400" dirty="0" smtClean="0"/>
              <a:t>A block is specified in the C-based languages as a compound statement that begins with one or more data definitions.</a:t>
            </a:r>
          </a:p>
          <a:p>
            <a:pPr marL="342900" lvl="1" indent="-342900">
              <a:buFont typeface="Arial" pitchFamily="34" charset="0"/>
              <a:buChar char="•"/>
            </a:pPr>
            <a:r>
              <a:rPr lang="en-US" sz="2400" dirty="0" smtClean="0"/>
              <a:t>The lifetime of the variable temp in the preceding block begins when control enters the block and ends when control exits the block.</a:t>
            </a:r>
          </a:p>
          <a:p>
            <a:pPr>
              <a:buNone/>
            </a:pPr>
            <a:endParaRPr lang="en-US" sz="2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400800"/>
          </a:xfrm>
        </p:spPr>
        <p:txBody>
          <a:bodyPr>
            <a:normAutofit/>
          </a:bodyPr>
          <a:lstStyle/>
          <a:p>
            <a:r>
              <a:rPr lang="en-US" sz="2400" dirty="0" smtClean="0"/>
              <a:t>The advantage of using such a local is that it cannot interfere with any other variable with the same name that is declared elsewhere in the program, or more specifically, in the referencing environment of the block.</a:t>
            </a:r>
          </a:p>
          <a:p>
            <a:r>
              <a:rPr lang="en-US" sz="2400" dirty="0" smtClean="0"/>
              <a:t>Blocks can be implemented by using the static-chain process implementing nested subprograms. </a:t>
            </a:r>
          </a:p>
          <a:p>
            <a:r>
              <a:rPr lang="en-US" sz="2400" dirty="0" smtClean="0"/>
              <a:t>Blocks are treated as </a:t>
            </a:r>
            <a:r>
              <a:rPr lang="en-US" sz="2400" dirty="0" err="1" smtClean="0"/>
              <a:t>parameterless</a:t>
            </a:r>
            <a:r>
              <a:rPr lang="en-US" sz="2400" dirty="0" smtClean="0"/>
              <a:t> subprograms that are always called from the same place in the program. </a:t>
            </a:r>
          </a:p>
          <a:p>
            <a:r>
              <a:rPr lang="en-US" sz="2400" dirty="0" smtClean="0"/>
              <a:t>Therefore, every block has an activation record. An instance of its activation record is created every time the block is executed.</a:t>
            </a:r>
          </a:p>
          <a:p>
            <a:r>
              <a:rPr lang="en-US" sz="2400" dirty="0" smtClean="0"/>
              <a:t>The maximum amount of storage required for block variables at any time during the execution of a program can be statically determined, because blocks are entered and exited in strictly textual order.</a:t>
            </a:r>
            <a:endParaRPr 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lstStyle/>
          <a:p>
            <a:pPr marL="342900" lvl="1" indent="-342900">
              <a:buNone/>
            </a:pPr>
            <a:r>
              <a:rPr lang="en-US" b="1" dirty="0" smtClean="0"/>
              <a:t>Implementing Dynamic Scoping</a:t>
            </a:r>
          </a:p>
          <a:p>
            <a:r>
              <a:rPr lang="en-US" sz="2400" dirty="0" smtClean="0"/>
              <a:t>There are at least two distinct ways in which local variables and nonlocal references to them can be implemented in a dynamic-scoped language:</a:t>
            </a:r>
          </a:p>
          <a:p>
            <a:pPr>
              <a:buNone/>
            </a:pPr>
            <a:r>
              <a:rPr lang="en-US" sz="2400" dirty="0" smtClean="0"/>
              <a:t>            1.deep access</a:t>
            </a:r>
          </a:p>
          <a:p>
            <a:pPr>
              <a:buNone/>
            </a:pPr>
            <a:r>
              <a:rPr lang="en-US" sz="2400" dirty="0" smtClean="0"/>
              <a:t>            2.shallow access</a:t>
            </a:r>
          </a:p>
          <a:p>
            <a:pPr marL="342900" lvl="2" indent="-342900">
              <a:buNone/>
            </a:pPr>
            <a:r>
              <a:rPr lang="en-US" b="1" dirty="0" smtClean="0"/>
              <a:t>Deep Access</a:t>
            </a:r>
          </a:p>
          <a:p>
            <a:r>
              <a:rPr lang="en-US" sz="2400" dirty="0" smtClean="0"/>
              <a:t>Non local references found by searching the activation record instances of dynamic chain .</a:t>
            </a:r>
          </a:p>
          <a:p>
            <a:r>
              <a:rPr lang="en-US" sz="2400" dirty="0" smtClean="0"/>
              <a:t>Length of chain can not be statically determined</a:t>
            </a:r>
          </a:p>
          <a:p>
            <a:r>
              <a:rPr lang="en-US" sz="2400" dirty="0" smtClean="0"/>
              <a:t>Every activation record instance must have variable names</a:t>
            </a:r>
          </a:p>
          <a:p>
            <a:r>
              <a:rPr lang="en-US" sz="2400" dirty="0" smtClean="0"/>
              <a:t> </a:t>
            </a:r>
            <a:endParaRPr 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fontScale="92500" lnSpcReduction="10000"/>
          </a:bodyPr>
          <a:lstStyle/>
          <a:p>
            <a:r>
              <a:rPr lang="en-US" sz="2400" dirty="0" smtClean="0"/>
              <a:t>Consider the following example skeletal program:</a:t>
            </a:r>
          </a:p>
          <a:p>
            <a:pPr>
              <a:buNone/>
            </a:pPr>
            <a:r>
              <a:rPr lang="en-US" sz="2400" b="1" dirty="0" smtClean="0"/>
              <a:t>void </a:t>
            </a:r>
            <a:r>
              <a:rPr lang="en-US" sz="2400" dirty="0" smtClean="0"/>
              <a:t>sub3() { </a:t>
            </a:r>
            <a:r>
              <a:rPr lang="en-US" sz="2400" b="1" dirty="0" err="1" smtClean="0"/>
              <a:t>int</a:t>
            </a:r>
            <a:r>
              <a:rPr lang="en-US" sz="2400" b="1" dirty="0" smtClean="0"/>
              <a:t> </a:t>
            </a:r>
            <a:r>
              <a:rPr lang="en-US" sz="2400" dirty="0" smtClean="0"/>
              <a:t>x, z; x = u + v;</a:t>
            </a:r>
          </a:p>
          <a:p>
            <a:pPr>
              <a:buNone/>
            </a:pPr>
            <a:r>
              <a:rPr lang="en-US" sz="2400" dirty="0" smtClean="0"/>
              <a:t>. . .</a:t>
            </a:r>
          </a:p>
          <a:p>
            <a:pPr>
              <a:buNone/>
            </a:pPr>
            <a:r>
              <a:rPr lang="en-US" sz="2400" b="1" dirty="0" smtClean="0"/>
              <a:t>}</a:t>
            </a:r>
            <a:endParaRPr lang="en-US" sz="2400" dirty="0" smtClean="0"/>
          </a:p>
          <a:p>
            <a:pPr>
              <a:buNone/>
            </a:pPr>
            <a:r>
              <a:rPr lang="en-US" sz="2400" b="1" dirty="0" smtClean="0"/>
              <a:t>void </a:t>
            </a:r>
            <a:r>
              <a:rPr lang="en-US" sz="2400" dirty="0" smtClean="0"/>
              <a:t>sub2() {</a:t>
            </a:r>
          </a:p>
          <a:p>
            <a:pPr>
              <a:buNone/>
            </a:pPr>
            <a:r>
              <a:rPr lang="en-US" sz="2400" b="1" dirty="0" err="1" smtClean="0"/>
              <a:t>int</a:t>
            </a:r>
            <a:r>
              <a:rPr lang="en-US" sz="2400" b="1" dirty="0" smtClean="0"/>
              <a:t> </a:t>
            </a:r>
            <a:r>
              <a:rPr lang="en-US" sz="2400" dirty="0" smtClean="0"/>
              <a:t>w, x;</a:t>
            </a:r>
          </a:p>
          <a:p>
            <a:pPr>
              <a:buNone/>
            </a:pPr>
            <a:r>
              <a:rPr lang="en-US" sz="2400" dirty="0" smtClean="0"/>
              <a:t>. . .</a:t>
            </a:r>
          </a:p>
          <a:p>
            <a:r>
              <a:rPr lang="en-US" sz="2400" b="1" dirty="0" smtClean="0"/>
              <a:t>}</a:t>
            </a:r>
            <a:endParaRPr lang="en-US" sz="2400" dirty="0" smtClean="0"/>
          </a:p>
          <a:p>
            <a:r>
              <a:rPr lang="en-US" sz="2400" b="1" dirty="0" smtClean="0"/>
              <a:t>void </a:t>
            </a:r>
            <a:r>
              <a:rPr lang="en-US" sz="2400" dirty="0" smtClean="0"/>
              <a:t>sub1() {</a:t>
            </a:r>
          </a:p>
          <a:p>
            <a:r>
              <a:rPr lang="en-US" sz="2400" b="1" dirty="0" err="1" smtClean="0"/>
              <a:t>int</a:t>
            </a:r>
            <a:r>
              <a:rPr lang="en-US" sz="2400" b="1" dirty="0" smtClean="0"/>
              <a:t> </a:t>
            </a:r>
            <a:r>
              <a:rPr lang="en-US" sz="2400" dirty="0" smtClean="0"/>
              <a:t>v, w;</a:t>
            </a:r>
          </a:p>
          <a:p>
            <a:r>
              <a:rPr lang="en-US" sz="2400" dirty="0" smtClean="0"/>
              <a:t>. . .</a:t>
            </a:r>
          </a:p>
          <a:p>
            <a:r>
              <a:rPr lang="en-US" sz="2400" b="1" dirty="0" smtClean="0"/>
              <a:t>}</a:t>
            </a:r>
            <a:endParaRPr lang="en-US" sz="2400" dirty="0" smtClean="0"/>
          </a:p>
          <a:p>
            <a:r>
              <a:rPr lang="en-US" sz="2400" b="1" dirty="0" smtClean="0"/>
              <a:t>void </a:t>
            </a:r>
            <a:r>
              <a:rPr lang="en-US" sz="2400" dirty="0" smtClean="0"/>
              <a:t>main() {</a:t>
            </a:r>
          </a:p>
          <a:p>
            <a:r>
              <a:rPr lang="en-US" sz="2400" b="1" dirty="0" err="1" smtClean="0"/>
              <a:t>int</a:t>
            </a:r>
            <a:r>
              <a:rPr lang="en-US" sz="2400" b="1" dirty="0" smtClean="0"/>
              <a:t> </a:t>
            </a:r>
            <a:r>
              <a:rPr lang="en-US" sz="2400" dirty="0" smtClean="0"/>
              <a:t>v, u;</a:t>
            </a:r>
          </a:p>
          <a:p>
            <a:r>
              <a:rPr lang="en-US" sz="2400" dirty="0" smtClean="0"/>
              <a:t>. . .</a:t>
            </a:r>
          </a:p>
          <a:p>
            <a:r>
              <a:rPr lang="en-US" sz="2400" b="1" dirty="0" smtClean="0"/>
              <a:t>}</a:t>
            </a:r>
            <a:endParaRPr lang="en-US" sz="2400" dirty="0" smtClean="0"/>
          </a:p>
          <a:p>
            <a:endParaRPr 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fontScale="92500" lnSpcReduction="10000"/>
          </a:bodyPr>
          <a:lstStyle/>
          <a:p>
            <a:r>
              <a:rPr lang="en-US" sz="2400" b="1" dirty="0" smtClean="0"/>
              <a:t>This program is written in a syntax that gives it the appearance of a program in a C-based language, but it is not meant to be in any particular language.</a:t>
            </a:r>
          </a:p>
          <a:p>
            <a:r>
              <a:rPr lang="en-US" sz="2400" b="1" dirty="0" smtClean="0"/>
              <a:t>Suppose the following sequence of function calls occurs:</a:t>
            </a:r>
          </a:p>
          <a:p>
            <a:r>
              <a:rPr lang="en-US" sz="2400" b="1" dirty="0" smtClean="0"/>
              <a:t> main calls sub1</a:t>
            </a:r>
          </a:p>
          <a:p>
            <a:r>
              <a:rPr lang="en-US" sz="2400" b="1" dirty="0" smtClean="0"/>
              <a:t>  sub1 calls sub1</a:t>
            </a:r>
          </a:p>
          <a:p>
            <a:r>
              <a:rPr lang="en-US" sz="2400" b="1" dirty="0" smtClean="0"/>
              <a:t>  sub1 calls sub2  </a:t>
            </a:r>
          </a:p>
          <a:p>
            <a:r>
              <a:rPr lang="en-US" sz="2400" b="1" dirty="0" smtClean="0"/>
              <a:t>sub2 calls sub3</a:t>
            </a:r>
          </a:p>
          <a:p>
            <a:r>
              <a:rPr lang="en-US" sz="2400" b="1" dirty="0" smtClean="0"/>
              <a:t>Consider the references to the variables x, u, and v in function sub3. The reference to x is found in the activation record instance for sub3. </a:t>
            </a:r>
          </a:p>
          <a:p>
            <a:r>
              <a:rPr lang="en-US" sz="2400" b="1" dirty="0" smtClean="0"/>
              <a:t>The reference to u is found by searching </a:t>
            </a:r>
            <a:r>
              <a:rPr lang="en-US" sz="2400" b="1" i="1" dirty="0" smtClean="0"/>
              <a:t>all </a:t>
            </a:r>
            <a:r>
              <a:rPr lang="en-US" sz="2400" b="1" dirty="0" smtClean="0"/>
              <a:t>of the activation record instances on the stack, because the only existing variable with that name is in main. </a:t>
            </a:r>
          </a:p>
          <a:p>
            <a:r>
              <a:rPr lang="en-US" sz="2400" b="1" dirty="0" smtClean="0"/>
              <a:t>This search involves following four dynamic links and examining 10 variable names. The reference to v is found in the most recent (nearest on the dynamic chain) activation record instance for the subprogram sub1.</a:t>
            </a:r>
          </a:p>
          <a:p>
            <a:endParaRPr lang="en-US" sz="24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6019800"/>
          </a:xfrm>
        </p:spPr>
        <p:txBody>
          <a:bodyPr/>
          <a:lstStyle/>
          <a:p>
            <a:pPr marL="342900" lvl="2" indent="-342900">
              <a:buNone/>
            </a:pPr>
            <a:r>
              <a:rPr lang="en-US" b="1" dirty="0" smtClean="0"/>
              <a:t>Shallow Access</a:t>
            </a:r>
          </a:p>
          <a:p>
            <a:pPr marL="342900" lvl="2" indent="-342900"/>
            <a:r>
              <a:rPr lang="en-US" dirty="0" smtClean="0"/>
              <a:t>In the shallow-access method, variables declared in subprograms are not stored in the activation records of those subprograms. </a:t>
            </a:r>
          </a:p>
          <a:p>
            <a:pPr marL="342900" lvl="2" indent="-342900"/>
            <a:r>
              <a:rPr lang="en-US" dirty="0" smtClean="0"/>
              <a:t>One variation of shallow access is to have a separate stack for each variable name in a complete program. </a:t>
            </a:r>
          </a:p>
          <a:p>
            <a:pPr marL="342900" lvl="2" indent="-342900"/>
            <a:r>
              <a:rPr lang="en-US" dirty="0" smtClean="0"/>
              <a:t>Every time a new variable with a particular name is created by a declaration at the beginning of a subprogram that has been called, the variable is given a cell at the top of the stack for its name. </a:t>
            </a:r>
          </a:p>
          <a:p>
            <a:pPr marL="342900" lvl="2" indent="-342900"/>
            <a:r>
              <a:rPr lang="en-US" dirty="0" smtClean="0"/>
              <a:t>Every reference to the name is to the variable on top of the stack associated with that name, because the top one is the most recently created. </a:t>
            </a:r>
            <a:endParaRPr lang="en-US" b="1" dirty="0" smtClean="0"/>
          </a:p>
          <a:p>
            <a:pPr>
              <a:buNone/>
            </a:pPr>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a:buNone/>
            </a:pPr>
            <a:r>
              <a:rPr lang="en-US" sz="2400" dirty="0" err="1" smtClean="0"/>
              <a:t>Eg</a:t>
            </a:r>
            <a:r>
              <a:rPr lang="en-US" sz="2400" dirty="0" smtClean="0"/>
              <a:t> is taken same deep access </a:t>
            </a:r>
            <a:endParaRPr lang="en-US" sz="2400" dirty="0"/>
          </a:p>
        </p:txBody>
      </p:sp>
      <p:pic>
        <p:nvPicPr>
          <p:cNvPr id="5" name="Image 624"/>
          <p:cNvPicPr/>
          <p:nvPr/>
        </p:nvPicPr>
        <p:blipFill>
          <a:blip r:embed="rId2" cstate="print"/>
          <a:stretch>
            <a:fillRect/>
          </a:stretch>
        </p:blipFill>
        <p:spPr>
          <a:xfrm>
            <a:off x="2286000" y="609600"/>
            <a:ext cx="4309533" cy="2438400"/>
          </a:xfrm>
          <a:prstGeom prst="rect">
            <a:avLst/>
          </a:prstGeom>
        </p:spPr>
      </p:pic>
      <p:sp>
        <p:nvSpPr>
          <p:cNvPr id="6" name="Rectangle 5"/>
          <p:cNvSpPr/>
          <p:nvPr/>
        </p:nvSpPr>
        <p:spPr>
          <a:xfrm>
            <a:off x="609600" y="3124200"/>
            <a:ext cx="7772400" cy="3416320"/>
          </a:xfrm>
          <a:prstGeom prst="rect">
            <a:avLst/>
          </a:prstGeom>
        </p:spPr>
        <p:txBody>
          <a:bodyPr wrap="square">
            <a:spAutoFit/>
          </a:bodyPr>
          <a:lstStyle/>
          <a:p>
            <a:pPr>
              <a:buFont typeface="Arial" pitchFamily="34" charset="0"/>
              <a:buChar char="•"/>
            </a:pPr>
            <a:r>
              <a:rPr lang="en-US" sz="2400" dirty="0" smtClean="0"/>
              <a:t>One variation is to have a “hidden” stack on which all saved objects are stored. Because subprogram calls and returns, and thus the lifetimes of local variables, are nested, this works well.</a:t>
            </a:r>
          </a:p>
          <a:p>
            <a:pPr>
              <a:buFont typeface="Arial" pitchFamily="34" charset="0"/>
              <a:buChar char="•"/>
            </a:pPr>
            <a:r>
              <a:rPr lang="en-US" sz="2400" dirty="0" smtClean="0"/>
              <a:t>The second variation is perhaps the cleanest and least expensive to implement. </a:t>
            </a:r>
          </a:p>
          <a:p>
            <a:pPr>
              <a:buFont typeface="Arial" pitchFamily="34" charset="0"/>
              <a:buChar char="•"/>
            </a:pPr>
            <a:r>
              <a:rPr lang="en-US" sz="2400" dirty="0" smtClean="0"/>
              <a:t>The choice between shallow and deep access to nonlocal variables depends on the relative frequencies of subprogram calls and nonlocal references</a:t>
            </a:r>
            <a:endParaRPr lang="en-US"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pPr lvl="0">
              <a:buNone/>
            </a:pPr>
            <a:r>
              <a:rPr lang="en-US" sz="2400" b="1" dirty="0" smtClean="0"/>
              <a:t>Abstract Data Types and Encapsulation Constructs</a:t>
            </a:r>
          </a:p>
          <a:p>
            <a:pPr>
              <a:buNone/>
            </a:pPr>
            <a:r>
              <a:rPr lang="en-US" sz="2400" b="1" dirty="0" smtClean="0"/>
              <a:t>Concept of Abstract Data Types(ADT):</a:t>
            </a:r>
          </a:p>
          <a:p>
            <a:r>
              <a:rPr lang="en-US" sz="2400" dirty="0" smtClean="0"/>
              <a:t>An </a:t>
            </a:r>
            <a:r>
              <a:rPr lang="en-US" sz="2400" b="1" dirty="0" smtClean="0"/>
              <a:t>abstraction </a:t>
            </a:r>
            <a:r>
              <a:rPr lang="en-US" sz="2400" dirty="0" smtClean="0"/>
              <a:t>is a view or representation of an entity that includes only the most significant attributes.</a:t>
            </a:r>
          </a:p>
          <a:p>
            <a:r>
              <a:rPr lang="en-US" sz="2400" dirty="0" smtClean="0"/>
              <a:t>In the world of programming languages, abstraction is a weapon against the complexity of programming; its purpose is to simplify the programming process.</a:t>
            </a:r>
          </a:p>
          <a:p>
            <a:r>
              <a:rPr lang="en-US" sz="2400" dirty="0" smtClean="0"/>
              <a:t> It is an effective weapon because it allows programmers to focus on essential attributes, while ignoring subordinate attributes.</a:t>
            </a:r>
          </a:p>
          <a:p>
            <a:endParaRPr lang="en-US" sz="2400"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943600"/>
          </a:xfrm>
        </p:spPr>
        <p:txBody>
          <a:bodyPr>
            <a:normAutofit/>
          </a:bodyPr>
          <a:lstStyle/>
          <a:p>
            <a:pPr>
              <a:buNone/>
            </a:pPr>
            <a:r>
              <a:rPr lang="en-US" sz="2400" b="1" dirty="0" smtClean="0"/>
              <a:t>Process abstraction:</a:t>
            </a:r>
            <a:endParaRPr lang="en-US" sz="2400" dirty="0" smtClean="0"/>
          </a:p>
          <a:p>
            <a:r>
              <a:rPr lang="en-US" sz="2400" dirty="0" smtClean="0"/>
              <a:t>All subprograms are process abstraction because they  provide way for a  program to specify the process without providing the details  of how its perform tasks.</a:t>
            </a:r>
          </a:p>
          <a:p>
            <a:r>
              <a:rPr lang="en-US" sz="2400" dirty="0" smtClean="0"/>
              <a:t> For example, when a program needs to sort an array of numeric data of some type, it usually uses a subprogram for the sorting process. At the point where the sorting process is required, a statement such as</a:t>
            </a:r>
            <a:br>
              <a:rPr lang="en-US" sz="2400" dirty="0" smtClean="0"/>
            </a:br>
            <a:r>
              <a:rPr lang="en-US" sz="2400" b="1" dirty="0" err="1" smtClean="0"/>
              <a:t>sortInt</a:t>
            </a:r>
            <a:r>
              <a:rPr lang="en-US" sz="2400" b="1" dirty="0" smtClean="0"/>
              <a:t>(list, </a:t>
            </a:r>
            <a:r>
              <a:rPr lang="en-US" sz="2400" b="1" dirty="0" err="1" smtClean="0"/>
              <a:t>listLen</a:t>
            </a:r>
            <a:r>
              <a:rPr lang="en-US" sz="2400" b="1" dirty="0" smtClean="0"/>
              <a:t>)</a:t>
            </a:r>
          </a:p>
          <a:p>
            <a:r>
              <a:rPr lang="en-US" sz="2400" dirty="0" smtClean="0"/>
              <a:t>is placed in the program. This call is an abstraction of the actual sorting process, whose algorithm is not specified. The call is independent of the algorithm implemented in the called subprogram.</a:t>
            </a:r>
          </a:p>
          <a:p>
            <a:endParaRPr lang="en-US" sz="2400" dirty="0" smtClean="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pPr>
              <a:buNone/>
            </a:pPr>
            <a:r>
              <a:rPr lang="en-US" sz="2400" b="1" dirty="0" smtClean="0"/>
              <a:t>Abstract data type:</a:t>
            </a:r>
            <a:endParaRPr lang="en-US" sz="2400" dirty="0" smtClean="0"/>
          </a:p>
          <a:p>
            <a:r>
              <a:rPr lang="en-US" sz="2400" dirty="0" smtClean="0"/>
              <a:t>It also called as information hiding. It is also allows user to create data object(variable) of abstract data type  and also allows user to perform some operations on these objects but implementation of these types hidden from the user .</a:t>
            </a:r>
          </a:p>
          <a:p>
            <a:r>
              <a:rPr lang="en-US" sz="2400" dirty="0" smtClean="0"/>
              <a:t>Program units that use an abstract data type can declare variables of that type, even though the actual representation is hidden from them. An instance of an abstract data type is called an </a:t>
            </a:r>
            <a:r>
              <a:rPr lang="en-US" sz="2400" b="1" dirty="0" smtClean="0"/>
              <a:t>object</a:t>
            </a:r>
            <a:r>
              <a:rPr lang="en-US" sz="2400" dirty="0" smtClean="0"/>
              <a:t>.</a:t>
            </a:r>
          </a:p>
          <a:p>
            <a:pPr marL="342900" lvl="2" indent="-342900">
              <a:buNone/>
            </a:pPr>
            <a:r>
              <a:rPr lang="en-US" b="1" dirty="0" smtClean="0"/>
              <a:t>Floating-Point as an Abstract Data Type</a:t>
            </a:r>
          </a:p>
          <a:p>
            <a:r>
              <a:rPr lang="en-US" sz="2400" dirty="0" smtClean="0"/>
              <a:t>A floating-point type provides the means to create variables to store floating-point data and also provides a set of arithmetic operations for manipulating objects of the type.</a:t>
            </a:r>
          </a:p>
          <a:p>
            <a:endParaRPr lang="en-US"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normAutofit/>
          </a:bodyPr>
          <a:lstStyle/>
          <a:p>
            <a:r>
              <a:rPr lang="en-US" sz="2400" dirty="0" smtClean="0"/>
              <a:t>Floating-point types in high-level languages employ a key concept in data abstraction: information hiding. </a:t>
            </a:r>
          </a:p>
          <a:p>
            <a:r>
              <a:rPr lang="en-US" sz="2400" dirty="0" smtClean="0"/>
              <a:t>The actual format of the floating-point data value in a memory cell is hidden from the user, and the only operations available are those provided by the language. </a:t>
            </a:r>
          </a:p>
          <a:p>
            <a:r>
              <a:rPr lang="en-US" sz="2400" dirty="0" smtClean="0"/>
              <a:t>The user is not allowed to create new operations on data of the type, except those that can be constructed using the built-in operations. </a:t>
            </a:r>
          </a:p>
          <a:p>
            <a:r>
              <a:rPr lang="en-US" sz="2400" dirty="0" smtClean="0"/>
              <a:t>The user cannot directly manipulate the parts of the actual representation of values because that representation is hidden. It is this feature that allows program portability between implementations of a particular language, even though the implementations may use different representations for particular data types. </a:t>
            </a:r>
            <a:endParaRPr lang="en-US"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943600"/>
          </a:xfrm>
        </p:spPr>
        <p:txBody>
          <a:bodyPr>
            <a:normAutofit/>
          </a:bodyPr>
          <a:lstStyle/>
          <a:p>
            <a:pPr marL="342900" lvl="2" indent="-342900">
              <a:buNone/>
            </a:pPr>
            <a:r>
              <a:rPr lang="en-US" b="1" dirty="0" smtClean="0"/>
              <a:t>User-Defined Abstract Data Types</a:t>
            </a:r>
          </a:p>
          <a:p>
            <a:r>
              <a:rPr lang="en-US" sz="2400" dirty="0" smtClean="0"/>
              <a:t>A user-defined abstract data type should provide the same characteristics as those of language-defined types, such as a floating-point type: </a:t>
            </a:r>
          </a:p>
          <a:p>
            <a:r>
              <a:rPr lang="en-US" sz="2400" dirty="0" smtClean="0"/>
              <a:t>(1) a type definition that allows program units to declare variables of the type but hides the representation of objects of the type; and</a:t>
            </a:r>
          </a:p>
          <a:p>
            <a:r>
              <a:rPr lang="en-US" sz="2400" dirty="0" smtClean="0"/>
              <a:t> (2) a set of operations for manipulating objects of the type.</a:t>
            </a:r>
          </a:p>
          <a:p>
            <a:r>
              <a:rPr lang="en-US" sz="2400" dirty="0" smtClean="0"/>
              <a:t>We now formally define an abstract data type in the context of user-defined types. An </a:t>
            </a:r>
            <a:r>
              <a:rPr lang="en-US" sz="2400" b="1" dirty="0" smtClean="0"/>
              <a:t>abstract data type </a:t>
            </a:r>
            <a:r>
              <a:rPr lang="en-US" sz="2400" dirty="0" smtClean="0"/>
              <a:t>is a data type that satisfies the following</a:t>
            </a:r>
          </a:p>
          <a:p>
            <a:endParaRPr 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r>
              <a:rPr lang="en-US" sz="2400" dirty="0" smtClean="0"/>
              <a:t>The representation of objects of the type is hidden from the program units that use the type, so the only direct operations possible on those objects are those provided in the type’s definition.</a:t>
            </a:r>
          </a:p>
          <a:p>
            <a:r>
              <a:rPr lang="en-US" sz="2400" dirty="0" smtClean="0"/>
              <a:t> The declarations of the type and the protocols of the operations on objects of the type, which provide the type’s interface, are contained in a single syntactic unit. The type’s interface does not depend on the representation of the objects or the implementation of the operations.</a:t>
            </a:r>
          </a:p>
          <a:p>
            <a:r>
              <a:rPr lang="en-US" sz="2400" dirty="0" smtClean="0"/>
              <a:t>Also, other program units are allowed to create variables of the defined type.</a:t>
            </a:r>
          </a:p>
          <a:p>
            <a:endParaRPr lang="en-US"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pPr>
              <a:buNone/>
            </a:pPr>
            <a:r>
              <a:rPr lang="en-US" sz="2400" dirty="0" smtClean="0"/>
              <a:t>Advantages :</a:t>
            </a:r>
          </a:p>
          <a:p>
            <a:r>
              <a:rPr lang="en-US" sz="2400" dirty="0" smtClean="0"/>
              <a:t>Increase reliability .Program units that use a specific abstract data type are called </a:t>
            </a:r>
            <a:r>
              <a:rPr lang="en-US" sz="2400" b="1" dirty="0" smtClean="0"/>
              <a:t>clients </a:t>
            </a:r>
            <a:r>
              <a:rPr lang="en-US" sz="2400" dirty="0" smtClean="0"/>
              <a:t>of that type. </a:t>
            </a:r>
          </a:p>
          <a:p>
            <a:r>
              <a:rPr lang="en-US" sz="2400" dirty="0" smtClean="0"/>
              <a:t>it reduces the range of code and number of variables of which a programmer must be aware when writing or reading a part of the program.</a:t>
            </a:r>
          </a:p>
          <a:p>
            <a:r>
              <a:rPr lang="en-US" sz="2400" dirty="0" smtClean="0"/>
              <a:t>Information hiding also makes name conflicts less likely, because the scopes of variables is smaller.</a:t>
            </a:r>
          </a:p>
          <a:p>
            <a:pPr lvl="0"/>
            <a:r>
              <a:rPr lang="en-US" sz="2400" b="1" dirty="0" smtClean="0"/>
              <a:t>Encapsulation</a:t>
            </a:r>
            <a:endParaRPr lang="en-US" sz="2400" dirty="0" smtClean="0"/>
          </a:p>
          <a:p>
            <a:pPr lvl="0"/>
            <a:r>
              <a:rPr lang="en-US" sz="2400" b="1" dirty="0" smtClean="0"/>
              <a:t>Abstraction</a:t>
            </a:r>
            <a:endParaRPr lang="en-US" sz="2400" dirty="0" smtClean="0"/>
          </a:p>
          <a:p>
            <a:pPr lvl="0"/>
            <a:r>
              <a:rPr lang="en-US" sz="2400" b="1" dirty="0" smtClean="0"/>
              <a:t>Data Structure Independence</a:t>
            </a:r>
          </a:p>
          <a:p>
            <a:pPr lvl="0"/>
            <a:r>
              <a:rPr lang="en-US" sz="2400" b="1" dirty="0" smtClean="0"/>
              <a:t>Information Hiding</a:t>
            </a:r>
            <a:endParaRPr lang="en-US" sz="2400" dirty="0" smtClean="0"/>
          </a:p>
          <a:p>
            <a:pPr lvl="0"/>
            <a:r>
              <a:rPr lang="en-US" sz="2400" b="1" dirty="0" smtClean="0"/>
              <a:t>Modularity</a:t>
            </a:r>
          </a:p>
          <a:p>
            <a:endParaRPr 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marL="342900" lvl="1" indent="-342900">
              <a:buNone/>
            </a:pPr>
            <a:r>
              <a:rPr lang="en-US" b="1" dirty="0" smtClean="0"/>
              <a:t>Design Issues for Abstract Data Types</a:t>
            </a:r>
          </a:p>
          <a:p>
            <a:r>
              <a:rPr lang="en-US" sz="2400" dirty="0" smtClean="0"/>
              <a:t>The first design issue is whether abstract data types can be parameterized. </a:t>
            </a:r>
          </a:p>
          <a:p>
            <a:r>
              <a:rPr lang="en-US" sz="2400" dirty="0" smtClean="0"/>
              <a:t>The second design issue is what access controls are provided and how such controls are specified.</a:t>
            </a:r>
          </a:p>
          <a:p>
            <a:r>
              <a:rPr lang="en-US" sz="2400" dirty="0" smtClean="0"/>
              <a:t>Finally, the language designer must decide whether the specification of the type is physically separate from its implementation (or whether that is a developer choice).</a:t>
            </a:r>
          </a:p>
          <a:p>
            <a:r>
              <a:rPr lang="en-US" sz="2400" dirty="0" smtClean="0"/>
              <a:t>The form of  the container for the interface to the type.</a:t>
            </a:r>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lstStyle/>
          <a:p>
            <a:pPr marL="342900" lvl="1" indent="-342900">
              <a:buNone/>
            </a:pPr>
            <a:r>
              <a:rPr lang="en-US" b="1" dirty="0" smtClean="0"/>
              <a:t>Language Examples</a:t>
            </a:r>
          </a:p>
          <a:p>
            <a:r>
              <a:rPr lang="en-US" sz="2400" dirty="0" smtClean="0"/>
              <a:t>we describe the support for data abstraction provided by C++, Java, C#, and Ruby.</a:t>
            </a:r>
          </a:p>
          <a:p>
            <a:pPr marL="342900" lvl="3" indent="-342900">
              <a:buNone/>
            </a:pPr>
            <a:r>
              <a:rPr lang="en-US" sz="2800" b="1" dirty="0" smtClean="0"/>
              <a:t>Abstract Data Types in C++</a:t>
            </a:r>
          </a:p>
          <a:p>
            <a:pPr marL="342900" lvl="3" indent="-342900">
              <a:buFont typeface="Arial" pitchFamily="34" charset="0"/>
              <a:buChar char="•"/>
            </a:pPr>
            <a:r>
              <a:rPr lang="en-US" sz="2400" dirty="0" smtClean="0"/>
              <a:t>C++, which was first released in 1985, was created by adding features to C. The first important additions were those to support object-oriented programming. Because one of the primary components of object-oriented programming is abstract data types.</a:t>
            </a:r>
          </a:p>
          <a:p>
            <a:pPr marL="342900" lvl="3" indent="-342900">
              <a:buNone/>
            </a:pPr>
            <a:r>
              <a:rPr lang="en-US" sz="2400" b="1" dirty="0" smtClean="0"/>
              <a:t>Encapsulation: </a:t>
            </a:r>
            <a:r>
              <a:rPr lang="en-US" sz="2400" dirty="0" smtClean="0"/>
              <a:t>The data defined in a C++ class are called </a:t>
            </a:r>
            <a:r>
              <a:rPr lang="en-US" sz="2400" b="1" dirty="0" smtClean="0"/>
              <a:t>data members</a:t>
            </a:r>
            <a:r>
              <a:rPr lang="en-US" sz="2400" dirty="0" smtClean="0"/>
              <a:t>; the functions (methods) defined in a class are called </a:t>
            </a:r>
            <a:r>
              <a:rPr lang="en-US" sz="2400" b="1" dirty="0" smtClean="0"/>
              <a:t>member functions</a:t>
            </a:r>
            <a:r>
              <a:rPr lang="en-US" sz="2400" dirty="0" smtClean="0"/>
              <a:t>. </a:t>
            </a:r>
          </a:p>
          <a:p>
            <a:pPr marL="342900" lvl="3" indent="-342900"/>
            <a:r>
              <a:rPr lang="en-US" sz="2400" dirty="0" smtClean="0"/>
              <a:t>Data members and member functions appear in two categories: class and instance. </a:t>
            </a:r>
          </a:p>
          <a:p>
            <a:pPr marL="342900" lvl="3" indent="-342900">
              <a:buNone/>
            </a:pPr>
            <a:endParaRPr lang="en-US" sz="2400" b="1" dirty="0" smtClean="0"/>
          </a:p>
          <a:p>
            <a:pPr marL="342900" lvl="3" indent="-342900">
              <a:buFont typeface="Arial" pitchFamily="34" charset="0"/>
              <a:buChar char="•"/>
            </a:pPr>
            <a:endParaRPr lang="en-US" sz="2400" b="1" dirty="0" smtClean="0"/>
          </a:p>
          <a:p>
            <a:pPr marL="342900" lvl="3" indent="-342900">
              <a:buFont typeface="Arial" pitchFamily="34" charset="0"/>
              <a:buChar char="•"/>
            </a:pPr>
            <a:endParaRPr lang="en-US" sz="2800" b="1" dirty="0" smtClean="0"/>
          </a:p>
          <a:p>
            <a:pPr>
              <a:buNone/>
            </a:pP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pPr marL="342900" lvl="3" indent="-342900">
              <a:buNone/>
            </a:pPr>
            <a:r>
              <a:rPr lang="en-US" sz="2400" b="1" dirty="0" smtClean="0"/>
              <a:t>Information Hiding : </a:t>
            </a:r>
            <a:r>
              <a:rPr lang="en-US" sz="2400" dirty="0" smtClean="0"/>
              <a:t>A C++ class can contain both hidden and visible entities (meaning they are either hidden from or visible to clients of the class). </a:t>
            </a:r>
          </a:p>
          <a:p>
            <a:pPr marL="342900" lvl="3" indent="-342900">
              <a:buFont typeface="Arial" pitchFamily="34" charset="0"/>
              <a:buChar char="•"/>
            </a:pPr>
            <a:r>
              <a:rPr lang="en-US" sz="2400" dirty="0" smtClean="0"/>
              <a:t>Entities that are to be hidden are placed in a </a:t>
            </a:r>
            <a:r>
              <a:rPr lang="en-US" sz="2400" b="1" dirty="0" smtClean="0"/>
              <a:t>private </a:t>
            </a:r>
            <a:r>
              <a:rPr lang="en-US" sz="2400" dirty="0" smtClean="0"/>
              <a:t>clause, and visible, or public, entities appear in a </a:t>
            </a:r>
            <a:r>
              <a:rPr lang="en-US" sz="2400" b="1" dirty="0" smtClean="0"/>
              <a:t>public </a:t>
            </a:r>
            <a:r>
              <a:rPr lang="en-US" sz="2400" dirty="0" smtClean="0"/>
              <a:t>clause. The </a:t>
            </a:r>
            <a:r>
              <a:rPr lang="en-US" sz="2400" b="1" dirty="0" smtClean="0"/>
              <a:t>public </a:t>
            </a:r>
            <a:r>
              <a:rPr lang="en-US" sz="2400" dirty="0" smtClean="0"/>
              <a:t>clause therefore describes the interface to class instances. </a:t>
            </a:r>
            <a:endParaRPr lang="en-US" sz="2400" b="1" dirty="0" smtClean="0"/>
          </a:p>
          <a:p>
            <a:r>
              <a:rPr lang="en-US" sz="2400" dirty="0" smtClean="0"/>
              <a:t>There is also a third category of visibility, </a:t>
            </a:r>
            <a:r>
              <a:rPr lang="en-US" sz="2400" b="1" dirty="0" smtClean="0"/>
              <a:t>protected</a:t>
            </a:r>
            <a:r>
              <a:rPr lang="en-US" sz="2400" dirty="0" smtClean="0"/>
              <a:t>, which makes a member visible to subclasses, but not to clients.</a:t>
            </a:r>
          </a:p>
          <a:p>
            <a:pPr marL="342900" lvl="3" indent="-342900">
              <a:buNone/>
            </a:pPr>
            <a:r>
              <a:rPr lang="en-US" sz="2400" b="1" dirty="0" smtClean="0"/>
              <a:t>Constructors and Destructors : </a:t>
            </a:r>
            <a:r>
              <a:rPr lang="en-US" sz="2400" dirty="0" smtClean="0"/>
              <a:t>C++ allows the user to include </a:t>
            </a:r>
            <a:r>
              <a:rPr lang="en-US" sz="2400" b="1" dirty="0" smtClean="0"/>
              <a:t>constructor </a:t>
            </a:r>
            <a:r>
              <a:rPr lang="en-US" sz="2400" dirty="0" smtClean="0"/>
              <a:t>functions in class definitions, which are used to initialize the data members of newly created objects. A constructor may also allocate the heap-dynamic data that are referenced by the pointer members of the new object. </a:t>
            </a:r>
            <a:endParaRPr lang="en-US" sz="2400" b="1" dirty="0" smtClean="0"/>
          </a:p>
          <a:p>
            <a:pPr>
              <a:buNone/>
            </a:pPr>
            <a:endParaRPr lang="en-US" sz="2400" dirty="0" smtClean="0"/>
          </a:p>
          <a:p>
            <a:endParaRPr lang="en-US" sz="2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400800"/>
          </a:xfrm>
        </p:spPr>
        <p:txBody>
          <a:bodyPr>
            <a:normAutofit/>
          </a:bodyPr>
          <a:lstStyle/>
          <a:p>
            <a:r>
              <a:rPr lang="en-US" sz="2400" dirty="0" smtClean="0"/>
              <a:t>A C++ class can also include a function called a </a:t>
            </a:r>
            <a:r>
              <a:rPr lang="en-US" sz="2400" b="1" dirty="0" smtClean="0"/>
              <a:t>destructor</a:t>
            </a:r>
            <a:r>
              <a:rPr lang="en-US" sz="2400" dirty="0" smtClean="0"/>
              <a:t>, which is implicitly called when the lifetime of an instance of the class ends. As stated earlier, stack-dynamic class instances can contain pointer members that reference heap-dynamic data. </a:t>
            </a:r>
          </a:p>
          <a:p>
            <a:pPr marL="342900" lvl="3" indent="-342900">
              <a:buNone/>
            </a:pPr>
            <a:r>
              <a:rPr lang="en-US" sz="2400" b="1" dirty="0" smtClean="0"/>
              <a:t>An Example</a:t>
            </a:r>
          </a:p>
          <a:p>
            <a:r>
              <a:rPr lang="en-US" sz="2400" dirty="0" smtClean="0"/>
              <a:t>Our example of a C++ abstract data type is a stack:</a:t>
            </a:r>
          </a:p>
          <a:p>
            <a:pPr>
              <a:buNone/>
            </a:pPr>
            <a:r>
              <a:rPr lang="en-US" sz="2400" dirty="0" smtClean="0"/>
              <a:t>#include &lt;</a:t>
            </a:r>
            <a:r>
              <a:rPr lang="en-US" sz="2400" dirty="0" err="1" smtClean="0"/>
              <a:t>iostream.h</a:t>
            </a:r>
            <a:r>
              <a:rPr lang="en-US" sz="2400" dirty="0" smtClean="0"/>
              <a:t>&gt;</a:t>
            </a:r>
          </a:p>
          <a:p>
            <a:pPr>
              <a:buNone/>
            </a:pPr>
            <a:r>
              <a:rPr lang="en-US" sz="2400" b="1" dirty="0" smtClean="0"/>
              <a:t>class </a:t>
            </a:r>
            <a:r>
              <a:rPr lang="en-US" sz="2400" dirty="0" smtClean="0"/>
              <a:t>Stack {</a:t>
            </a:r>
          </a:p>
          <a:p>
            <a:pPr>
              <a:buNone/>
            </a:pPr>
            <a:r>
              <a:rPr lang="en-US" sz="2400" b="1" dirty="0" smtClean="0"/>
              <a:t>private</a:t>
            </a:r>
            <a:r>
              <a:rPr lang="en-US" sz="2400" dirty="0" smtClean="0"/>
              <a:t>: //** These members are visible only to other</a:t>
            </a:r>
          </a:p>
          <a:p>
            <a:pPr>
              <a:buNone/>
            </a:pPr>
            <a:r>
              <a:rPr lang="en-US" sz="2400" dirty="0" smtClean="0"/>
              <a:t>//** members and friends (see Section 11.6.4)</a:t>
            </a:r>
          </a:p>
          <a:p>
            <a:pPr>
              <a:buNone/>
            </a:pPr>
            <a:r>
              <a:rPr lang="en-US" sz="2400" b="1" dirty="0" err="1" smtClean="0"/>
              <a:t>int</a:t>
            </a:r>
            <a:r>
              <a:rPr lang="en-US" sz="2400" b="1" dirty="0" smtClean="0"/>
              <a:t> </a:t>
            </a:r>
            <a:r>
              <a:rPr lang="en-US" sz="2400" dirty="0" smtClean="0"/>
              <a:t>*</a:t>
            </a:r>
            <a:r>
              <a:rPr lang="en-US" sz="2400" dirty="0" err="1" smtClean="0"/>
              <a:t>stackPtr</a:t>
            </a:r>
            <a:r>
              <a:rPr lang="en-US" sz="2400" dirty="0" smtClean="0"/>
              <a:t>;</a:t>
            </a:r>
          </a:p>
          <a:p>
            <a:pPr>
              <a:buNone/>
            </a:pPr>
            <a:r>
              <a:rPr lang="en-US" sz="2400" dirty="0" smtClean="0"/>
              <a:t> </a:t>
            </a:r>
            <a:r>
              <a:rPr lang="en-US" sz="2400" b="1" dirty="0" err="1" smtClean="0"/>
              <a:t>int</a:t>
            </a:r>
            <a:r>
              <a:rPr lang="en-US" sz="2400" b="1" dirty="0" smtClean="0"/>
              <a:t> </a:t>
            </a:r>
            <a:r>
              <a:rPr lang="en-US" sz="2400" dirty="0" err="1" smtClean="0"/>
              <a:t>maxLen</a:t>
            </a:r>
            <a:r>
              <a:rPr lang="en-US" sz="2400" dirty="0" smtClean="0"/>
              <a:t>; </a:t>
            </a:r>
          </a:p>
          <a:p>
            <a:pPr>
              <a:buNone/>
            </a:pPr>
            <a:r>
              <a:rPr lang="en-US" sz="2400" b="1" dirty="0" err="1" smtClean="0"/>
              <a:t>int</a:t>
            </a:r>
            <a:r>
              <a:rPr lang="en-US" sz="2400" b="1" dirty="0" smtClean="0"/>
              <a:t> </a:t>
            </a:r>
            <a:r>
              <a:rPr lang="en-US" sz="2400" dirty="0" err="1" smtClean="0"/>
              <a:t>topSub</a:t>
            </a:r>
            <a:r>
              <a:rPr lang="en-US" sz="2400" dirty="0" smtClean="0"/>
              <a:t>;</a:t>
            </a:r>
          </a:p>
          <a:p>
            <a:pPr>
              <a:buNone/>
            </a:pPr>
            <a:endParaRPr lang="en-US" sz="2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fontScale="70000" lnSpcReduction="20000"/>
          </a:bodyPr>
          <a:lstStyle/>
          <a:p>
            <a:pPr>
              <a:buNone/>
            </a:pPr>
            <a:r>
              <a:rPr lang="en-US" sz="2400" b="1" dirty="0" smtClean="0"/>
              <a:t>public</a:t>
            </a:r>
            <a:r>
              <a:rPr lang="en-US" sz="2400" dirty="0" smtClean="0"/>
              <a:t>: //** These members are visible to clients Stack() { //** A constructor</a:t>
            </a:r>
          </a:p>
          <a:p>
            <a:pPr>
              <a:buNone/>
            </a:pPr>
            <a:r>
              <a:rPr lang="en-US" sz="2400" dirty="0" err="1" smtClean="0"/>
              <a:t>stackPtr</a:t>
            </a:r>
            <a:r>
              <a:rPr lang="en-US" sz="2400" dirty="0" smtClean="0"/>
              <a:t> = </a:t>
            </a:r>
            <a:r>
              <a:rPr lang="en-US" sz="2400" b="1" dirty="0" smtClean="0"/>
              <a:t>new </a:t>
            </a:r>
            <a:r>
              <a:rPr lang="en-US" sz="2400" b="1" dirty="0" err="1" smtClean="0"/>
              <a:t>int</a:t>
            </a:r>
            <a:r>
              <a:rPr lang="en-US" sz="2400" b="1" dirty="0" smtClean="0"/>
              <a:t> </a:t>
            </a:r>
            <a:r>
              <a:rPr lang="en-US" sz="2400" dirty="0" smtClean="0"/>
              <a:t>[100]; </a:t>
            </a:r>
            <a:r>
              <a:rPr lang="en-US" sz="2400" dirty="0" err="1" smtClean="0"/>
              <a:t>maxLen</a:t>
            </a:r>
            <a:r>
              <a:rPr lang="en-US" sz="2400" dirty="0" smtClean="0"/>
              <a:t> = 99;</a:t>
            </a:r>
          </a:p>
          <a:p>
            <a:pPr>
              <a:buNone/>
            </a:pPr>
            <a:r>
              <a:rPr lang="en-US" sz="2400" dirty="0" err="1" smtClean="0"/>
              <a:t>topSub</a:t>
            </a:r>
            <a:r>
              <a:rPr lang="en-US" sz="2400" dirty="0" smtClean="0"/>
              <a:t> = -1;</a:t>
            </a:r>
          </a:p>
          <a:p>
            <a:pPr>
              <a:buNone/>
            </a:pPr>
            <a:r>
              <a:rPr lang="en-US" sz="2400" dirty="0" smtClean="0"/>
              <a:t>}</a:t>
            </a:r>
          </a:p>
          <a:p>
            <a:pPr>
              <a:buNone/>
            </a:pPr>
            <a:r>
              <a:rPr lang="en-US" sz="2400" dirty="0" smtClean="0"/>
              <a:t>~Stack() {</a:t>
            </a:r>
            <a:r>
              <a:rPr lang="en-US" sz="2400" b="1" dirty="0" smtClean="0"/>
              <a:t>delete </a:t>
            </a:r>
            <a:r>
              <a:rPr lang="en-US" sz="2400" dirty="0" smtClean="0"/>
              <a:t>[] </a:t>
            </a:r>
            <a:r>
              <a:rPr lang="en-US" sz="2400" dirty="0" err="1" smtClean="0"/>
              <a:t>stackPtr</a:t>
            </a:r>
            <a:r>
              <a:rPr lang="en-US" sz="2400" dirty="0" smtClean="0"/>
              <a:t>;}; //** A destructor</a:t>
            </a:r>
          </a:p>
          <a:p>
            <a:pPr>
              <a:buNone/>
            </a:pPr>
            <a:r>
              <a:rPr lang="en-US" sz="2400" b="1" dirty="0" smtClean="0"/>
              <a:t>void </a:t>
            </a:r>
            <a:r>
              <a:rPr lang="en-US" sz="2400" dirty="0" smtClean="0"/>
              <a:t>push(</a:t>
            </a:r>
            <a:r>
              <a:rPr lang="en-US" sz="2400" b="1" dirty="0" err="1" smtClean="0"/>
              <a:t>int</a:t>
            </a:r>
            <a:r>
              <a:rPr lang="en-US" sz="2400" b="1" dirty="0" smtClean="0"/>
              <a:t> </a:t>
            </a:r>
            <a:r>
              <a:rPr lang="en-US" sz="2400" dirty="0" smtClean="0"/>
              <a:t>number) {</a:t>
            </a:r>
          </a:p>
          <a:p>
            <a:pPr>
              <a:buNone/>
            </a:pPr>
            <a:r>
              <a:rPr lang="en-US" sz="2400" b="1" dirty="0" smtClean="0"/>
              <a:t>if </a:t>
            </a:r>
            <a:r>
              <a:rPr lang="en-US" sz="2400" dirty="0" smtClean="0"/>
              <a:t>(</a:t>
            </a:r>
            <a:r>
              <a:rPr lang="en-US" sz="2400" dirty="0" err="1" smtClean="0"/>
              <a:t>topSub</a:t>
            </a:r>
            <a:r>
              <a:rPr lang="en-US" sz="2400" dirty="0" smtClean="0"/>
              <a:t> == </a:t>
            </a:r>
            <a:r>
              <a:rPr lang="en-US" sz="2400" dirty="0" err="1" smtClean="0"/>
              <a:t>maxLen</a:t>
            </a:r>
            <a:r>
              <a:rPr lang="en-US" sz="2400" dirty="0" smtClean="0"/>
              <a:t>)</a:t>
            </a:r>
          </a:p>
          <a:p>
            <a:pPr>
              <a:buNone/>
            </a:pPr>
            <a:r>
              <a:rPr lang="en-US" sz="2400" dirty="0" err="1" smtClean="0"/>
              <a:t>cerr</a:t>
            </a:r>
            <a:r>
              <a:rPr lang="en-US" sz="2400" dirty="0" smtClean="0"/>
              <a:t> &lt;&lt; "Error in push--stack is full\n";</a:t>
            </a:r>
          </a:p>
          <a:p>
            <a:pPr>
              <a:buNone/>
            </a:pPr>
            <a:r>
              <a:rPr lang="en-US" sz="2400" b="1" dirty="0" smtClean="0"/>
              <a:t>else </a:t>
            </a:r>
            <a:r>
              <a:rPr lang="en-US" sz="2400" dirty="0" err="1" smtClean="0"/>
              <a:t>stackPtr</a:t>
            </a:r>
            <a:r>
              <a:rPr lang="en-US" sz="2400" dirty="0" smtClean="0"/>
              <a:t>[++</a:t>
            </a:r>
            <a:r>
              <a:rPr lang="en-US" sz="2400" dirty="0" err="1" smtClean="0"/>
              <a:t>topSub</a:t>
            </a:r>
            <a:r>
              <a:rPr lang="en-US" sz="2400" dirty="0" smtClean="0"/>
              <a:t>] = number;</a:t>
            </a:r>
          </a:p>
          <a:p>
            <a:pPr>
              <a:buNone/>
            </a:pPr>
            <a:r>
              <a:rPr lang="en-US" sz="2400" dirty="0" smtClean="0"/>
              <a:t>}</a:t>
            </a:r>
          </a:p>
          <a:p>
            <a:pPr>
              <a:buNone/>
            </a:pPr>
            <a:r>
              <a:rPr lang="en-US" sz="2400" b="1" dirty="0" smtClean="0"/>
              <a:t>void </a:t>
            </a:r>
            <a:r>
              <a:rPr lang="en-US" sz="2400" dirty="0" smtClean="0"/>
              <a:t>pop() {</a:t>
            </a:r>
          </a:p>
          <a:p>
            <a:pPr>
              <a:buNone/>
            </a:pPr>
            <a:r>
              <a:rPr lang="en-US" sz="2400" b="1" dirty="0" smtClean="0"/>
              <a:t>if </a:t>
            </a:r>
            <a:r>
              <a:rPr lang="en-US" sz="2400" dirty="0" smtClean="0"/>
              <a:t>(empty())</a:t>
            </a:r>
          </a:p>
          <a:p>
            <a:pPr>
              <a:buNone/>
            </a:pPr>
            <a:r>
              <a:rPr lang="en-US" sz="2400" dirty="0" err="1" smtClean="0"/>
              <a:t>cerr</a:t>
            </a:r>
            <a:r>
              <a:rPr lang="en-US" sz="2400" dirty="0" smtClean="0"/>
              <a:t> &lt;&lt; "Error in pop--stack is empty\n";</a:t>
            </a:r>
          </a:p>
          <a:p>
            <a:pPr>
              <a:buNone/>
            </a:pPr>
            <a:r>
              <a:rPr lang="en-US" sz="2400" b="1" dirty="0" smtClean="0"/>
              <a:t>else </a:t>
            </a:r>
            <a:r>
              <a:rPr lang="en-US" sz="2400" dirty="0" err="1" smtClean="0"/>
              <a:t>topSub</a:t>
            </a:r>
            <a:r>
              <a:rPr lang="en-US" sz="2400" dirty="0" smtClean="0"/>
              <a:t>--;</a:t>
            </a:r>
          </a:p>
          <a:p>
            <a:pPr>
              <a:buNone/>
            </a:pPr>
            <a:r>
              <a:rPr lang="en-US" sz="2400" dirty="0" smtClean="0"/>
              <a:t>}</a:t>
            </a:r>
          </a:p>
          <a:p>
            <a:pPr>
              <a:buNone/>
            </a:pPr>
            <a:r>
              <a:rPr lang="en-US" sz="2400" b="1" dirty="0" err="1" smtClean="0"/>
              <a:t>int</a:t>
            </a:r>
            <a:r>
              <a:rPr lang="en-US" sz="2400" b="1" dirty="0" smtClean="0"/>
              <a:t> </a:t>
            </a:r>
            <a:r>
              <a:rPr lang="en-US" sz="2400" dirty="0" smtClean="0"/>
              <a:t>top() {</a:t>
            </a:r>
          </a:p>
          <a:p>
            <a:pPr>
              <a:buNone/>
            </a:pPr>
            <a:r>
              <a:rPr lang="en-US" sz="2400" b="1" dirty="0" smtClean="0"/>
              <a:t>if </a:t>
            </a:r>
            <a:r>
              <a:rPr lang="en-US" sz="2400" dirty="0" smtClean="0"/>
              <a:t>(empty())</a:t>
            </a:r>
          </a:p>
          <a:p>
            <a:pPr>
              <a:buNone/>
            </a:pPr>
            <a:r>
              <a:rPr lang="en-US" sz="2400" dirty="0" err="1" smtClean="0"/>
              <a:t>cerr</a:t>
            </a:r>
            <a:r>
              <a:rPr lang="en-US" sz="2400" dirty="0" smtClean="0"/>
              <a:t> &lt;&lt; "Error in top--stack is empty\n";</a:t>
            </a:r>
          </a:p>
          <a:p>
            <a:pPr>
              <a:buNone/>
            </a:pPr>
            <a:r>
              <a:rPr lang="en-US" sz="2400" b="1" dirty="0" smtClean="0"/>
              <a:t>else</a:t>
            </a:r>
            <a:endParaRPr lang="en-US" sz="2400" dirty="0" smtClean="0"/>
          </a:p>
          <a:p>
            <a:pPr>
              <a:buNone/>
            </a:pPr>
            <a:r>
              <a:rPr lang="en-US" sz="2400" b="1" dirty="0" smtClean="0"/>
              <a:t>return </a:t>
            </a:r>
            <a:r>
              <a:rPr lang="en-US" sz="2400" dirty="0" smtClean="0"/>
              <a:t>(</a:t>
            </a:r>
            <a:r>
              <a:rPr lang="en-US" sz="2400" dirty="0" err="1" smtClean="0"/>
              <a:t>stackPtr</a:t>
            </a:r>
            <a:r>
              <a:rPr lang="en-US" sz="2400" dirty="0" smtClean="0"/>
              <a:t>[</a:t>
            </a:r>
            <a:r>
              <a:rPr lang="en-US" sz="2400" dirty="0" err="1" smtClean="0"/>
              <a:t>topSub</a:t>
            </a:r>
            <a:r>
              <a:rPr lang="en-US" sz="2400" dirty="0" smtClean="0"/>
              <a:t>]);</a:t>
            </a:r>
          </a:p>
          <a:p>
            <a:pPr>
              <a:buNone/>
            </a:pPr>
            <a:r>
              <a:rPr lang="en-US" sz="2400" dirty="0" smtClean="0"/>
              <a:t>}</a:t>
            </a:r>
          </a:p>
          <a:p>
            <a:pPr>
              <a:buNone/>
            </a:pPr>
            <a:r>
              <a:rPr lang="en-US" sz="2400" b="1" dirty="0" err="1" smtClean="0"/>
              <a:t>int</a:t>
            </a:r>
            <a:r>
              <a:rPr lang="en-US" sz="2400" b="1" dirty="0" smtClean="0"/>
              <a:t> </a:t>
            </a:r>
            <a:r>
              <a:rPr lang="en-US" sz="2400" dirty="0" smtClean="0"/>
              <a:t>empty() {</a:t>
            </a:r>
            <a:r>
              <a:rPr lang="en-US" sz="2400" b="1" dirty="0" smtClean="0"/>
              <a:t>return </a:t>
            </a:r>
            <a:r>
              <a:rPr lang="en-US" sz="2400" dirty="0" smtClean="0"/>
              <a:t>(</a:t>
            </a:r>
            <a:r>
              <a:rPr lang="en-US" sz="2400" dirty="0" err="1" smtClean="0"/>
              <a:t>topSub</a:t>
            </a:r>
            <a:r>
              <a:rPr lang="en-US" sz="2400" dirty="0" smtClean="0"/>
              <a:t> == -1);}</a:t>
            </a:r>
          </a:p>
          <a:p>
            <a:pPr>
              <a:buNone/>
            </a:pPr>
            <a:r>
              <a:rPr lang="en-US" sz="2400" dirty="0" smtClean="0"/>
              <a:t>}</a:t>
            </a:r>
          </a:p>
          <a:p>
            <a:pPr>
              <a:buNone/>
            </a:pPr>
            <a:endParaRPr lang="en-US" sz="2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marL="342900" lvl="1" indent="-342900">
              <a:buNone/>
            </a:pPr>
            <a:r>
              <a:rPr lang="en-US" b="1" dirty="0" smtClean="0"/>
              <a:t>Encapsulation Constructs</a:t>
            </a:r>
          </a:p>
          <a:p>
            <a:r>
              <a:rPr lang="en-US" sz="2400" dirty="0" smtClean="0"/>
              <a:t>When the size of a program reaches beyond a few thousand lines, two practical problems become evident. From the programmer’s point of view, having such a program appear as a single collection of subprograms or abstract data type definitions does not impose an adequate level of organization on the program to keep it intellectually manageable. </a:t>
            </a:r>
            <a:endParaRPr lang="en-US" sz="2400" dirty="0" smtClean="0"/>
          </a:p>
          <a:p>
            <a:r>
              <a:rPr lang="en-US" sz="2400" dirty="0" smtClean="0"/>
              <a:t>The second practical problem for larger programs is recompilation. For relatively small programs, recompiling the whole program after each modification is not costly. But for large programs, the cost of recompilation is significant. So, there is an obvious need to find ways to avoid recompilation of the parts of a program that are not affected by a change. </a:t>
            </a:r>
            <a:endParaRPr lang="en-US"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r>
              <a:rPr lang="en-US" sz="2400" dirty="0" smtClean="0"/>
              <a:t>The obvious solution to both of these problems is to organize programs into collections of logically related code and data, each of which can be compiled without recompilation of the rest of the program. An </a:t>
            </a:r>
            <a:r>
              <a:rPr lang="en-US" sz="2400" b="1" dirty="0" smtClean="0"/>
              <a:t>encapsulation </a:t>
            </a:r>
            <a:r>
              <a:rPr lang="en-US" sz="2400" dirty="0" smtClean="0"/>
              <a:t>is such a collection.</a:t>
            </a:r>
          </a:p>
          <a:p>
            <a:r>
              <a:rPr lang="en-US" sz="2400" dirty="0" smtClean="0"/>
              <a:t>In languages that allow nested subprograms, programs can be organized by nesting subprogram definitions inside the logically larger subprograms that use them. This can be done in </a:t>
            </a:r>
            <a:r>
              <a:rPr lang="en-US" sz="2400" dirty="0" smtClean="0"/>
              <a:t>Python </a:t>
            </a:r>
            <a:r>
              <a:rPr lang="en-US" sz="2400" dirty="0" smtClean="0"/>
              <a:t>and Ruby. </a:t>
            </a:r>
            <a:endParaRPr lang="en-US" sz="2400" dirty="0" smtClean="0"/>
          </a:p>
          <a:p>
            <a:pPr marL="342900" lvl="2" indent="-342900">
              <a:buNone/>
            </a:pPr>
            <a:r>
              <a:rPr lang="en-US" b="1" dirty="0" smtClean="0"/>
              <a:t>Encapsulation in C</a:t>
            </a:r>
          </a:p>
          <a:p>
            <a:r>
              <a:rPr lang="en-US" sz="2400" dirty="0" smtClean="0"/>
              <a:t>C does not provide complete support for abstract data types, although both abstract data types and multiple-type encapsulations can be simulated</a:t>
            </a:r>
            <a:r>
              <a:rPr lang="en-US" sz="2400" dirty="0" smtClean="0"/>
              <a:t>.</a:t>
            </a:r>
          </a:p>
          <a:p>
            <a:r>
              <a:rPr lang="en-US" sz="2400" dirty="0" smtClean="0"/>
              <a:t>In C, a collection of related functions and data definitions can be placed in a file, which can be independently compiled. </a:t>
            </a:r>
          </a:p>
          <a:p>
            <a:pPr>
              <a:buNone/>
            </a:pPr>
            <a:endParaRPr lang="en-US" sz="2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r>
              <a:rPr lang="en-US" sz="2400" dirty="0" smtClean="0"/>
              <a:t> </a:t>
            </a:r>
            <a:r>
              <a:rPr lang="en-US" sz="2400" dirty="0" smtClean="0"/>
              <a:t>Such a file, which acts as a library, has an implementation of its </a:t>
            </a:r>
            <a:r>
              <a:rPr lang="en-US" sz="2400" dirty="0" smtClean="0"/>
              <a:t>entities</a:t>
            </a:r>
          </a:p>
          <a:p>
            <a:r>
              <a:rPr lang="en-US" sz="2400" dirty="0" smtClean="0"/>
              <a:t>The </a:t>
            </a:r>
            <a:r>
              <a:rPr lang="en-US" sz="2400" dirty="0" smtClean="0"/>
              <a:t>interface to such a file, including data, type, and function </a:t>
            </a:r>
            <a:r>
              <a:rPr lang="en-US" sz="2400" dirty="0" smtClean="0"/>
              <a:t>declarations</a:t>
            </a:r>
            <a:r>
              <a:rPr lang="en-US" sz="2400" dirty="0" smtClean="0"/>
              <a:t>, is placed in a separate file called a </a:t>
            </a:r>
            <a:r>
              <a:rPr lang="en-US" sz="2400" b="1" dirty="0" smtClean="0"/>
              <a:t>header file</a:t>
            </a:r>
            <a:r>
              <a:rPr lang="en-US" sz="2400" dirty="0" smtClean="0"/>
              <a:t>. </a:t>
            </a:r>
            <a:endParaRPr lang="en-US" sz="2400" dirty="0" smtClean="0"/>
          </a:p>
          <a:p>
            <a:r>
              <a:rPr lang="en-US" sz="2400" dirty="0" smtClean="0"/>
              <a:t>Type representations can be hidden by declaring them in the header file as pointers to </a:t>
            </a:r>
            <a:r>
              <a:rPr lang="en-US" sz="2400" dirty="0" err="1" smtClean="0"/>
              <a:t>struct</a:t>
            </a:r>
            <a:r>
              <a:rPr lang="en-US" sz="2400" dirty="0" smtClean="0"/>
              <a:t> types. The complete definitions of such </a:t>
            </a:r>
            <a:r>
              <a:rPr lang="en-US" sz="2400" dirty="0" err="1" smtClean="0"/>
              <a:t>struct</a:t>
            </a:r>
            <a:r>
              <a:rPr lang="en-US" sz="2400" dirty="0" smtClean="0"/>
              <a:t> types need only appear in the implementation file</a:t>
            </a:r>
            <a:r>
              <a:rPr lang="en-US" sz="2400" dirty="0" smtClean="0"/>
              <a:t>.</a:t>
            </a:r>
          </a:p>
          <a:p>
            <a:r>
              <a:rPr lang="en-US" sz="2400" dirty="0" smtClean="0"/>
              <a:t>When such a library is used, the header file is included in the client code, using an #include preprocessor specification, so that references to functions and data in the client code can be type checked. </a:t>
            </a:r>
            <a:endParaRPr lang="en-US" sz="2400" dirty="0" smtClean="0"/>
          </a:p>
          <a:p>
            <a:r>
              <a:rPr lang="en-US" sz="2400" dirty="0" smtClean="0"/>
              <a:t>The #include specification also documents the fact that the client program depends on the library implementation file. This approach effectively separates the specification and implementation of an encapsulation.</a:t>
            </a:r>
          </a:p>
          <a:p>
            <a:endParaRPr lang="en-US" sz="2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normAutofit/>
          </a:bodyPr>
          <a:lstStyle/>
          <a:p>
            <a:pPr marL="342900" lvl="2" indent="-342900">
              <a:buNone/>
            </a:pPr>
            <a:r>
              <a:rPr lang="en-US" b="1" dirty="0" smtClean="0"/>
              <a:t>Encapsulation in C++</a:t>
            </a:r>
          </a:p>
          <a:p>
            <a:r>
              <a:rPr lang="en-US" sz="2400" dirty="0" smtClean="0"/>
              <a:t>C++ provides two different kinds of encapsulation: header and implementation files can be defined as in C, or class headers and definitions can be defined. </a:t>
            </a:r>
            <a:endParaRPr lang="en-US" sz="2400" dirty="0" smtClean="0"/>
          </a:p>
          <a:p>
            <a:r>
              <a:rPr lang="en-US" sz="2400" dirty="0" smtClean="0"/>
              <a:t>Because </a:t>
            </a:r>
            <a:r>
              <a:rPr lang="en-US" sz="2400" dirty="0" smtClean="0"/>
              <a:t>of the complex interplay of C++ templates and separate compilation, the header files of C++ template libraries often include complete definitions of resources, rather than just data declarations and subprogram protocols; this is due in part to the use of the C linker for C++ programs.</a:t>
            </a:r>
          </a:p>
          <a:p>
            <a:r>
              <a:rPr lang="en-US" sz="2400" dirty="0" smtClean="0"/>
              <a:t>One language design problem that results from having classes but no generalized encapsulation construct is that sometimes when operations are defined that use two different classes of objects, the operation does not naturally belong in either class. </a:t>
            </a:r>
            <a:endParaRPr lang="en-US" sz="2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248400"/>
          </a:xfrm>
        </p:spPr>
        <p:txBody>
          <a:bodyPr>
            <a:normAutofit fontScale="92500" lnSpcReduction="20000"/>
          </a:bodyPr>
          <a:lstStyle/>
          <a:p>
            <a:r>
              <a:rPr lang="en-US" sz="2400" dirty="0" smtClean="0"/>
              <a:t>For example, suppose we have an abstract data type for matrices and one for vectors and need a multiplication operation between a vector and a matrix. The multiplication code must have access to the data members of both the vector and the matrix classes, but neither of those classes is the natural home for the code. </a:t>
            </a:r>
            <a:endParaRPr lang="en-US" sz="2400" dirty="0" smtClean="0"/>
          </a:p>
          <a:p>
            <a:r>
              <a:rPr lang="en-US" sz="2400" dirty="0" smtClean="0"/>
              <a:t>The following skeletal code illustrates this scenario:</a:t>
            </a:r>
          </a:p>
          <a:p>
            <a:r>
              <a:rPr lang="en-US" sz="2400" b="1" dirty="0" smtClean="0"/>
              <a:t>class </a:t>
            </a:r>
            <a:r>
              <a:rPr lang="en-US" sz="2400" dirty="0" smtClean="0"/>
              <a:t>Matrix; //** A class declaration</a:t>
            </a:r>
          </a:p>
          <a:p>
            <a:r>
              <a:rPr lang="en-US" sz="2400" b="1" dirty="0" smtClean="0"/>
              <a:t>class </a:t>
            </a:r>
            <a:r>
              <a:rPr lang="en-US" sz="2400" dirty="0" smtClean="0"/>
              <a:t>Vector {</a:t>
            </a:r>
          </a:p>
          <a:p>
            <a:r>
              <a:rPr lang="en-US" sz="2400" b="1" dirty="0" smtClean="0"/>
              <a:t>friend </a:t>
            </a:r>
            <a:r>
              <a:rPr lang="en-US" sz="2400" dirty="0" smtClean="0"/>
              <a:t>Vector multiply(</a:t>
            </a:r>
            <a:r>
              <a:rPr lang="en-US" sz="2400" b="1" dirty="0" smtClean="0"/>
              <a:t>const </a:t>
            </a:r>
            <a:r>
              <a:rPr lang="en-US" sz="2400" dirty="0" smtClean="0"/>
              <a:t>Matrix&amp;, </a:t>
            </a:r>
            <a:r>
              <a:rPr lang="en-US" sz="2400" b="1" dirty="0" smtClean="0"/>
              <a:t>const </a:t>
            </a:r>
            <a:r>
              <a:rPr lang="en-US" sz="2400" dirty="0" smtClean="0"/>
              <a:t>Vector&amp;);</a:t>
            </a:r>
          </a:p>
          <a:p>
            <a:r>
              <a:rPr lang="en-US" sz="2400" dirty="0" smtClean="0"/>
              <a:t>. . .</a:t>
            </a:r>
          </a:p>
          <a:p>
            <a:r>
              <a:rPr lang="en-US" sz="2400" dirty="0" smtClean="0"/>
              <a:t>};</a:t>
            </a:r>
          </a:p>
          <a:p>
            <a:r>
              <a:rPr lang="en-US" sz="2400" b="1" dirty="0" smtClean="0"/>
              <a:t>class </a:t>
            </a:r>
            <a:r>
              <a:rPr lang="en-US" sz="2400" dirty="0" smtClean="0"/>
              <a:t>Matrix { //** The class definition</a:t>
            </a:r>
          </a:p>
          <a:p>
            <a:r>
              <a:rPr lang="en-US" sz="2400" b="1" dirty="0" smtClean="0"/>
              <a:t>friend </a:t>
            </a:r>
            <a:r>
              <a:rPr lang="en-US" sz="2400" dirty="0" smtClean="0"/>
              <a:t>Vector multiply(</a:t>
            </a:r>
            <a:r>
              <a:rPr lang="en-US" sz="2400" b="1" dirty="0" smtClean="0"/>
              <a:t>const </a:t>
            </a:r>
            <a:r>
              <a:rPr lang="en-US" sz="2400" dirty="0" smtClean="0"/>
              <a:t>Matrix&amp;, </a:t>
            </a:r>
            <a:r>
              <a:rPr lang="en-US" sz="2400" b="1" dirty="0" smtClean="0"/>
              <a:t>const </a:t>
            </a:r>
            <a:r>
              <a:rPr lang="en-US" sz="2400" dirty="0" smtClean="0"/>
              <a:t>Vector&amp;);</a:t>
            </a:r>
          </a:p>
          <a:p>
            <a:r>
              <a:rPr lang="en-US" sz="2400" dirty="0" smtClean="0"/>
              <a:t>. . .</a:t>
            </a:r>
          </a:p>
          <a:p>
            <a:r>
              <a:rPr lang="en-US" sz="2400" dirty="0" smtClean="0"/>
              <a:t>};</a:t>
            </a:r>
          </a:p>
          <a:p>
            <a:r>
              <a:rPr lang="en-US" sz="2400" dirty="0" smtClean="0"/>
              <a:t>//** The function that uses both Matrix and Vector objects Vector multiply(</a:t>
            </a:r>
            <a:r>
              <a:rPr lang="en-US" sz="2400" b="1" dirty="0" smtClean="0"/>
              <a:t>const </a:t>
            </a:r>
            <a:r>
              <a:rPr lang="en-US" sz="2400" dirty="0" smtClean="0"/>
              <a:t>Matrix&amp; m1, </a:t>
            </a:r>
            <a:r>
              <a:rPr lang="en-US" sz="2400" b="1" dirty="0" smtClean="0"/>
              <a:t>const </a:t>
            </a:r>
            <a:r>
              <a:rPr lang="en-US" sz="2400" dirty="0" smtClean="0"/>
              <a:t>Vector&amp; v1) {</a:t>
            </a:r>
          </a:p>
          <a:p>
            <a:r>
              <a:rPr lang="en-US" sz="2400" dirty="0" smtClean="0"/>
              <a:t>. . .</a:t>
            </a:r>
          </a:p>
          <a:p>
            <a:r>
              <a:rPr lang="en-US" sz="2400" dirty="0" smtClean="0"/>
              <a:t>}</a:t>
            </a:r>
          </a:p>
          <a:p>
            <a:endParaRPr lang="en-US" sz="2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248400"/>
          </a:xfrm>
        </p:spPr>
        <p:txBody>
          <a:bodyPr>
            <a:normAutofit/>
          </a:bodyPr>
          <a:lstStyle/>
          <a:p>
            <a:pPr marL="342900" lvl="2" indent="-342900">
              <a:buNone/>
            </a:pPr>
            <a:r>
              <a:rPr lang="en-US" b="1" dirty="0" smtClean="0"/>
              <a:t>C# Assemblies</a:t>
            </a:r>
          </a:p>
          <a:p>
            <a:r>
              <a:rPr lang="en-US" sz="2400" dirty="0" smtClean="0"/>
              <a:t>C# includes a larger encapsulation construct than a class. The construct is the one used by all of the .NET programming languages: the assembly.</a:t>
            </a:r>
          </a:p>
          <a:p>
            <a:r>
              <a:rPr lang="en-US" sz="2400" dirty="0" smtClean="0"/>
              <a:t>Assemblies are built by .NET compilers. A .NET application consists of one or more </a:t>
            </a:r>
            <a:r>
              <a:rPr lang="en-US" sz="2400" dirty="0" smtClean="0"/>
              <a:t>assemblies</a:t>
            </a:r>
          </a:p>
          <a:p>
            <a:r>
              <a:rPr lang="en-US" sz="2400" dirty="0" smtClean="0"/>
              <a:t>. An </a:t>
            </a:r>
            <a:r>
              <a:rPr lang="en-US" sz="2400" b="1" dirty="0" smtClean="0"/>
              <a:t>assembly </a:t>
            </a:r>
            <a:r>
              <a:rPr lang="en-US" sz="2400" dirty="0" smtClean="0"/>
              <a:t>is a </a:t>
            </a:r>
            <a:r>
              <a:rPr lang="en-US" sz="2400" dirty="0" smtClean="0"/>
              <a:t>file </a:t>
            </a:r>
            <a:r>
              <a:rPr lang="en-US" sz="2400" dirty="0" smtClean="0"/>
              <a:t>that appears to application programs to be a single dynamic link library (.</a:t>
            </a:r>
            <a:r>
              <a:rPr lang="en-US" sz="2400" dirty="0" err="1" smtClean="0"/>
              <a:t>dll</a:t>
            </a:r>
            <a:r>
              <a:rPr lang="en-US" sz="2400" dirty="0" smtClean="0"/>
              <a:t>) </a:t>
            </a:r>
            <a:r>
              <a:rPr lang="en-US" sz="2400" dirty="0" smtClean="0"/>
              <a:t>or an executable (.exe). An assembly defines a module, which can be separately </a:t>
            </a:r>
            <a:r>
              <a:rPr lang="en-US" sz="2400" dirty="0" smtClean="0"/>
              <a:t>developed</a:t>
            </a:r>
          </a:p>
          <a:p>
            <a:r>
              <a:rPr lang="en-US" sz="2400" dirty="0" smtClean="0"/>
              <a:t>In</a:t>
            </a:r>
          </a:p>
          <a:p>
            <a:r>
              <a:rPr lang="en-US" sz="2400" dirty="0" smtClean="0"/>
              <a:t>.NET, the intermediate language is named Common Intermediate Language (CIL). It is used by all .NET languages. Because its code is in CIL, an assembly can be used on any architecture, device, or operating system</a:t>
            </a:r>
            <a:endParaRPr lang="en-US" sz="2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900" dirty="0" smtClean="0"/>
              <a:t>.</a:t>
            </a:r>
            <a:endParaRPr lang="en-US" sz="900" dirty="0"/>
          </a:p>
        </p:txBody>
      </p:sp>
      <p:sp>
        <p:nvSpPr>
          <p:cNvPr id="3" name="Content Placeholder 2"/>
          <p:cNvSpPr>
            <a:spLocks noGrp="1"/>
          </p:cNvSpPr>
          <p:nvPr>
            <p:ph idx="1"/>
          </p:nvPr>
        </p:nvSpPr>
        <p:spPr>
          <a:xfrm>
            <a:off x="457200" y="381000"/>
            <a:ext cx="8229600" cy="6096000"/>
          </a:xfrm>
        </p:spPr>
        <p:txBody>
          <a:bodyPr>
            <a:normAutofit/>
          </a:bodyPr>
          <a:lstStyle/>
          <a:p>
            <a:r>
              <a:rPr lang="en-US" sz="2400" dirty="0" smtClean="0"/>
              <a:t>A </a:t>
            </a:r>
            <a:r>
              <a:rPr lang="en-US" sz="2400" b="1" dirty="0" smtClean="0"/>
              <a:t>dynamic link library (DLL) </a:t>
            </a:r>
            <a:r>
              <a:rPr lang="en-US" sz="2400" dirty="0" smtClean="0"/>
              <a:t>is a collection of classes and methods that are individually linked to an executing program when needed during execution. Therefore, although a program has access to all of the resources in a particular DLL, only the parts that are actually used are ever loaded and linked to the </a:t>
            </a:r>
            <a:r>
              <a:rPr lang="en-US" sz="2400" dirty="0" smtClean="0"/>
              <a:t>program</a:t>
            </a:r>
          </a:p>
          <a:p>
            <a:r>
              <a:rPr lang="en-US" sz="2400" dirty="0" smtClean="0"/>
              <a:t>DLLs have been part of the Windows programming environment since Windows first appeared. However, the DLLs of .NET are quite different from those of previous Windows </a:t>
            </a:r>
            <a:r>
              <a:rPr lang="en-US" sz="2400" dirty="0" smtClean="0"/>
              <a:t>systems</a:t>
            </a:r>
          </a:p>
          <a:p>
            <a:r>
              <a:rPr lang="en-US" sz="2400" dirty="0" smtClean="0"/>
              <a:t>In addition to the CIL code, a .NET assembly includes metadata that describes every class it defines, as well as all external classes it uses. An assembly also includes a list of all assemblies referenced in the assembly and an assembly version number.</a:t>
            </a:r>
          </a:p>
          <a:p>
            <a:endParaRPr lang="en-US"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19800"/>
          </a:xfrm>
        </p:spPr>
        <p:txBody>
          <a:bodyPr>
            <a:normAutofit/>
          </a:bodyPr>
          <a:lstStyle/>
          <a:p>
            <a:r>
              <a:rPr lang="en-US" sz="2400" dirty="0" smtClean="0"/>
              <a:t>In the .NET world, the assembly is the basic unit of deployment of software. Assemblies can be private, in which case they are available to just one application, or public, which means any application can use them.</a:t>
            </a:r>
          </a:p>
          <a:p>
            <a:r>
              <a:rPr lang="en-US" sz="2400" dirty="0" smtClean="0"/>
              <a:t>As mentioned previously, C# has an access modifier, </a:t>
            </a:r>
            <a:r>
              <a:rPr lang="en-US" sz="2400" b="1" dirty="0" smtClean="0"/>
              <a:t>internal</a:t>
            </a:r>
            <a:r>
              <a:rPr lang="en-US" sz="2400" dirty="0" smtClean="0"/>
              <a:t>. An </a:t>
            </a:r>
            <a:r>
              <a:rPr lang="en-US" sz="2400" b="1" dirty="0" smtClean="0"/>
              <a:t>internal </a:t>
            </a:r>
            <a:r>
              <a:rPr lang="en-US" sz="2400" dirty="0" smtClean="0"/>
              <a:t>member of a class is visible to all classes in the assembly in which it appears.</a:t>
            </a:r>
          </a:p>
          <a:p>
            <a:r>
              <a:rPr lang="en-US" sz="2400" dirty="0" smtClean="0"/>
              <a:t>Java has a file structure that is similar to an assembly called a Java Archive (JAR). It is also used for deployment of Java software systems. JARs are built with the Java utility jar, rather than a compiler.</a:t>
            </a:r>
          </a:p>
          <a:p>
            <a:endParaRPr lang="en-US" sz="2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6096000"/>
          </a:xfrm>
        </p:spPr>
        <p:txBody>
          <a:bodyPr/>
          <a:lstStyle/>
          <a:p>
            <a:pPr marL="342900" lvl="1" indent="-342900">
              <a:buNone/>
            </a:pPr>
            <a:r>
              <a:rPr lang="en-US" b="1" dirty="0" smtClean="0"/>
              <a:t>Naming Encapsulations</a:t>
            </a:r>
          </a:p>
          <a:p>
            <a:r>
              <a:rPr lang="en-US" sz="2400" dirty="0" smtClean="0"/>
              <a:t>We have considered encapsulations to be syntactic containers for logically related software resources—in particular, abstract data types. The purpose of these encapsulations is to provide a way to organize programs into logical units for compilation. </a:t>
            </a:r>
            <a:endParaRPr lang="en-US" sz="2400" dirty="0" smtClean="0"/>
          </a:p>
          <a:p>
            <a:r>
              <a:rPr lang="en-US" sz="2400" dirty="0" smtClean="0"/>
              <a:t>This allows parts of programs to be recompiled after isolated changes. There is another kind of encapsulation that is necessary for constructing large programs: a naming </a:t>
            </a:r>
            <a:r>
              <a:rPr lang="en-US" sz="2400" dirty="0" smtClean="0"/>
              <a:t>encapsulation</a:t>
            </a:r>
          </a:p>
          <a:p>
            <a:r>
              <a:rPr lang="en-US" sz="2400" dirty="0" smtClean="0"/>
              <a:t>A large program is usually written by many developers, working somewhat independently, perhaps even in different geographic locations. This requires the logical units of the program to be independent, while still able to work together</a:t>
            </a:r>
            <a:endParaRPr lang="en-US" sz="2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r>
              <a:rPr lang="en-US" sz="2400" dirty="0" smtClean="0"/>
              <a:t>Libraries are the origin of the same kind of naming problems. Over the past two decades, large software systems have become progressively more dependent on libraries of supporting </a:t>
            </a:r>
            <a:r>
              <a:rPr lang="en-US" sz="2400" dirty="0" smtClean="0"/>
              <a:t>software</a:t>
            </a:r>
          </a:p>
          <a:p>
            <a:r>
              <a:rPr lang="en-US" sz="2400" dirty="0" smtClean="0"/>
              <a:t>Nearly </a:t>
            </a:r>
            <a:r>
              <a:rPr lang="en-US" sz="2400" dirty="0" smtClean="0"/>
              <a:t>all software written in contemporary programming languages requires the use of large and complex standard libraries, in addition to application-specific libraries. This widespread use of multiple libraries has necessitated new mechanisms for managing </a:t>
            </a:r>
            <a:r>
              <a:rPr lang="en-US" sz="2400" dirty="0" smtClean="0"/>
              <a:t>names</a:t>
            </a:r>
          </a:p>
          <a:p>
            <a:r>
              <a:rPr lang="en-US" sz="2400" dirty="0" smtClean="0"/>
              <a:t>For example, when a developer adds new names to an existing library or creates a new library, he or she must not use a new name that conflicts with a name already defined in a client’s application program or in some other library the program uses</a:t>
            </a:r>
            <a:endParaRPr lang="en-US" sz="2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r>
              <a:rPr lang="en-US" sz="2400" dirty="0" smtClean="0"/>
              <a:t>Naming encapsulations define name scopes that assist in avoiding these name conflicts. Each library can create its own naming encapsulation to prevent its names from conflicting with the names defined in other libraries or in client code. Each logical part of a software system can create a </a:t>
            </a:r>
            <a:r>
              <a:rPr lang="en-US" sz="2400" dirty="0" smtClean="0"/>
              <a:t>naming </a:t>
            </a:r>
            <a:r>
              <a:rPr lang="en-US" sz="2400" dirty="0" smtClean="0"/>
              <a:t>encapsulation with the same purpose.</a:t>
            </a:r>
          </a:p>
          <a:p>
            <a:r>
              <a:rPr lang="en-US" sz="2400" dirty="0" smtClean="0"/>
              <a:t>Naming encapsulations are logical encapsulations, in the sense that they need not be physically contiguous. Several different collections of code can be placed in the same namespace, even though they are stored in different places. In the following sections, we briefly describe the uses of naming encapsulations in C++, Java, and Ruby.</a:t>
            </a:r>
          </a:p>
          <a:p>
            <a:endParaRPr lang="en-US" sz="2400" dirty="0" smtClean="0"/>
          </a:p>
          <a:p>
            <a:endParaRPr lang="en-US" sz="24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lnSpcReduction="10000"/>
          </a:bodyPr>
          <a:lstStyle/>
          <a:p>
            <a:pPr marL="342900" lvl="2" indent="-342900">
              <a:buNone/>
            </a:pPr>
            <a:r>
              <a:rPr lang="en-US" b="1" dirty="0" smtClean="0"/>
              <a:t>C++ Namespaces</a:t>
            </a:r>
          </a:p>
          <a:p>
            <a:r>
              <a:rPr lang="en-US" sz="2400" dirty="0" smtClean="0"/>
              <a:t>C</a:t>
            </a:r>
            <a:r>
              <a:rPr lang="en-US" sz="2400" dirty="0" smtClean="0"/>
              <a:t>++ includes a specification, </a:t>
            </a:r>
            <a:r>
              <a:rPr lang="en-US" sz="2400" b="1" dirty="0" smtClean="0"/>
              <a:t>namespace</a:t>
            </a:r>
            <a:r>
              <a:rPr lang="en-US" sz="2400" dirty="0" smtClean="0"/>
              <a:t>, that helps programs manage the problem of global namespaces. One can place each library in its own namespace and qualify the names in the program with the name of the namespace when the names are used outside that namespace. </a:t>
            </a:r>
            <a:endParaRPr lang="en-US" sz="2400" dirty="0" smtClean="0"/>
          </a:p>
          <a:p>
            <a:r>
              <a:rPr lang="en-US" sz="2400" dirty="0" smtClean="0"/>
              <a:t>For example, suppose there is an abstract data type header file that implements stacks. If there is concern that some other library file may define a name that is used in the stack abstract data type, the file that defines the stack could be placed in its own namespace</a:t>
            </a:r>
            <a:r>
              <a:rPr lang="en-US" sz="2400" dirty="0" smtClean="0"/>
              <a:t>.</a:t>
            </a:r>
          </a:p>
          <a:p>
            <a:r>
              <a:rPr lang="en-US" sz="2400" dirty="0" smtClean="0"/>
              <a:t>This is done by placing all of the declarations for the stack in a namespace block, as in the following:</a:t>
            </a:r>
          </a:p>
          <a:p>
            <a:r>
              <a:rPr lang="en-US" sz="2400" b="1" dirty="0" smtClean="0"/>
              <a:t>namespace </a:t>
            </a:r>
            <a:r>
              <a:rPr lang="en-US" sz="2400" dirty="0" err="1" smtClean="0"/>
              <a:t>myStackSpace</a:t>
            </a:r>
            <a:r>
              <a:rPr lang="en-US" sz="2400" dirty="0" smtClean="0"/>
              <a:t> {</a:t>
            </a:r>
          </a:p>
          <a:p>
            <a:r>
              <a:rPr lang="en-US" sz="2400" dirty="0" smtClean="0"/>
              <a:t>// Stack declarations</a:t>
            </a:r>
          </a:p>
          <a:p>
            <a:r>
              <a:rPr lang="en-US" sz="2400" dirty="0" smtClean="0"/>
              <a:t>}</a:t>
            </a:r>
          </a:p>
          <a:p>
            <a:endParaRPr lang="en-US"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lstStyle/>
          <a:p>
            <a:pPr marL="342900" lvl="2" indent="-342900">
              <a:buNone/>
            </a:pPr>
            <a:r>
              <a:rPr lang="en-US" b="1" dirty="0" smtClean="0"/>
              <a:t>Java Packages</a:t>
            </a:r>
          </a:p>
          <a:p>
            <a:r>
              <a:rPr lang="en-US" sz="2400" dirty="0" smtClean="0"/>
              <a:t>Java includes a naming encapsulation construct: the package. Packages can contain more than one </a:t>
            </a:r>
            <a:r>
              <a:rPr lang="en-US" sz="2400" dirty="0" smtClean="0"/>
              <a:t>type definition</a:t>
            </a:r>
            <a:r>
              <a:rPr lang="en-US" sz="2400" dirty="0" smtClean="0"/>
              <a:t>, and the types in a package are partial friends of one another. </a:t>
            </a:r>
            <a:r>
              <a:rPr lang="en-US" sz="2400" i="1" dirty="0" smtClean="0"/>
              <a:t>Partial </a:t>
            </a:r>
            <a:r>
              <a:rPr lang="en-US" sz="2400" dirty="0" smtClean="0"/>
              <a:t>here means that the entities defined in a type in a package that either are public or protected </a:t>
            </a:r>
            <a:r>
              <a:rPr lang="en-US" sz="2400" dirty="0" smtClean="0"/>
              <a:t> </a:t>
            </a:r>
            <a:r>
              <a:rPr lang="en-US" sz="2400" dirty="0" smtClean="0"/>
              <a:t>or have no access </a:t>
            </a:r>
            <a:r>
              <a:rPr lang="en-US" sz="2400" dirty="0" err="1" smtClean="0"/>
              <a:t>specifier</a:t>
            </a:r>
            <a:r>
              <a:rPr lang="en-US" sz="2400" dirty="0" smtClean="0"/>
              <a:t> are visible to all other types in the package.</a:t>
            </a:r>
          </a:p>
          <a:p>
            <a:pPr lvl="0"/>
            <a:r>
              <a:rPr lang="en-US" sz="2400" dirty="0" smtClean="0"/>
              <a:t>By type here we mean either a class or an interface.</a:t>
            </a:r>
          </a:p>
          <a:p>
            <a:r>
              <a:rPr lang="en-US" sz="2400" dirty="0" smtClean="0"/>
              <a:t>Entities without access modifiers are said to have </a:t>
            </a:r>
            <a:r>
              <a:rPr lang="en-US" sz="2400" b="1" dirty="0" smtClean="0"/>
              <a:t>package scope</a:t>
            </a:r>
            <a:r>
              <a:rPr lang="en-US" sz="2400" dirty="0" smtClean="0"/>
              <a:t>, because they are visible throughout the package. Java therefore has less need for explicit friend declarations and does not include the friend functions or friend classes of C++.</a:t>
            </a:r>
          </a:p>
          <a:p>
            <a:r>
              <a:rPr lang="en-US" sz="2400" dirty="0" smtClean="0"/>
              <a:t>The resources defined in a file are specified to be in a particular package with a package declaration, as in</a:t>
            </a:r>
          </a:p>
          <a:p>
            <a:r>
              <a:rPr lang="en-US" sz="2400" b="1" dirty="0" smtClean="0"/>
              <a:t>package </a:t>
            </a:r>
            <a:r>
              <a:rPr lang="en-US" sz="2400" dirty="0" err="1" smtClean="0"/>
              <a:t>stkpkg</a:t>
            </a:r>
            <a:r>
              <a:rPr lang="en-US" sz="2400" dirty="0" smtClean="0"/>
              <a:t>;</a:t>
            </a:r>
          </a:p>
          <a:p>
            <a:endParaRPr lang="en-US" sz="2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fontScale="92500" lnSpcReduction="20000"/>
          </a:bodyPr>
          <a:lstStyle/>
          <a:p>
            <a:r>
              <a:rPr lang="en-US" sz="2400" dirty="0" smtClean="0"/>
              <a:t>The package declaration must appear as the first line of the file. The resources of every file that does not include a package declaration are implicitly placed in the same unnamed package.</a:t>
            </a:r>
          </a:p>
          <a:p>
            <a:r>
              <a:rPr lang="en-US" sz="2400" dirty="0" smtClean="0"/>
              <a:t>The clients of a package can reference the types defined in the package using fully qualified names. For example, if the package </a:t>
            </a:r>
            <a:r>
              <a:rPr lang="en-US" sz="2400" dirty="0" err="1" smtClean="0"/>
              <a:t>stkpkg</a:t>
            </a:r>
            <a:r>
              <a:rPr lang="en-US" sz="2400" dirty="0" smtClean="0"/>
              <a:t> has a class named </a:t>
            </a:r>
            <a:r>
              <a:rPr lang="en-US" sz="2400" dirty="0" err="1" smtClean="0"/>
              <a:t>myStack</a:t>
            </a:r>
            <a:r>
              <a:rPr lang="en-US" sz="2400" dirty="0" smtClean="0"/>
              <a:t>, that class can be referenced in a client of </a:t>
            </a:r>
            <a:r>
              <a:rPr lang="en-US" sz="2400" dirty="0" err="1" smtClean="0"/>
              <a:t>stkpkg</a:t>
            </a:r>
            <a:r>
              <a:rPr lang="en-US" sz="2400" dirty="0" smtClean="0"/>
              <a:t> as </a:t>
            </a:r>
            <a:r>
              <a:rPr lang="en-US" sz="2400" dirty="0" err="1" smtClean="0"/>
              <a:t>stkpkg.myStack</a:t>
            </a:r>
            <a:r>
              <a:rPr lang="en-US" sz="2400" dirty="0" smtClean="0"/>
              <a:t>. Likewise, a variable in the </a:t>
            </a:r>
            <a:r>
              <a:rPr lang="en-US" sz="2400" dirty="0" err="1" smtClean="0"/>
              <a:t>myStack</a:t>
            </a:r>
            <a:r>
              <a:rPr lang="en-US" sz="2400" dirty="0" smtClean="0"/>
              <a:t> object named </a:t>
            </a:r>
            <a:r>
              <a:rPr lang="en-US" sz="2400" dirty="0" err="1" smtClean="0"/>
              <a:t>topSub</a:t>
            </a:r>
            <a:r>
              <a:rPr lang="en-US" sz="2400" dirty="0" smtClean="0"/>
              <a:t> could be referenced as </a:t>
            </a:r>
            <a:r>
              <a:rPr lang="en-US" sz="2400" dirty="0" err="1" smtClean="0"/>
              <a:t>stkpkg.myStack.topSub</a:t>
            </a:r>
            <a:r>
              <a:rPr lang="en-US" sz="2400" dirty="0" smtClean="0"/>
              <a:t>. Because this approach can quickly become cumbersome when packages are nested, Java provides the </a:t>
            </a:r>
            <a:r>
              <a:rPr lang="en-US" sz="2400" b="1" dirty="0" smtClean="0"/>
              <a:t>import </a:t>
            </a:r>
            <a:r>
              <a:rPr lang="en-US" sz="2400" dirty="0" smtClean="0"/>
              <a:t>declaration, which allows shorter references to type names defined in a package. For example, suppose the client includes the following:</a:t>
            </a:r>
          </a:p>
          <a:p>
            <a:r>
              <a:rPr lang="en-US" sz="2400" b="1" dirty="0" smtClean="0"/>
              <a:t>import </a:t>
            </a:r>
            <a:r>
              <a:rPr lang="en-US" sz="2400" dirty="0" err="1" smtClean="0"/>
              <a:t>stkpkg.myStack</a:t>
            </a:r>
            <a:r>
              <a:rPr lang="en-US" sz="2400" dirty="0" smtClean="0"/>
              <a:t>;</a:t>
            </a:r>
            <a:endParaRPr lang="en-US" sz="2400" dirty="0" smtClean="0"/>
          </a:p>
          <a:p>
            <a:r>
              <a:rPr lang="en-US" sz="2400" dirty="0" smtClean="0"/>
              <a:t>Now, the class </a:t>
            </a:r>
            <a:r>
              <a:rPr lang="en-US" sz="2400" dirty="0" err="1" smtClean="0"/>
              <a:t>myStack</a:t>
            </a:r>
            <a:r>
              <a:rPr lang="en-US" sz="2400" dirty="0" smtClean="0"/>
              <a:t> can be referenced by just its name. To be able to access all of the type names in the package, an asterisk can be used on the import statement in place of the type name. For example, if we wanted to import all of the types in </a:t>
            </a:r>
            <a:r>
              <a:rPr lang="en-US" sz="2400" dirty="0" err="1" smtClean="0"/>
              <a:t>stkpkg</a:t>
            </a:r>
            <a:r>
              <a:rPr lang="en-US" sz="2400" dirty="0" smtClean="0"/>
              <a:t>, we could use the following:</a:t>
            </a:r>
          </a:p>
          <a:p>
            <a:r>
              <a:rPr lang="en-US" sz="2400" b="1" dirty="0" smtClean="0"/>
              <a:t>import </a:t>
            </a:r>
            <a:r>
              <a:rPr lang="en-US" sz="2400" dirty="0" smtClean="0"/>
              <a:t>stkpkg</a:t>
            </a:r>
            <a:r>
              <a:rPr lang="en-US" sz="2400" dirty="0" smtClean="0"/>
              <a:t>.*;</a:t>
            </a:r>
            <a:endParaRPr lang="en-US" sz="2400" dirty="0" smtClean="0"/>
          </a:p>
          <a:p>
            <a:endParaRPr lang="en-US" sz="2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normAutofit/>
          </a:bodyPr>
          <a:lstStyle/>
          <a:p>
            <a:pPr marL="342900" lvl="2" indent="-342900">
              <a:buNone/>
            </a:pPr>
            <a:r>
              <a:rPr lang="en-US" b="1" dirty="0" smtClean="0"/>
              <a:t>Ruby Modules</a:t>
            </a:r>
          </a:p>
          <a:p>
            <a:r>
              <a:rPr lang="en-US" sz="2400" dirty="0" smtClean="0"/>
              <a:t>Ruby classes serve as namespace encapsulations, as do the classes of other languages that support object-oriented programming. Ruby has an additional naming encapsulation, called a </a:t>
            </a:r>
            <a:r>
              <a:rPr lang="en-US" sz="2400" b="1" dirty="0" smtClean="0"/>
              <a:t>module</a:t>
            </a:r>
            <a:r>
              <a:rPr lang="en-US" sz="2400" dirty="0" smtClean="0"/>
              <a:t>.</a:t>
            </a:r>
          </a:p>
          <a:p>
            <a:r>
              <a:rPr lang="en-US" sz="2400" dirty="0" smtClean="0"/>
              <a:t> </a:t>
            </a:r>
            <a:r>
              <a:rPr lang="en-US" sz="2400" dirty="0" smtClean="0"/>
              <a:t>Modules typically define collections of methods and constants. So, modules are convenient for encapsulating libraries of related methods and constants, whose names are in a separate namespace so there are no name conflicts with other names in a program that uses the module</a:t>
            </a:r>
            <a:r>
              <a:rPr lang="en-US" sz="2400" dirty="0" smtClean="0"/>
              <a:t>.</a:t>
            </a:r>
          </a:p>
          <a:p>
            <a:r>
              <a:rPr lang="en-US" sz="2400" dirty="0" smtClean="0"/>
              <a:t> </a:t>
            </a:r>
            <a:r>
              <a:rPr lang="en-US" sz="2400" dirty="0" smtClean="0"/>
              <a:t>Modules are unlike classes in that they cannot be instantiated or </a:t>
            </a:r>
            <a:r>
              <a:rPr lang="en-US" sz="2400" dirty="0" err="1" smtClean="0"/>
              <a:t>subclassed</a:t>
            </a:r>
            <a:r>
              <a:rPr lang="en-US" sz="2400" dirty="0" smtClean="0"/>
              <a:t> </a:t>
            </a:r>
            <a:r>
              <a:rPr lang="en-US" sz="2400" dirty="0" smtClean="0"/>
              <a:t>and do not define </a:t>
            </a:r>
            <a:r>
              <a:rPr lang="en-US" sz="2400" dirty="0" smtClean="0"/>
              <a:t>variables</a:t>
            </a:r>
          </a:p>
          <a:p>
            <a:r>
              <a:rPr lang="en-US" sz="2400" dirty="0" smtClean="0"/>
              <a:t>Methods that are defined in a module include the module’s name in their names. For example, consider the following skeletal module definition:</a:t>
            </a:r>
          </a:p>
          <a:p>
            <a:endParaRPr lang="en-US" sz="24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lnSpcReduction="10000"/>
          </a:bodyPr>
          <a:lstStyle/>
          <a:p>
            <a:r>
              <a:rPr lang="en-US" sz="2400" b="1" dirty="0" smtClean="0"/>
              <a:t>module </a:t>
            </a:r>
            <a:r>
              <a:rPr lang="en-US" sz="2400" dirty="0" err="1" smtClean="0"/>
              <a:t>MyStuff</a:t>
            </a:r>
            <a:r>
              <a:rPr lang="en-US" sz="2400" dirty="0" smtClean="0"/>
              <a:t> PI = 3.14159265</a:t>
            </a:r>
          </a:p>
          <a:p>
            <a:r>
              <a:rPr lang="en-US" sz="2400" b="1" dirty="0" smtClean="0"/>
              <a:t>def </a:t>
            </a:r>
            <a:r>
              <a:rPr lang="en-US" sz="2400" dirty="0" smtClean="0"/>
              <a:t>MyStuff.mymethod1(p1)</a:t>
            </a:r>
          </a:p>
          <a:p>
            <a:r>
              <a:rPr lang="en-US" sz="2400" dirty="0" smtClean="0"/>
              <a:t>. . .</a:t>
            </a:r>
          </a:p>
          <a:p>
            <a:r>
              <a:rPr lang="en-US" sz="2400" b="1" dirty="0" smtClean="0"/>
              <a:t>end</a:t>
            </a:r>
            <a:endParaRPr lang="en-US" sz="2400" dirty="0" smtClean="0"/>
          </a:p>
          <a:p>
            <a:r>
              <a:rPr lang="en-US" sz="2400" b="1" dirty="0" smtClean="0"/>
              <a:t>def </a:t>
            </a:r>
            <a:r>
              <a:rPr lang="en-US" sz="2400" dirty="0" smtClean="0"/>
              <a:t>MyStuff.mymethod2(p2)</a:t>
            </a:r>
          </a:p>
          <a:p>
            <a:r>
              <a:rPr lang="en-US" sz="2400" dirty="0" smtClean="0"/>
              <a:t>. . .</a:t>
            </a:r>
          </a:p>
          <a:p>
            <a:r>
              <a:rPr lang="en-US" sz="2400" b="1" dirty="0" smtClean="0"/>
              <a:t>end </a:t>
            </a:r>
            <a:r>
              <a:rPr lang="en-US" sz="2400" b="1" dirty="0" err="1" smtClean="0"/>
              <a:t>end</a:t>
            </a:r>
            <a:endParaRPr lang="en-US" sz="2400" dirty="0" smtClean="0"/>
          </a:p>
          <a:p>
            <a:r>
              <a:rPr lang="en-US" sz="2400" b="1" dirty="0" smtClean="0"/>
              <a:t> </a:t>
            </a:r>
            <a:endParaRPr lang="en-US" sz="2400" dirty="0" smtClean="0"/>
          </a:p>
          <a:p>
            <a:r>
              <a:rPr lang="en-US" sz="2400" dirty="0" smtClean="0"/>
              <a:t>Assuming the </a:t>
            </a:r>
            <a:r>
              <a:rPr lang="en-US" sz="2400" dirty="0" err="1" smtClean="0"/>
              <a:t>MyStuff</a:t>
            </a:r>
            <a:r>
              <a:rPr lang="en-US" sz="2400" dirty="0" smtClean="0"/>
              <a:t> module is stored in its own file, a program that wants to use the constant and methods of </a:t>
            </a:r>
            <a:r>
              <a:rPr lang="en-US" sz="2400" dirty="0" err="1" smtClean="0"/>
              <a:t>MyStuff</a:t>
            </a:r>
            <a:r>
              <a:rPr lang="en-US" sz="2400" dirty="0" smtClean="0"/>
              <a:t> must first gain access to the module. This is done with the require method, which takes the file name in the form of a string literal as a parameter. Then, the constants and methods of the module can be accessed through the module’s name</a:t>
            </a:r>
            <a:endParaRPr lang="en-US"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533400"/>
            <a:ext cx="8229600" cy="5943600"/>
          </a:xfrm>
        </p:spPr>
        <p:txBody>
          <a:bodyPr>
            <a:normAutofit/>
          </a:bodyPr>
          <a:lstStyle/>
          <a:p>
            <a:r>
              <a:rPr lang="en-US" sz="2400" dirty="0" smtClean="0"/>
              <a:t>Consider the following code that uses our example module, </a:t>
            </a:r>
            <a:r>
              <a:rPr lang="en-US" sz="2400" dirty="0" err="1" smtClean="0"/>
              <a:t>MyStuff</a:t>
            </a:r>
            <a:r>
              <a:rPr lang="en-US" sz="2400" dirty="0" smtClean="0"/>
              <a:t>, which is stored in the file named </a:t>
            </a:r>
            <a:r>
              <a:rPr lang="en-US" sz="2400" dirty="0" err="1" smtClean="0"/>
              <a:t>myStuffMod</a:t>
            </a:r>
            <a:r>
              <a:rPr lang="en-US" sz="2400" dirty="0" smtClean="0"/>
              <a:t>:</a:t>
            </a:r>
          </a:p>
          <a:p>
            <a:r>
              <a:rPr lang="en-US" sz="2400" dirty="0" smtClean="0"/>
              <a:t>require '</a:t>
            </a:r>
            <a:r>
              <a:rPr lang="en-US" sz="2400" dirty="0" err="1" smtClean="0"/>
              <a:t>myStuffMod</a:t>
            </a:r>
            <a:r>
              <a:rPr lang="en-US" sz="2400" dirty="0" smtClean="0"/>
              <a:t>'</a:t>
            </a:r>
          </a:p>
          <a:p>
            <a:r>
              <a:rPr lang="en-US" sz="2400" dirty="0" smtClean="0"/>
              <a:t>. . .</a:t>
            </a:r>
          </a:p>
          <a:p>
            <a:r>
              <a:rPr lang="en-US" sz="2400" dirty="0" smtClean="0"/>
              <a:t>MyStuff.mymethod1(x)</a:t>
            </a:r>
          </a:p>
          <a:p>
            <a:r>
              <a:rPr lang="en-US" sz="2400" dirty="0" smtClean="0"/>
              <a:t>. . .</a:t>
            </a:r>
            <a:endParaRPr lang="en-US" sz="2400" smtClean="0"/>
          </a:p>
          <a:p>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993</TotalTime>
  <Words>9849</Words>
  <Application>Microsoft Office PowerPoint</Application>
  <PresentationFormat>On-screen Show (4:3)</PresentationFormat>
  <Paragraphs>914</Paragraphs>
  <Slides>110</Slides>
  <Notes>1</Notes>
  <HiddenSlides>0</HiddenSlides>
  <MMClips>0</MMClips>
  <ScaleCrop>false</ScaleCrop>
  <HeadingPairs>
    <vt:vector size="4" baseType="variant">
      <vt:variant>
        <vt:lpstr>Theme</vt:lpstr>
      </vt:variant>
      <vt:variant>
        <vt:i4>1</vt:i4>
      </vt:variant>
      <vt:variant>
        <vt:lpstr>Slide Titles</vt:lpstr>
      </vt:variant>
      <vt:variant>
        <vt:i4>110</vt:i4>
      </vt:variant>
    </vt:vector>
  </HeadingPairs>
  <TitlesOfParts>
    <vt:vector size="111" baseType="lpstr">
      <vt:lpstr>Office Theme</vt:lpstr>
      <vt:lpstr>Unit - III </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III </dc:title>
  <dc:creator>pc</dc:creator>
  <cp:lastModifiedBy>pc</cp:lastModifiedBy>
  <cp:revision>162</cp:revision>
  <dcterms:created xsi:type="dcterms:W3CDTF">2006-08-16T00:00:00Z</dcterms:created>
  <dcterms:modified xsi:type="dcterms:W3CDTF">2024-11-20T16:21:36Z</dcterms:modified>
</cp:coreProperties>
</file>